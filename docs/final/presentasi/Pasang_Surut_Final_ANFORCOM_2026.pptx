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01 — Masalah pengguna</a:t>
            </a:r>
          </a:p>
          <a:p>
            <a:r>
              <a:t>WAKTU: 00.00–00.45 (45 detik)</a:t>
            </a:r>
          </a:p>
          <a:p>
            <a:r>
              <a:t>PEMBICARA (usulan): Dzaky</a:t>
            </a:r>
          </a:p>
          <a:p/>
          <a:p>
            <a:r>
              <a:t>Bayangkan seorang pengendara yang perlu berangkat dari sekitar Tawang menuju kawasan industri Terboyo. Pada kawasan pesisir, pilihannya tidak berhenti pada “jalan mana yang paling cepat”. Ia juga perlu mempertimbangkan jam berangkat dan kondisi ruas yang dilalui.</a:t>
            </a:r>
          </a:p>
          <a:p>
            <a:r>
              <a:t>PASANG SURUT membantu membandingkan pilihan perjalanan itu. Kami fokus pada pesisir Semarang, dengan tujuan agar waktu, rute, dan konsekuensi memutar dapat dibaca dalam satu alur.</a:t>
            </a:r>
          </a:p>
          <a:p>
            <a:r>
              <a:t>Skenario ini ilustrasi kebutuhan pengguna, bukan kutipan wawancara atau bukti aplikasi sudah dipakai warga. Penanda pada peta adalah akses jaringan jalan, bukan pintu bangunan yang telah diverifikasi.</a:t>
            </a:r>
          </a:p>
          <a:p/>
          <a:p>
            <a:r>
              <a:t>SUMBER: data/processed/tujuan_cepat.geojson; ruas_jalan.geojson; garis_pantai.geojson; proposal tim.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02 — Nilai produk</a:t>
            </a:r>
          </a:p>
          <a:p>
            <a:r>
              <a:t>WAKTU: 00.45–01.30 (45 detik)</a:t>
            </a:r>
          </a:p>
          <a:p>
            <a:r>
              <a:t>PEMBICARA (usulan): Dzaky</a:t>
            </a:r>
          </a:p>
          <a:p/>
          <a:p>
            <a:r>
              <a:t>Ada tiga informasi yang kami satukan. Pertama, asal–tujuan dan kendaraan, karena batas motor berbeda dengan mobil. Kedua, waktu keberangkatan yang dapat digeser untuk membandingkan kondisi model. Ketiga, konsekuensi rute yang dipilih: tambahan waktu, jarak, serta estimasi biaya bahan bakar dan emisi.</a:t>
            </a:r>
          </a:p>
          <a:p>
            <a:r>
              <a:t>Sumber yang aktif adalah indeks kerentanan; kedalaman yang terlihat bukan hasil pengukuran langsung. Karena itu aplikasi juga menampilkan sumber, waktu data, dan peringatan paparan.</a:t>
            </a:r>
          </a:p>
          <a:p>
            <a:r>
              <a:t>Daffa akan memperlihatkan satu perjalanan yang sama pada dua jam berbeda.</a:t>
            </a:r>
          </a:p>
          <a:p/>
          <a:p>
            <a:r>
              <a:t>SUMBER: frontend/src/components/PanelRute.jsx, PitaPasut.jsx, PanelDampak.jsx; copy.id.json.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03 — Demo</a:t>
            </a:r>
          </a:p>
          <a:p>
            <a:r>
              <a:t>WAKTU: 01.30–04.30 (3 menit, termasuk perpindahan)</a:t>
            </a:r>
          </a:p>
          <a:p>
            <a:r>
              <a:t>PEMBICARA (usulan): Daffa</a:t>
            </a:r>
          </a:p>
          <a:p/>
          <a:p>
            <a:r>
              <a:t>00–30 detik: buka aplikasi yang sudah siap. Sebut Semarang, asal akses Tawang, tujuan akses Terboyo, moda motor, serta tanggal/sumber yang terlihat. Gambar di slide berasal dari potret lokal 26 September, bukan keadaan lapangan hari ini.</a:t>
            </a:r>
          </a:p>
          <a:p>
            <a:r>
              <a:t>30–90 detik: pilih 26 September 08.00 WIB. Tunjukkan rute sadar rob 13,9 menit/10,58 km dan pembanding 7,0 menit/6,32 km yang mengabaikan genangan. Maksimum model pada rute sadar rob 24,8 cm; rute masih menembus ruas berisiko. Jangan sebut rute ini “aman”.</a:t>
            </a:r>
          </a:p>
          <a:p>
            <a:r>
              <a:t>90–135 detik: geser ke 13.00 WIB. Tunggu pembaruan selesai. Pada potret ini rute sadar rob dan pembanding sama: 7,0 menit/6,32 km. Tidak ada genangan yang dimodelkan pada rute; ini tidak membuktikan jalan benar-benar kering.</a:t>
            </a:r>
          </a:p>
          <a:p>
            <a:r>
              <a:t>135–165 detik: simpulkan pilihan yang dapat dipertimbangkan bila jadwal fleksibel, sambil tetap memeriksa kondisi lapangan. Waktu 7,0 menit adalah model kecepatan, bukan ETA lalu lintas langsung.</a:t>
            </a:r>
          </a:p>
          <a:p>
            <a:r>
              <a:t>165–180 detik: kembali ke slide metode.</a:t>
            </a:r>
          </a:p>
          <a:p>
            <a:r>
              <a:t>Jika produksi tertahan lebih dari sekitar 10 detik, gunakan lokal yang sudah menyala. Jika lokal gagal, buka slide 9 lalu 10 (nomor + Enter); kembali ke slide 4. Screenshot sudah tertanam. MP4 belum termasuk paket ini. Jangan menunggu server berulang kali.</a:t>
            </a:r>
          </a:p>
          <a:p>
            <a:r>
              <a:t>Produksi memakai dataset berbeda dari potret; jangan menjanjikan angka persis sama. Untuk cerita yang konsisten, demo lokal potret adalah pilihan siap pakai; cek cakupan produksi sebelum tampil.</a:t>
            </a:r>
          </a:p>
          <a:p/>
          <a:p>
            <a:r>
              <a:t>SUMBER: aset/demo_08.png; aset/demo_13.png; aset/skenario.json; data/processed/tujuan_cepat.geojson.</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04 — Metode</a:t>
            </a:r>
          </a:p>
          <a:p>
            <a:r>
              <a:t>WAKTU: 04.30–05.30 (60 detik)</a:t>
            </a:r>
          </a:p>
          <a:p>
            <a:r>
              <a:t>PEMBICARA (usulan): Dzaky</a:t>
            </a:r>
          </a:p>
          <a:p/>
          <a:p>
            <a:r>
              <a:t>Pasut memberi komponen waktu. Sementara itu, indeks kerentanan membedakan ruas berdasarkan elevasi relatif, jarak dari pantai, dan laju subsidensi. Ketiga komponen memakai bobot sama sebagai asumsi, belum hasil kalibrasi genangan lapangan.</a:t>
            </a:r>
          </a:p>
          <a:p>
            <a:r>
              <a:t>Kondisi per jam disiapkan dalam dataset, lalu API membandingkan rute sadar rob dan rute yang mengabaikan genangan. Klik pengguna tidak mengunduh ulang graf OSM atau melatih model. Browser membaca hasil dari API; dataset dapat berasal dari database VPS atau potret untuk demo lokal.</a:t>
            </a:r>
          </a:p>
          <a:p>
            <a:r>
              <a:t>Untuk menghindari masalah pergantian jam pada algoritme lama, rilis final memakai kondisi jam keberangkatan sepanjang satu pencarian. Kami tidak mengklaim rute optimal terhadap kondisi yang berubah selama perjalanan.</a:t>
            </a:r>
          </a:p>
          <a:p>
            <a:r>
              <a:t>Jika ditanya elevasi: median dari kumpulan 3 × 3 sel, sisi sel 500 meter. Ini bukan radius melingkar 500 meter.</a:t>
            </a:r>
          </a:p>
          <a:p/>
          <a:p>
            <a:r>
              <a:t>SUMBER: backend/app/domain/kerentanan.py; backend/app/domain/routing.py; backend/app/runtime.py. OSM sebagai graf; DEMNAS sebagai fitur relatif.</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05 — Bukti dan batasan</a:t>
            </a:r>
          </a:p>
          <a:p>
            <a:r>
              <a:t>WAKTU: 05.30–06.30 (60 detik)</a:t>
            </a:r>
          </a:p>
          <a:p>
            <a:r>
              <a:t>PEMBICARA (usulan): Dzaky</a:t>
            </a:r>
          </a:p>
          <a:p/>
          <a:p>
            <a:r>
              <a:t>Ada dua lapis bukti yang perlu dibedakan. Pada perangkat lunak, 95 tes backend lulus di Windows dan container Linux. Frontend kini memiliki 26 tes setelah peringatan kedalaman di panel rute dikoreksi. Salah satu tes backend membandingkan 2.400 pencarian pada graf kecil dengan Bellman-Ford; angka itu bagian dari tes, bukan tambahan 2.400 unit test.</a:t>
            </a:r>
          </a:p>
          <a:p>
            <a:r>
              <a:t>Pada pasut, pilihan acuan WIB memberi korelasi 0,7821 dan RMSE 0,1155 meter dalam jendela sepuluh hari terhadap rekaman IOC. Perbandingan memakai simpangan muka air karena datum berbeda. Data tersebut juga digunakan untuk memilih acuan waktu, sehingga hasilnya bukan evaluasi independen pada data baru.</a:t>
            </a:r>
          </a:p>
          <a:p>
            <a:r>
              <a:t>Kami belum punya pengamatan genangan per ruas untuk menguji indeks, dan belum punya bukti dampak perjalanan lapangan. Karena itu kami melaporkan kedalaman dan biaya sebagai estimasi serta menampilkan batasnya pada antarmuka.</a:t>
            </a:r>
          </a:p>
          <a:p/>
          <a:p>
            <a:r>
              <a:t>SUMBER: docs/final/audit_regresi_22_september.md; frontend/src/App.test.jsx; data/referensi/kalibrasi_pasut.json (hipotesis_wib); docs/validasi.md §3.1.</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06 — Dampak yang dapat dijelaskan</a:t>
            </a:r>
          </a:p>
          <a:p>
            <a:r>
              <a:t>WAKTU: 06.30–07.30 (60 detik)</a:t>
            </a:r>
          </a:p>
          <a:p>
            <a:r>
              <a:t>PEMBICARA (usulan): Naufal</a:t>
            </a:r>
          </a:p>
          <a:p/>
          <a:p>
            <a:r>
              <a:t>Kami menyebut angka ini biaya adaptasi. Pembanding pukul delapan mengabaikan genangan: 7,0 menit dan 6,32 kilometer. Rute sadar rob memerlukan 13,9 menit dan 10,58 kilometer. Model menunjukkan jumlah ruas tergenang yang dilalui turun dari 29 menjadi 14, tetapi rute masih memiliki paparan. Jumlah ruas bukan pengukuran risiko atau lama paparan.</a:t>
            </a:r>
          </a:p>
          <a:p>
            <a:r>
              <a:t>Memutar menambah sekitar 6,9 menit dan 4,27 kilometer. Dari asumsi konsumsi motor, itu setara tambahan 0,060 sampai 0,111 liter BBM serta 0,138 sampai 0,256 kilogram CO₂ pembakaran. Ini rentang asumsi, bukan interval kepercayaan dan bukan penurunan emisi yang sudah diukur.</a:t>
            </a:r>
          </a:p>
          <a:p>
            <a:r>
              <a:t>Pada pukul tiga belas di potret ini, kedua rute sama dan model tidak memberi genangan di jalur. Bila jadwal fleksibel, informasi ini dapat menjadi bahan mempertimbangkan jam lain. Menunggu lima jam juga memiliki biaya jadwal yang belum kami hitung. Jangan menyebut selisih ini penghematan total atau dampak kota.</a:t>
            </a:r>
          </a:p>
          <a:p/>
          <a:p>
            <a:r>
              <a:t>SUMBER: aset/skenario.json, motor, versi 919aa345-7492-4a53-9e7c-c34086775d18; backend/app/domain/dampak.py.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07 — Rencana pengembangan</a:t>
            </a:r>
          </a:p>
          <a:p>
            <a:r>
              <a:t>WAKTU: 07.30–08.30 (60 detik)</a:t>
            </a:r>
          </a:p>
          <a:p>
            <a:r>
              <a:t>PEMBICARA (usulan): Naufal</a:t>
            </a:r>
          </a:p>
          <a:p/>
          <a:p>
            <a:r>
              <a:t>Tahap selanjutnya dimulai dengan uji tugas pada lima sampai delapan peserta yang relevan, misalnya pengendara atau pengiriman di wilayah pilot. Kami ingin mengukur apakah mereka dapat memilih asal–tujuan, membaca waktu, serta memahami bahwa peringatan adalah estimasi. Jumlah ini rencana, bukan peserta yang sudah diuji.</a:t>
            </a:r>
          </a:p>
          <a:p>
            <a:r>
              <a:t>Berikutnya, kami memerlukan observasi ruas yang memiliki lokasi dan waktu jelas. Data baru dipisahkan untuk evaluasi, sehingga bobot dan estimasi tidak dinilai pada data yang sama dengan penyetelannya. Calon instansi atau komunitas belum disebut sebagai mitra aktif.</a:t>
            </a:r>
          </a:p>
          <a:p>
            <a:r>
              <a:t>Secara operasional, kami perlu jadwal publikasi data, penanggung jawab pemeliharaan, pemantauan memori serta latensi, dan biaya hosting. Rilis saat ini belum punya scheduler publikasi otomatis. Perluasan wilayah dilakukan setelah bukti pada pilot membaik.</a:t>
            </a:r>
          </a:p>
          <a:p/>
          <a:p>
            <a:r>
              <a:t>SUMBER: docs/final/outline_slide.md; docs/final/audit_regresi_22_september.md; rencana tim, belum hasil uji pengguna.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08 — Penutup</a:t>
            </a:r>
          </a:p>
          <a:p>
            <a:r>
              <a:t>WAKTU: 08.30–09.00 (30 detik)</a:t>
            </a:r>
          </a:p>
          <a:p>
            <a:r>
              <a:t>PEMBICARA (usulan): Naufal</a:t>
            </a:r>
          </a:p>
          <a:p/>
          <a:p>
            <a:r>
              <a:t>PASANG SURUT membantu pengguna membandingkan rute, mempertimbangkan waktu, dan memahami konsekuensi perjalanan di pesisir Semarang. Produk yang kami tunjukkan sudah memiliki alur interaktif dan bukti pengujian perangkat lunak. Pengujian genangan dan dampak lapangan adalah langkah berikutnya.</a:t>
            </a:r>
          </a:p>
          <a:p>
            <a:r>
              <a:t>Aplikasi dan kode tersedia melalui tautan ini. Kami siap menjelaskan implementasi serta batas bukti yang kami punya. Terima kasih.</a:t>
            </a:r>
          </a:p>
          <a:p>
            <a:r>
              <a:t>Berhenti pada slide ini. Slide 9–14 adalah lampiran, bukan lanjutan presentasi utama. Untuk Q&amp;A, ketik nomor slide lalu Enter. Pembagian pembicara adalah usulan; lakukan latihan bersama sebelum dibekukan.</a:t>
            </a:r>
          </a:p>
          <a:p/>
          <a:p>
            <a:r>
              <a:t>SUMBER: https://pasang-surut.vercel.app/app; https://github.com/dzakyahnaf/pasang-surut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09 — Cadangan demo 08.00</a:t>
            </a:r>
          </a:p>
          <a:p>
            <a:r>
              <a:t>WAKTU: Di dalam alokasi 3 menit demo bila diperlukan</a:t>
            </a:r>
          </a:p>
          <a:p>
            <a:r>
              <a:t>PEMBICARA (usulan): Daffa</a:t>
            </a:r>
          </a:p>
          <a:p/>
          <a:p>
            <a:r>
              <a:t>Gunakan narasi slide 3 untuk jam 08.00. Gambar asli tertanam; tidak memerlukan jaringan untuk ditampilkan. Sumber kerentanan_v1, versi potret 919aa345…; mode motor. Jangan menyebut angka ini observasi lapangan. Kembali ke slide 4 setelah kedua kondisi ditunjukkan.</a:t>
            </a:r>
          </a:p>
          <a:p/>
          <a:p>
            <a:r>
              <a:t>SUMBER: aset/demo_08.png; aset/skenario.json.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10 — Cadangan demo 13.00</a:t>
            </a:r>
          </a:p>
          <a:p>
            <a:r>
              <a:t>WAKTU: Di dalam alokasi 3 menit demo bila diperlukan</a:t>
            </a:r>
          </a:p>
          <a:p>
            <a:r>
              <a:t>PEMBICARA (usulan): Daffa</a:t>
            </a:r>
          </a:p>
          <a:p/>
          <a:p>
            <a:r>
              <a:t>Gunakan narasi slide 3 untuk jam 13.00. Gambar asli tertanam; tidak memerlukan jaringan untuk ditampilkan. Sumber kerentanan_v1, versi potret 919aa345…; mode motor. Jangan menyebut angka ini observasi lapangan. Kembali ke slide 4 setelah kedua kondisi ditunjukkan.</a:t>
            </a:r>
          </a:p>
          <a:p/>
          <a:p>
            <a:r>
              <a:t>SUMBER: aset/demo_13.png; aset/skenario.json.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11 — Q&amp;A pasut</a:t>
            </a:r>
          </a:p>
          <a:p>
            <a:r>
              <a:t>WAKTU: Lampiran, di luar 9 menit</a:t>
            </a:r>
          </a:p>
          <a:p>
            <a:r>
              <a:t>PEMBICARA (usulan): Dzaky</a:t>
            </a:r>
          </a:p>
          <a:p/>
          <a:p>
            <a:r>
              <a:t>Nilai 0,7821 dan 0,1155 m berasal dari hipotesis WIB pada jendela 10 hari. Jangan tertukar dengan offset terbaik +8 jam yang menghasilkan r 0,8465/RMSE 0,097 m: sistem memilih +7 jam, bukan offset yang paling cocok pada sampel.</a:t>
            </a:r>
          </a:p>
          <a:p>
            <a:r>
              <a:t>Jendela 2/4/7 hari pada docs/validasi.md memberi korelasi WIB 0,907/0,909/0,858. Jendela saling tumpang tindih, bukan empat uji independen. Rekaman IOC untuk 10 hari berjumlah 12.317. Karena datum berbeda, yang dibandingkan simpangan terhadap rata-rata.</a:t>
            </a:r>
          </a:p>
          <a:p>
            <a:r>
              <a:t>Acuan dipilih menggunakan data yang sama; evaluasi ini bersifat kalibrasi/in-sample. Konstanta berasal dari rekaman 15 hari pada 2014, P1/K2 diturunkan dari komponen lain, dan koreksi nodal belum diterapkan. Belum ada klaim akurasi genangan per ruas.</a:t>
            </a:r>
          </a:p>
          <a:p/>
          <a:p>
            <a:r>
              <a:t>SUMBER: data/referensi/kalibrasi_pasut.json; docs/validasi.md; backend/scripts/04_kalibrasi_pasut.py.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12 — Q&amp;A indeks dan Sentinel-1</a:t>
            </a:r>
          </a:p>
          <a:p>
            <a:r>
              <a:t>WAKTU: Lampiran, di luar 9 menit</a:t>
            </a:r>
          </a:p>
          <a:p>
            <a:r>
              <a:t>PEMBICARA (usulan): Dzaky</a:t>
            </a:r>
          </a:p>
          <a:p/>
          <a:p>
            <a:r>
              <a:t>Indeks memakai tiga skor relatif, dinormalisasi, dengan bobot sepertiga. Elevasi relatif adalah elevasi ruas dikurangi median dari anggota 3 × 3 sel grid dengan sisi 500 m. Nama metadata lama radius_elevasi_relatif_m dipertahankan pada artefak lama, tetapi bukan jendela Euclidean radius 500 m. Tinggi DEM tidak dipotong langsung dengan muka air untuk membuat genangan.</a:t>
            </a:r>
          </a:p>
          <a:p>
            <a:r>
              <a:t>Eksperimen HistGradientBoostingClassifier dengan label perubahan VV Sentinel-1 tidak dipakai pada rilis. Angka uji berdasarkan split waktu tercatat apa adanya: ROC-AUC 0,6579, PR-AUC 0,0371, F1 0,0894. Kelas basah pada uji 1,6%; metrik klasifikasi label satelit tidak mengukur akurasi genangan jalan. Pengujian lanjutan label dan kaitan muka air tidak menghasilkan landasan yang cukup untuk memakai model sebagai prediksi rob.</a:t>
            </a:r>
          </a:p>
          <a:p>
            <a:r>
              <a:t>Keputusan rilis adalah menampilkan indeks dengan batas klaim jelas. Kami masih memerlukan observasi genangan per ruas pada waktu tertentu untuk mengevaluasinya.</a:t>
            </a:r>
          </a:p>
          <a:p/>
          <a:p>
            <a:r>
              <a:t>SUMBER: backend/app/domain/kerentanan.py; data/processed/indeks_kerentanan.json; data/referensi/metrik_model.json; uji_muka_air_terukur.json; docs/validasi.md.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13 — Q&amp;A pengujian dan hosting</a:t>
            </a:r>
          </a:p>
          <a:p>
            <a:r>
              <a:t>WAKTU: Lampiran, di luar 9 menit</a:t>
            </a:r>
          </a:p>
          <a:p>
            <a:r>
              <a:t>PEMBICARA (usulan): Dzaky / Daffa</a:t>
            </a:r>
          </a:p>
          <a:p/>
          <a:p>
            <a:r>
              <a:t>Insiden Render memakai lebih dari 512 MB dan restart. Rilis sekarang memakai VPS bersama, dengan isolasi container API 320 MiB, database 192 MiB, web 64 MiB, satu worker API, cache graf bersama, dan pembatasan dua request berat bersamaan.</a:t>
            </a:r>
          </a:p>
          <a:p>
            <a:r>
              <a:t>Audit tambahan 22 September berisi 412 request dalam 94,47 detik: 316 HTTP200, 58 HTTP413, empat HTTP422, dua HTTP400, dan 32 HTTP503 sibuk yang diharapkan. Tidak ada respons tak terduga, OOM, restart, atau kenaikan failcnt. Puncak dari 188 sampel: API186,89; DB93,20; web51,71 MiB. Minimum RAM host tersedia645,92 MiB. Uji memakai guard sumber daya; bukan DDoS atau kapasitas maksimum.</a:t>
            </a:r>
          </a:p>
          <a:p>
            <a:r>
              <a:t>Uji beban terdahulu 1.596 request selama7m41d juga tersedia di laporan terpisah; jangan menjumlahkan atau menyamakan puncak memori karena keadaan cache berbeda. Layanan Maknaprice tidak diubah; identitas container/config sama dan semua10 probe tambahan HTTP200.</a:t>
            </a:r>
          </a:p>
          <a:p>
            <a:r>
              <a:t>95 tes backend mencakup satu tes properti dengan2.400 perbandingan pada40 graf kecil, bukan bukti optimalitas dinamis. Frontend26 tes per23 September. Batas20 detik request dan10 detik SQL bukan jaminan kecepatan. Browser fisik/proyektor tetap harus diuji tim.</a:t>
            </a:r>
          </a:p>
          <a:p>
            <a:r>
              <a:t>Vercel adalah alamat masuk; runtime API/frontend/database ada pada VPS. Origin HTTP18080 bersifat sementara dengan izin pemilik. Kode audit main1651ad3; tag APIaudit22-11c58776b1ca. Koreksi copy panel23 September tidak mengubah algoritme backend.</a:t>
            </a:r>
          </a:p>
          <a:p/>
          <a:p>
            <a:r>
              <a:t>SUMBER: docs/final/audit_regresi_22_september.md; docs/final/uji_beban_vps_22_september.md; backend/tests/test_routing_properti.py; frontend/src/App.test.jsx.</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14 — Q&amp;A dampak</a:t>
            </a:r>
          </a:p>
          <a:p>
            <a:r>
              <a:t>WAKTU: Lampiran, di luar 9 menit</a:t>
            </a:r>
          </a:p>
          <a:p>
            <a:r>
              <a:t>PEMBICARA (usulan): Naufal / Dzaky</a:t>
            </a:r>
          </a:p>
          <a:p/>
          <a:p>
            <a:r>
              <a:t>Rumus dihitung atas selisih jarak dua rute. Nilai konsumsi motor0,020 L/km, rentang±30%, dan faktor2,31 kg CO₂/L dibaca dari konfigurasi rilis. Rentang tersebut adalah asumsi sensitivitas konsumsi; bukan rentang hasil pengukuran atau interval kepercayaan.</a:t>
            </a:r>
          </a:p>
          <a:p>
            <a:r>
              <a:t>Repositori belum melengkapi sitasi faktor; data/referensi/faktor_emisi.json masih template null. Karena itu kami menyebutnya asumsi implementasi dan tidak mengklaim metodologi inventarisasi emisi yang tervalidasi. Jika ditanya dampak kota, jawab belum tersedia. Perlu data pemakaian, perjalanan nyata, kendaraan, baseline, dan biaya perubahan jadwal.</a:t>
            </a:r>
          </a:p>
          <a:p>
            <a:r>
              <a:t>Istilah CO₂e tidak dipakai: faktor ini hanya pembakaranCO₂, tidak memasukkan gas lain atau siklus hidup. Ketika salah satu rute tidak tersedia, API mengembalikan dampak null, bukan “hemat nol”.</a:t>
            </a:r>
          </a:p>
          <a:p/>
          <a:p>
            <a:r>
              <a:t>SUMBER: backend/app/domain/dampak.py; db/schema.sql; docs/batasan.md; data/referensi/faktor_emisi.json; aset/skenario.json.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www.openstreetmap.org/copyright" TargetMode="Externa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hyperlink" Target="https://pasang-surut.vercel.app/app" TargetMode="Externa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dzakyahnaf/pasang-surut/tree/main/backend/app"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hyperlink" Target="https://pasang-surut.vercel.app/app" TargetMode="External"/><Relationship Id="rId4" Type="http://schemas.openxmlformats.org/officeDocument/2006/relationships/hyperlink" Target="https://github.com/dzakyahnaf/pasang-surut" TargetMode="Externa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dzakyahnaf/pasang-surut/blob/main/docs/validasi.md" TargetMode="Externa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dzakyahnaf/pasang-surut/blob/main/docs/final/audit_regresi_22_september.md" TargetMode="Externa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F2A"/>
        </a:solidFill>
        <a:effectLst/>
      </p:bgPr>
    </p:bg>
    <p:spTree>
      <p:nvGrpSpPr>
        <p:cNvPr id="1" name=""/>
        <p:cNvGrpSpPr/>
        <p:nvPr/>
      </p:nvGrpSpPr>
      <p:grpSpPr/>
      <p:sp>
        <p:nvSpPr>
          <p:cNvPr id="2" name="TextBox 1"/>
          <p:cNvSpPr txBox="1"/>
          <p:nvPr/>
        </p:nvSpPr>
        <p:spPr>
          <a:xfrm>
            <a:off x="502920" y="365760"/>
            <a:ext cx="6400800" cy="274320"/>
          </a:xfrm>
          <a:prstGeom prst="rect">
            <a:avLst/>
          </a:prstGeom>
          <a:noFill/>
          <a:effectLst/>
        </p:spPr>
        <p:txBody>
          <a:bodyPr wrap="square" lIns="0" rIns="0" tIns="0" bIns="0">
            <a:spAutoFit/>
          </a:bodyPr>
          <a:lstStyle/>
          <a:p>
            <a:pPr>
              <a:lnSpc>
                <a:spcPct val="104000"/>
              </a:lnSpc>
              <a:spcBef>
                <a:spcPts val="0"/>
              </a:spcBef>
              <a:spcAft>
                <a:spcPts val="500"/>
              </a:spcAft>
            </a:pPr>
            <a:r>
              <a:rPr sz="1200" b="1" lang="id-ID">
                <a:solidFill>
                  <a:srgbClr val="4FB3C4"/>
                </a:solidFill>
                <a:latin typeface="Arial"/>
              </a:rPr>
              <a:t>FINAL DSDC / ANFORCOM 2026</a:t>
            </a:r>
          </a:p>
        </p:txBody>
      </p:sp>
      <p:sp>
        <p:nvSpPr>
          <p:cNvPr id="3" name="TextBox 2"/>
          <p:cNvSpPr txBox="1"/>
          <p:nvPr/>
        </p:nvSpPr>
        <p:spPr>
          <a:xfrm>
            <a:off x="502920" y="932688"/>
            <a:ext cx="5212080" cy="1892807"/>
          </a:xfrm>
          <a:prstGeom prst="rect">
            <a:avLst/>
          </a:prstGeom>
          <a:noFill/>
          <a:effectLst/>
        </p:spPr>
        <p:txBody>
          <a:bodyPr wrap="square" lIns="0" rIns="0" tIns="0" bIns="0">
            <a:spAutoFit/>
          </a:bodyPr>
          <a:lstStyle/>
          <a:p>
            <a:pPr>
              <a:lnSpc>
                <a:spcPct val="104000"/>
              </a:lnSpc>
              <a:spcBef>
                <a:spcPts val="0"/>
              </a:spcBef>
              <a:spcAft>
                <a:spcPts val="500"/>
              </a:spcAft>
            </a:pPr>
            <a:r>
              <a:rPr sz="5800" b="1" lang="id-ID">
                <a:solidFill>
                  <a:srgbClr val="E8F1F4"/>
                </a:solidFill>
                <a:latin typeface="Arial Narrow"/>
              </a:rPr>
              <a:t>PASANG</a:t>
            </a:r>
          </a:p>
          <a:p>
            <a:pPr>
              <a:lnSpc>
                <a:spcPct val="104000"/>
              </a:lnSpc>
              <a:spcBef>
                <a:spcPts val="0"/>
              </a:spcBef>
              <a:spcAft>
                <a:spcPts val="500"/>
              </a:spcAft>
            </a:pPr>
            <a:r>
              <a:rPr sz="5800" b="1" lang="id-ID">
                <a:solidFill>
                  <a:srgbClr val="E8F1F4"/>
                </a:solidFill>
                <a:latin typeface="Arial Narrow"/>
              </a:rPr>
              <a:t>SURUT</a:t>
            </a:r>
          </a:p>
        </p:txBody>
      </p:sp>
      <p:sp>
        <p:nvSpPr>
          <p:cNvPr id="4" name="TextBox 3"/>
          <p:cNvSpPr txBox="1"/>
          <p:nvPr/>
        </p:nvSpPr>
        <p:spPr>
          <a:xfrm>
            <a:off x="548640" y="2980944"/>
            <a:ext cx="4937760" cy="1234440"/>
          </a:xfrm>
          <a:prstGeom prst="rect">
            <a:avLst/>
          </a:prstGeom>
          <a:noFill/>
          <a:effectLst/>
        </p:spPr>
        <p:txBody>
          <a:bodyPr wrap="square" lIns="0" rIns="0" tIns="0" bIns="0">
            <a:spAutoFit/>
          </a:bodyPr>
          <a:lstStyle/>
          <a:p>
            <a:pPr>
              <a:lnSpc>
                <a:spcPct val="104000"/>
              </a:lnSpc>
              <a:spcBef>
                <a:spcPts val="0"/>
              </a:spcBef>
              <a:spcAft>
                <a:spcPts val="500"/>
              </a:spcAft>
            </a:pPr>
            <a:r>
              <a:rPr sz="3600" b="1" lang="id-ID">
                <a:solidFill>
                  <a:srgbClr val="E8F1F4"/>
                </a:solidFill>
                <a:latin typeface="Arial Narrow"/>
              </a:rPr>
              <a:t>Berangkat kapan,</a:t>
            </a:r>
          </a:p>
          <a:p>
            <a:pPr>
              <a:lnSpc>
                <a:spcPct val="104000"/>
              </a:lnSpc>
              <a:spcBef>
                <a:spcPts val="0"/>
              </a:spcBef>
              <a:spcAft>
                <a:spcPts val="500"/>
              </a:spcAft>
            </a:pPr>
            <a:r>
              <a:rPr sz="3600" b="1" lang="id-ID">
                <a:solidFill>
                  <a:srgbClr val="E8F1F4"/>
                </a:solidFill>
                <a:latin typeface="Arial Narrow"/>
              </a:rPr>
              <a:t>lewat mana?</a:t>
            </a:r>
          </a:p>
        </p:txBody>
      </p:sp>
      <p:sp>
        <p:nvSpPr>
          <p:cNvPr id="5" name="TextBox 4"/>
          <p:cNvSpPr txBox="1"/>
          <p:nvPr/>
        </p:nvSpPr>
        <p:spPr>
          <a:xfrm>
            <a:off x="548640" y="4389120"/>
            <a:ext cx="4663440" cy="841248"/>
          </a:xfrm>
          <a:prstGeom prst="rect">
            <a:avLst/>
          </a:prstGeom>
          <a:noFill/>
          <a:effectLst/>
        </p:spPr>
        <p:txBody>
          <a:bodyPr wrap="square" lIns="0" rIns="0" tIns="0" bIns="0">
            <a:spAutoFit/>
          </a:bodyPr>
          <a:lstStyle/>
          <a:p>
            <a:pPr>
              <a:lnSpc>
                <a:spcPct val="104000"/>
              </a:lnSpc>
              <a:spcBef>
                <a:spcPts val="0"/>
              </a:spcBef>
              <a:spcAft>
                <a:spcPts val="500"/>
              </a:spcAft>
            </a:pPr>
            <a:r>
              <a:rPr sz="2300" b="0" lang="id-ID">
                <a:solidFill>
                  <a:srgbClr val="ABC0CA"/>
                </a:solidFill>
                <a:latin typeface="Arial"/>
              </a:rPr>
              <a:t>Perencanaan perjalanan sadar rob</a:t>
            </a:r>
          </a:p>
          <a:p>
            <a:pPr>
              <a:lnSpc>
                <a:spcPct val="104000"/>
              </a:lnSpc>
              <a:spcBef>
                <a:spcPts val="0"/>
              </a:spcBef>
              <a:spcAft>
                <a:spcPts val="500"/>
              </a:spcAft>
            </a:pPr>
            <a:r>
              <a:rPr sz="2300" b="0" lang="id-ID">
                <a:solidFill>
                  <a:srgbClr val="ABC0CA"/>
                </a:solidFill>
                <a:latin typeface="Arial"/>
              </a:rPr>
              <a:t>di pesisir Semarang.</a:t>
            </a:r>
          </a:p>
        </p:txBody>
      </p:sp>
      <p:sp>
        <p:nvSpPr>
          <p:cNvPr id="6" name="Rectangle 5"/>
          <p:cNvSpPr/>
          <p:nvPr/>
        </p:nvSpPr>
        <p:spPr>
          <a:xfrm>
            <a:off x="5815584" y="932688"/>
            <a:ext cx="5879592" cy="4443984"/>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Rectangle 6"/>
          <p:cNvSpPr/>
          <p:nvPr/>
        </p:nvSpPr>
        <p:spPr>
          <a:xfrm>
            <a:off x="5815584" y="1371600"/>
            <a:ext cx="5879592" cy="3145536"/>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Freeform 7"/>
          <p:cNvSpPr/>
          <p:nvPr/>
        </p:nvSpPr>
        <p:spPr>
          <a:xfrm>
            <a:off x="5816498" y="2404872"/>
            <a:ext cx="5873191" cy="2112264"/>
          </a:xfrm>
          <a:custGeom>
            <a:avLst/>
            <a:gdLst/>
            <a:ahLst/>
            <a:cxnLst/>
            <a:rect l="l" t="t" r="r" b="b"/>
            <a:pathLst>
              <a:path w="6423" h="2310">
                <a:moveTo>
                  <a:pt x="2053" y="1194"/>
                </a:moveTo>
                <a:lnTo>
                  <a:pt x="2053" y="1208"/>
                </a:lnTo>
                <a:moveTo>
                  <a:pt x="2054" y="1215"/>
                </a:moveTo>
                <a:lnTo>
                  <a:pt x="2053" y="1208"/>
                </a:lnTo>
                <a:moveTo>
                  <a:pt x="2053" y="1208"/>
                </a:moveTo>
                <a:lnTo>
                  <a:pt x="2083" y="1203"/>
                </a:lnTo>
                <a:moveTo>
                  <a:pt x="2053" y="1208"/>
                </a:moveTo>
                <a:lnTo>
                  <a:pt x="2045" y="1210"/>
                </a:lnTo>
                <a:lnTo>
                  <a:pt x="2038" y="1213"/>
                </a:lnTo>
                <a:lnTo>
                  <a:pt x="2028" y="1220"/>
                </a:lnTo>
                <a:moveTo>
                  <a:pt x="2731" y="917"/>
                </a:moveTo>
                <a:lnTo>
                  <a:pt x="2733" y="923"/>
                </a:lnTo>
                <a:moveTo>
                  <a:pt x="2731" y="917"/>
                </a:moveTo>
                <a:lnTo>
                  <a:pt x="2742" y="922"/>
                </a:lnTo>
                <a:moveTo>
                  <a:pt x="2731" y="917"/>
                </a:moveTo>
                <a:lnTo>
                  <a:pt x="2728" y="914"/>
                </a:lnTo>
                <a:lnTo>
                  <a:pt x="2699" y="889"/>
                </a:lnTo>
                <a:lnTo>
                  <a:pt x="2691" y="884"/>
                </a:lnTo>
                <a:lnTo>
                  <a:pt x="2684" y="880"/>
                </a:lnTo>
                <a:lnTo>
                  <a:pt x="2677" y="879"/>
                </a:lnTo>
                <a:lnTo>
                  <a:pt x="2671" y="878"/>
                </a:lnTo>
                <a:lnTo>
                  <a:pt x="2665" y="878"/>
                </a:lnTo>
                <a:moveTo>
                  <a:pt x="2734" y="1028"/>
                </a:moveTo>
                <a:lnTo>
                  <a:pt x="2719" y="1037"/>
                </a:lnTo>
                <a:moveTo>
                  <a:pt x="2734" y="1028"/>
                </a:moveTo>
                <a:lnTo>
                  <a:pt x="2746" y="1019"/>
                </a:lnTo>
                <a:lnTo>
                  <a:pt x="2750" y="1013"/>
                </a:lnTo>
                <a:lnTo>
                  <a:pt x="2753" y="1008"/>
                </a:lnTo>
                <a:lnTo>
                  <a:pt x="2754" y="1004"/>
                </a:lnTo>
                <a:lnTo>
                  <a:pt x="2757" y="995"/>
                </a:lnTo>
                <a:lnTo>
                  <a:pt x="2758" y="984"/>
                </a:lnTo>
                <a:moveTo>
                  <a:pt x="2061" y="1469"/>
                </a:moveTo>
                <a:lnTo>
                  <a:pt x="2061" y="1465"/>
                </a:lnTo>
                <a:lnTo>
                  <a:pt x="2061" y="1440"/>
                </a:lnTo>
                <a:moveTo>
                  <a:pt x="2061" y="1440"/>
                </a:moveTo>
                <a:lnTo>
                  <a:pt x="2058" y="1342"/>
                </a:lnTo>
                <a:lnTo>
                  <a:pt x="2057" y="1317"/>
                </a:lnTo>
                <a:lnTo>
                  <a:pt x="2054" y="1215"/>
                </a:lnTo>
                <a:moveTo>
                  <a:pt x="2061" y="1440"/>
                </a:moveTo>
                <a:lnTo>
                  <a:pt x="2058" y="1440"/>
                </a:lnTo>
                <a:lnTo>
                  <a:pt x="2053" y="1448"/>
                </a:lnTo>
                <a:lnTo>
                  <a:pt x="2050" y="1450"/>
                </a:lnTo>
                <a:lnTo>
                  <a:pt x="2045" y="1452"/>
                </a:lnTo>
                <a:lnTo>
                  <a:pt x="1998" y="1479"/>
                </a:lnTo>
                <a:lnTo>
                  <a:pt x="1989" y="1484"/>
                </a:lnTo>
                <a:moveTo>
                  <a:pt x="2061" y="1440"/>
                </a:moveTo>
                <a:lnTo>
                  <a:pt x="2071" y="1437"/>
                </a:lnTo>
                <a:lnTo>
                  <a:pt x="2112" y="1413"/>
                </a:lnTo>
                <a:lnTo>
                  <a:pt x="2124" y="1406"/>
                </a:lnTo>
                <a:lnTo>
                  <a:pt x="2160" y="1384"/>
                </a:lnTo>
                <a:moveTo>
                  <a:pt x="2065" y="1620"/>
                </a:moveTo>
                <a:lnTo>
                  <a:pt x="2066" y="1628"/>
                </a:lnTo>
                <a:lnTo>
                  <a:pt x="2068" y="1636"/>
                </a:lnTo>
                <a:lnTo>
                  <a:pt x="2072" y="1642"/>
                </a:lnTo>
                <a:lnTo>
                  <a:pt x="2076" y="1647"/>
                </a:lnTo>
                <a:lnTo>
                  <a:pt x="2082" y="1650"/>
                </a:lnTo>
                <a:lnTo>
                  <a:pt x="2088" y="1652"/>
                </a:lnTo>
                <a:lnTo>
                  <a:pt x="2093" y="1654"/>
                </a:lnTo>
                <a:lnTo>
                  <a:pt x="2187" y="1650"/>
                </a:lnTo>
                <a:lnTo>
                  <a:pt x="2213" y="1648"/>
                </a:lnTo>
                <a:lnTo>
                  <a:pt x="2234" y="1647"/>
                </a:lnTo>
                <a:lnTo>
                  <a:pt x="2258" y="1646"/>
                </a:lnTo>
                <a:moveTo>
                  <a:pt x="2065" y="1620"/>
                </a:moveTo>
                <a:lnTo>
                  <a:pt x="2057" y="1611"/>
                </a:lnTo>
                <a:lnTo>
                  <a:pt x="2052" y="1606"/>
                </a:lnTo>
                <a:lnTo>
                  <a:pt x="2044" y="1604"/>
                </a:lnTo>
                <a:moveTo>
                  <a:pt x="2065" y="1620"/>
                </a:moveTo>
                <a:lnTo>
                  <a:pt x="2065" y="1601"/>
                </a:lnTo>
                <a:moveTo>
                  <a:pt x="2031" y="1608"/>
                </a:moveTo>
                <a:lnTo>
                  <a:pt x="2038" y="1605"/>
                </a:lnTo>
                <a:lnTo>
                  <a:pt x="2044" y="1604"/>
                </a:lnTo>
                <a:moveTo>
                  <a:pt x="2031" y="1608"/>
                </a:moveTo>
                <a:lnTo>
                  <a:pt x="2026" y="1615"/>
                </a:lnTo>
                <a:lnTo>
                  <a:pt x="2022" y="1621"/>
                </a:lnTo>
                <a:moveTo>
                  <a:pt x="2031" y="1608"/>
                </a:moveTo>
                <a:lnTo>
                  <a:pt x="2025" y="1600"/>
                </a:lnTo>
                <a:moveTo>
                  <a:pt x="2044" y="1604"/>
                </a:moveTo>
                <a:lnTo>
                  <a:pt x="2049" y="1600"/>
                </a:lnTo>
                <a:lnTo>
                  <a:pt x="2054" y="1592"/>
                </a:lnTo>
                <a:lnTo>
                  <a:pt x="2060" y="1582"/>
                </a:lnTo>
                <a:lnTo>
                  <a:pt x="2063" y="1573"/>
                </a:lnTo>
                <a:moveTo>
                  <a:pt x="2061" y="1516"/>
                </a:moveTo>
                <a:lnTo>
                  <a:pt x="2063" y="1573"/>
                </a:lnTo>
                <a:moveTo>
                  <a:pt x="2063" y="1573"/>
                </a:moveTo>
                <a:lnTo>
                  <a:pt x="2065" y="1601"/>
                </a:lnTo>
                <a:moveTo>
                  <a:pt x="1989" y="1484"/>
                </a:moveTo>
                <a:lnTo>
                  <a:pt x="2018" y="1591"/>
                </a:lnTo>
                <a:lnTo>
                  <a:pt x="2025" y="1600"/>
                </a:lnTo>
                <a:moveTo>
                  <a:pt x="1989" y="1484"/>
                </a:moveTo>
                <a:lnTo>
                  <a:pt x="1984" y="1487"/>
                </a:lnTo>
                <a:lnTo>
                  <a:pt x="1948" y="1506"/>
                </a:lnTo>
                <a:lnTo>
                  <a:pt x="1939" y="1509"/>
                </a:lnTo>
                <a:moveTo>
                  <a:pt x="1989" y="1484"/>
                </a:moveTo>
                <a:lnTo>
                  <a:pt x="1965" y="1404"/>
                </a:lnTo>
                <a:lnTo>
                  <a:pt x="1954" y="1367"/>
                </a:lnTo>
                <a:moveTo>
                  <a:pt x="1922" y="1281"/>
                </a:moveTo>
                <a:lnTo>
                  <a:pt x="1945" y="1272"/>
                </a:lnTo>
                <a:moveTo>
                  <a:pt x="1922" y="1281"/>
                </a:moveTo>
                <a:lnTo>
                  <a:pt x="1925" y="1286"/>
                </a:lnTo>
                <a:moveTo>
                  <a:pt x="2083" y="1203"/>
                </a:moveTo>
                <a:lnTo>
                  <a:pt x="2122" y="1184"/>
                </a:lnTo>
                <a:moveTo>
                  <a:pt x="1603" y="1343"/>
                </a:moveTo>
                <a:lnTo>
                  <a:pt x="1603" y="1354"/>
                </a:lnTo>
                <a:lnTo>
                  <a:pt x="1603" y="1358"/>
                </a:lnTo>
                <a:lnTo>
                  <a:pt x="1601" y="1382"/>
                </a:lnTo>
                <a:moveTo>
                  <a:pt x="1601" y="1382"/>
                </a:moveTo>
                <a:lnTo>
                  <a:pt x="1606" y="1377"/>
                </a:lnTo>
                <a:lnTo>
                  <a:pt x="1612" y="1375"/>
                </a:lnTo>
                <a:lnTo>
                  <a:pt x="1616" y="1374"/>
                </a:lnTo>
                <a:lnTo>
                  <a:pt x="1648" y="1367"/>
                </a:lnTo>
                <a:moveTo>
                  <a:pt x="1601" y="1382"/>
                </a:moveTo>
                <a:lnTo>
                  <a:pt x="1599" y="1416"/>
                </a:lnTo>
                <a:lnTo>
                  <a:pt x="1597" y="1428"/>
                </a:lnTo>
                <a:moveTo>
                  <a:pt x="2079" y="2028"/>
                </a:moveTo>
                <a:lnTo>
                  <a:pt x="2079" y="1999"/>
                </a:lnTo>
                <a:moveTo>
                  <a:pt x="2079" y="2028"/>
                </a:moveTo>
                <a:lnTo>
                  <a:pt x="2078" y="2068"/>
                </a:lnTo>
                <a:moveTo>
                  <a:pt x="2073" y="1856"/>
                </a:moveTo>
                <a:lnTo>
                  <a:pt x="2073" y="1851"/>
                </a:lnTo>
                <a:moveTo>
                  <a:pt x="2073" y="1856"/>
                </a:moveTo>
                <a:lnTo>
                  <a:pt x="2074" y="1869"/>
                </a:lnTo>
                <a:moveTo>
                  <a:pt x="2069" y="1731"/>
                </a:moveTo>
                <a:lnTo>
                  <a:pt x="2068" y="1724"/>
                </a:lnTo>
                <a:lnTo>
                  <a:pt x="2066" y="1711"/>
                </a:lnTo>
                <a:lnTo>
                  <a:pt x="2065" y="1705"/>
                </a:lnTo>
                <a:lnTo>
                  <a:pt x="2064" y="1689"/>
                </a:lnTo>
                <a:lnTo>
                  <a:pt x="2064" y="1685"/>
                </a:lnTo>
                <a:moveTo>
                  <a:pt x="2069" y="1731"/>
                </a:moveTo>
                <a:lnTo>
                  <a:pt x="2069" y="1754"/>
                </a:lnTo>
                <a:moveTo>
                  <a:pt x="1838" y="1892"/>
                </a:moveTo>
                <a:lnTo>
                  <a:pt x="1840" y="1902"/>
                </a:lnTo>
                <a:lnTo>
                  <a:pt x="1845" y="1930"/>
                </a:lnTo>
                <a:moveTo>
                  <a:pt x="1838" y="1892"/>
                </a:moveTo>
                <a:lnTo>
                  <a:pt x="1837" y="1884"/>
                </a:lnTo>
                <a:lnTo>
                  <a:pt x="1831" y="1856"/>
                </a:lnTo>
                <a:lnTo>
                  <a:pt x="1824" y="1824"/>
                </a:lnTo>
                <a:moveTo>
                  <a:pt x="1845" y="1940"/>
                </a:moveTo>
                <a:lnTo>
                  <a:pt x="1849" y="1988"/>
                </a:lnTo>
                <a:moveTo>
                  <a:pt x="1845" y="1940"/>
                </a:moveTo>
                <a:lnTo>
                  <a:pt x="1845" y="1930"/>
                </a:lnTo>
                <a:moveTo>
                  <a:pt x="1850" y="2024"/>
                </a:moveTo>
                <a:lnTo>
                  <a:pt x="1850" y="2012"/>
                </a:lnTo>
                <a:moveTo>
                  <a:pt x="1848" y="2040"/>
                </a:moveTo>
                <a:lnTo>
                  <a:pt x="1847" y="2047"/>
                </a:lnTo>
                <a:lnTo>
                  <a:pt x="1847" y="2053"/>
                </a:lnTo>
                <a:moveTo>
                  <a:pt x="1841" y="2108"/>
                </a:moveTo>
                <a:lnTo>
                  <a:pt x="1834" y="2185"/>
                </a:lnTo>
                <a:lnTo>
                  <a:pt x="1831" y="2206"/>
                </a:lnTo>
                <a:lnTo>
                  <a:pt x="1830" y="2213"/>
                </a:lnTo>
                <a:lnTo>
                  <a:pt x="1828" y="2220"/>
                </a:lnTo>
                <a:lnTo>
                  <a:pt x="1819" y="2236"/>
                </a:lnTo>
                <a:moveTo>
                  <a:pt x="1841" y="2108"/>
                </a:moveTo>
                <a:lnTo>
                  <a:pt x="1847" y="2053"/>
                </a:lnTo>
                <a:moveTo>
                  <a:pt x="1819" y="2236"/>
                </a:moveTo>
                <a:lnTo>
                  <a:pt x="1794" y="2263"/>
                </a:lnTo>
                <a:lnTo>
                  <a:pt x="1779" y="2279"/>
                </a:lnTo>
                <a:moveTo>
                  <a:pt x="1697" y="1556"/>
                </a:moveTo>
                <a:lnTo>
                  <a:pt x="1607" y="1570"/>
                </a:lnTo>
                <a:moveTo>
                  <a:pt x="1697" y="1556"/>
                </a:moveTo>
                <a:lnTo>
                  <a:pt x="1707" y="1553"/>
                </a:lnTo>
                <a:lnTo>
                  <a:pt x="1760" y="1546"/>
                </a:lnTo>
                <a:moveTo>
                  <a:pt x="1769" y="1545"/>
                </a:moveTo>
                <a:lnTo>
                  <a:pt x="1760" y="1546"/>
                </a:lnTo>
                <a:moveTo>
                  <a:pt x="1769" y="1545"/>
                </a:moveTo>
                <a:lnTo>
                  <a:pt x="1787" y="1544"/>
                </a:lnTo>
                <a:lnTo>
                  <a:pt x="1795" y="1544"/>
                </a:lnTo>
                <a:lnTo>
                  <a:pt x="1805" y="1541"/>
                </a:lnTo>
                <a:lnTo>
                  <a:pt x="1830" y="1539"/>
                </a:lnTo>
                <a:lnTo>
                  <a:pt x="1841" y="1537"/>
                </a:lnTo>
                <a:lnTo>
                  <a:pt x="1853" y="1539"/>
                </a:lnTo>
                <a:moveTo>
                  <a:pt x="1598" y="1552"/>
                </a:moveTo>
                <a:lnTo>
                  <a:pt x="1595" y="1524"/>
                </a:lnTo>
                <a:moveTo>
                  <a:pt x="1598" y="1552"/>
                </a:moveTo>
                <a:lnTo>
                  <a:pt x="1593" y="1554"/>
                </a:lnTo>
                <a:lnTo>
                  <a:pt x="1575" y="1567"/>
                </a:lnTo>
                <a:lnTo>
                  <a:pt x="1562" y="1579"/>
                </a:lnTo>
                <a:moveTo>
                  <a:pt x="1598" y="1552"/>
                </a:moveTo>
                <a:lnTo>
                  <a:pt x="1607" y="1570"/>
                </a:lnTo>
                <a:moveTo>
                  <a:pt x="2255" y="1453"/>
                </a:moveTo>
                <a:lnTo>
                  <a:pt x="2230" y="1400"/>
                </a:lnTo>
                <a:lnTo>
                  <a:pt x="2207" y="1352"/>
                </a:lnTo>
                <a:moveTo>
                  <a:pt x="2207" y="1352"/>
                </a:moveTo>
                <a:lnTo>
                  <a:pt x="2192" y="1363"/>
                </a:lnTo>
                <a:lnTo>
                  <a:pt x="2171" y="1377"/>
                </a:lnTo>
                <a:moveTo>
                  <a:pt x="2207" y="1352"/>
                </a:moveTo>
                <a:lnTo>
                  <a:pt x="2211" y="1349"/>
                </a:lnTo>
                <a:moveTo>
                  <a:pt x="2298" y="1645"/>
                </a:moveTo>
                <a:lnTo>
                  <a:pt x="2297" y="1670"/>
                </a:lnTo>
                <a:moveTo>
                  <a:pt x="2295" y="1577"/>
                </a:moveTo>
                <a:lnTo>
                  <a:pt x="2295" y="1591"/>
                </a:lnTo>
                <a:lnTo>
                  <a:pt x="2295" y="1594"/>
                </a:lnTo>
                <a:lnTo>
                  <a:pt x="2298" y="1645"/>
                </a:lnTo>
                <a:moveTo>
                  <a:pt x="2450" y="1652"/>
                </a:moveTo>
                <a:lnTo>
                  <a:pt x="2399" y="1646"/>
                </a:lnTo>
                <a:lnTo>
                  <a:pt x="2298" y="1645"/>
                </a:lnTo>
                <a:moveTo>
                  <a:pt x="2298" y="1645"/>
                </a:moveTo>
                <a:lnTo>
                  <a:pt x="2258" y="1646"/>
                </a:lnTo>
                <a:moveTo>
                  <a:pt x="2619" y="180"/>
                </a:moveTo>
                <a:lnTo>
                  <a:pt x="2569" y="201"/>
                </a:lnTo>
                <a:moveTo>
                  <a:pt x="2619" y="180"/>
                </a:moveTo>
                <a:lnTo>
                  <a:pt x="2614" y="186"/>
                </a:lnTo>
                <a:lnTo>
                  <a:pt x="2614" y="190"/>
                </a:lnTo>
                <a:lnTo>
                  <a:pt x="2616" y="194"/>
                </a:lnTo>
                <a:moveTo>
                  <a:pt x="2619" y="180"/>
                </a:moveTo>
                <a:lnTo>
                  <a:pt x="2720" y="138"/>
                </a:lnTo>
                <a:lnTo>
                  <a:pt x="2981" y="36"/>
                </a:lnTo>
                <a:lnTo>
                  <a:pt x="3018" y="26"/>
                </a:lnTo>
                <a:lnTo>
                  <a:pt x="3030" y="24"/>
                </a:lnTo>
                <a:lnTo>
                  <a:pt x="3058" y="22"/>
                </a:lnTo>
                <a:lnTo>
                  <a:pt x="3070" y="21"/>
                </a:lnTo>
                <a:lnTo>
                  <a:pt x="3094" y="23"/>
                </a:lnTo>
                <a:lnTo>
                  <a:pt x="3104" y="24"/>
                </a:lnTo>
                <a:lnTo>
                  <a:pt x="3121" y="26"/>
                </a:lnTo>
                <a:lnTo>
                  <a:pt x="3139" y="28"/>
                </a:lnTo>
                <a:lnTo>
                  <a:pt x="3152" y="33"/>
                </a:lnTo>
                <a:lnTo>
                  <a:pt x="3169" y="39"/>
                </a:lnTo>
                <a:lnTo>
                  <a:pt x="3218" y="64"/>
                </a:lnTo>
                <a:lnTo>
                  <a:pt x="3293" y="107"/>
                </a:lnTo>
                <a:lnTo>
                  <a:pt x="3315" y="116"/>
                </a:lnTo>
                <a:lnTo>
                  <a:pt x="3358" y="137"/>
                </a:lnTo>
                <a:lnTo>
                  <a:pt x="3464" y="192"/>
                </a:lnTo>
                <a:lnTo>
                  <a:pt x="3499" y="211"/>
                </a:lnTo>
                <a:moveTo>
                  <a:pt x="2327" y="322"/>
                </a:moveTo>
                <a:lnTo>
                  <a:pt x="2180" y="375"/>
                </a:lnTo>
                <a:lnTo>
                  <a:pt x="1755" y="527"/>
                </a:lnTo>
                <a:moveTo>
                  <a:pt x="2327" y="322"/>
                </a:moveTo>
                <a:lnTo>
                  <a:pt x="2294" y="340"/>
                </a:lnTo>
                <a:lnTo>
                  <a:pt x="2184" y="378"/>
                </a:lnTo>
                <a:lnTo>
                  <a:pt x="2146" y="392"/>
                </a:lnTo>
                <a:moveTo>
                  <a:pt x="2327" y="322"/>
                </a:moveTo>
                <a:lnTo>
                  <a:pt x="2377" y="304"/>
                </a:lnTo>
                <a:moveTo>
                  <a:pt x="1233" y="2191"/>
                </a:moveTo>
                <a:lnTo>
                  <a:pt x="1184" y="2208"/>
                </a:lnTo>
                <a:moveTo>
                  <a:pt x="1233" y="2191"/>
                </a:moveTo>
                <a:lnTo>
                  <a:pt x="1221" y="2129"/>
                </a:lnTo>
                <a:lnTo>
                  <a:pt x="1219" y="2116"/>
                </a:lnTo>
                <a:lnTo>
                  <a:pt x="1212" y="2080"/>
                </a:lnTo>
                <a:moveTo>
                  <a:pt x="1233" y="2191"/>
                </a:moveTo>
                <a:lnTo>
                  <a:pt x="1285" y="2170"/>
                </a:lnTo>
                <a:lnTo>
                  <a:pt x="1300" y="2164"/>
                </a:lnTo>
                <a:lnTo>
                  <a:pt x="1310" y="2161"/>
                </a:lnTo>
                <a:lnTo>
                  <a:pt x="1319" y="2159"/>
                </a:lnTo>
                <a:lnTo>
                  <a:pt x="1328" y="2156"/>
                </a:lnTo>
                <a:lnTo>
                  <a:pt x="1360" y="2148"/>
                </a:lnTo>
                <a:moveTo>
                  <a:pt x="1233" y="2191"/>
                </a:moveTo>
                <a:lnTo>
                  <a:pt x="1241" y="2232"/>
                </a:lnTo>
                <a:lnTo>
                  <a:pt x="1246" y="2260"/>
                </a:lnTo>
                <a:lnTo>
                  <a:pt x="1251" y="2284"/>
                </a:lnTo>
                <a:lnTo>
                  <a:pt x="1251" y="2284"/>
                </a:lnTo>
                <a:lnTo>
                  <a:pt x="1253" y="2297"/>
                </a:lnTo>
                <a:lnTo>
                  <a:pt x="1255" y="2304"/>
                </a:lnTo>
                <a:moveTo>
                  <a:pt x="1191" y="1975"/>
                </a:moveTo>
                <a:lnTo>
                  <a:pt x="1186" y="1954"/>
                </a:lnTo>
                <a:moveTo>
                  <a:pt x="1191" y="1975"/>
                </a:moveTo>
                <a:lnTo>
                  <a:pt x="1241" y="1924"/>
                </a:lnTo>
                <a:lnTo>
                  <a:pt x="1275" y="1890"/>
                </a:lnTo>
                <a:lnTo>
                  <a:pt x="1276" y="1888"/>
                </a:lnTo>
                <a:lnTo>
                  <a:pt x="1280" y="1884"/>
                </a:lnTo>
                <a:lnTo>
                  <a:pt x="1324" y="1840"/>
                </a:lnTo>
                <a:lnTo>
                  <a:pt x="1326" y="1837"/>
                </a:lnTo>
                <a:lnTo>
                  <a:pt x="1332" y="1831"/>
                </a:lnTo>
                <a:moveTo>
                  <a:pt x="1191" y="1975"/>
                </a:moveTo>
                <a:lnTo>
                  <a:pt x="1161" y="2008"/>
                </a:lnTo>
                <a:moveTo>
                  <a:pt x="1191" y="1975"/>
                </a:moveTo>
                <a:lnTo>
                  <a:pt x="1194" y="1984"/>
                </a:lnTo>
                <a:moveTo>
                  <a:pt x="1409" y="2137"/>
                </a:moveTo>
                <a:lnTo>
                  <a:pt x="1412" y="2158"/>
                </a:lnTo>
                <a:moveTo>
                  <a:pt x="1409" y="2137"/>
                </a:moveTo>
                <a:lnTo>
                  <a:pt x="1444" y="2127"/>
                </a:lnTo>
                <a:moveTo>
                  <a:pt x="1409" y="2137"/>
                </a:moveTo>
                <a:lnTo>
                  <a:pt x="1403" y="2083"/>
                </a:lnTo>
                <a:lnTo>
                  <a:pt x="1402" y="2066"/>
                </a:lnTo>
                <a:moveTo>
                  <a:pt x="1409" y="2137"/>
                </a:moveTo>
                <a:lnTo>
                  <a:pt x="1360" y="2148"/>
                </a:lnTo>
                <a:moveTo>
                  <a:pt x="1595" y="2063"/>
                </a:moveTo>
                <a:lnTo>
                  <a:pt x="1595" y="2076"/>
                </a:lnTo>
                <a:lnTo>
                  <a:pt x="1595" y="2077"/>
                </a:lnTo>
                <a:moveTo>
                  <a:pt x="1595" y="2063"/>
                </a:moveTo>
                <a:lnTo>
                  <a:pt x="1600" y="2060"/>
                </a:lnTo>
                <a:lnTo>
                  <a:pt x="1614" y="2055"/>
                </a:lnTo>
                <a:lnTo>
                  <a:pt x="1627" y="2049"/>
                </a:lnTo>
                <a:lnTo>
                  <a:pt x="1637" y="2046"/>
                </a:lnTo>
                <a:lnTo>
                  <a:pt x="1661" y="2040"/>
                </a:lnTo>
                <a:moveTo>
                  <a:pt x="1595" y="2063"/>
                </a:moveTo>
                <a:lnTo>
                  <a:pt x="1582" y="2068"/>
                </a:lnTo>
                <a:moveTo>
                  <a:pt x="1707" y="2038"/>
                </a:moveTo>
                <a:lnTo>
                  <a:pt x="1684" y="2037"/>
                </a:lnTo>
                <a:moveTo>
                  <a:pt x="1707" y="2038"/>
                </a:moveTo>
                <a:lnTo>
                  <a:pt x="1756" y="2043"/>
                </a:lnTo>
                <a:moveTo>
                  <a:pt x="1756" y="2043"/>
                </a:moveTo>
                <a:lnTo>
                  <a:pt x="1799" y="2048"/>
                </a:lnTo>
                <a:moveTo>
                  <a:pt x="1847" y="2053"/>
                </a:moveTo>
                <a:lnTo>
                  <a:pt x="1799" y="2048"/>
                </a:lnTo>
                <a:moveTo>
                  <a:pt x="1406" y="1754"/>
                </a:moveTo>
                <a:lnTo>
                  <a:pt x="1404" y="1747"/>
                </a:lnTo>
                <a:moveTo>
                  <a:pt x="1406" y="1754"/>
                </a:moveTo>
                <a:lnTo>
                  <a:pt x="1410" y="1748"/>
                </a:lnTo>
                <a:moveTo>
                  <a:pt x="1406" y="1754"/>
                </a:moveTo>
                <a:lnTo>
                  <a:pt x="1397" y="1763"/>
                </a:lnTo>
                <a:lnTo>
                  <a:pt x="1387" y="1773"/>
                </a:lnTo>
                <a:lnTo>
                  <a:pt x="1369" y="1792"/>
                </a:lnTo>
                <a:lnTo>
                  <a:pt x="1364" y="1798"/>
                </a:lnTo>
                <a:lnTo>
                  <a:pt x="1357" y="1804"/>
                </a:lnTo>
                <a:lnTo>
                  <a:pt x="1341" y="1821"/>
                </a:lnTo>
                <a:lnTo>
                  <a:pt x="1339" y="1824"/>
                </a:lnTo>
                <a:lnTo>
                  <a:pt x="1332" y="1831"/>
                </a:lnTo>
                <a:moveTo>
                  <a:pt x="1406" y="1754"/>
                </a:moveTo>
                <a:lnTo>
                  <a:pt x="1411" y="1761"/>
                </a:lnTo>
                <a:moveTo>
                  <a:pt x="839" y="2308"/>
                </a:moveTo>
                <a:lnTo>
                  <a:pt x="833" y="2306"/>
                </a:lnTo>
                <a:lnTo>
                  <a:pt x="825" y="2306"/>
                </a:lnTo>
                <a:moveTo>
                  <a:pt x="584" y="2224"/>
                </a:moveTo>
                <a:lnTo>
                  <a:pt x="578" y="2237"/>
                </a:lnTo>
                <a:moveTo>
                  <a:pt x="856" y="2301"/>
                </a:moveTo>
                <a:lnTo>
                  <a:pt x="870" y="2298"/>
                </a:lnTo>
                <a:moveTo>
                  <a:pt x="856" y="2301"/>
                </a:moveTo>
                <a:lnTo>
                  <a:pt x="825" y="2306"/>
                </a:lnTo>
                <a:moveTo>
                  <a:pt x="856" y="2301"/>
                </a:moveTo>
                <a:lnTo>
                  <a:pt x="852" y="2308"/>
                </a:lnTo>
                <a:moveTo>
                  <a:pt x="1127" y="2231"/>
                </a:moveTo>
                <a:lnTo>
                  <a:pt x="1093" y="2243"/>
                </a:lnTo>
                <a:moveTo>
                  <a:pt x="1127" y="2231"/>
                </a:moveTo>
                <a:lnTo>
                  <a:pt x="1163" y="2216"/>
                </a:lnTo>
                <a:lnTo>
                  <a:pt x="1174" y="2212"/>
                </a:lnTo>
                <a:lnTo>
                  <a:pt x="1175" y="2212"/>
                </a:lnTo>
                <a:lnTo>
                  <a:pt x="1184" y="2208"/>
                </a:lnTo>
                <a:moveTo>
                  <a:pt x="855" y="2055"/>
                </a:moveTo>
                <a:lnTo>
                  <a:pt x="862" y="2078"/>
                </a:lnTo>
                <a:lnTo>
                  <a:pt x="903" y="2240"/>
                </a:lnTo>
                <a:moveTo>
                  <a:pt x="842" y="2036"/>
                </a:moveTo>
                <a:lnTo>
                  <a:pt x="852" y="2050"/>
                </a:lnTo>
                <a:lnTo>
                  <a:pt x="855" y="2055"/>
                </a:lnTo>
                <a:moveTo>
                  <a:pt x="818" y="2006"/>
                </a:moveTo>
                <a:lnTo>
                  <a:pt x="842" y="2036"/>
                </a:lnTo>
                <a:moveTo>
                  <a:pt x="786" y="1947"/>
                </a:moveTo>
                <a:lnTo>
                  <a:pt x="793" y="1944"/>
                </a:lnTo>
                <a:moveTo>
                  <a:pt x="742" y="1969"/>
                </a:moveTo>
                <a:lnTo>
                  <a:pt x="776" y="1952"/>
                </a:lnTo>
                <a:lnTo>
                  <a:pt x="786" y="1947"/>
                </a:lnTo>
                <a:moveTo>
                  <a:pt x="786" y="1947"/>
                </a:moveTo>
                <a:lnTo>
                  <a:pt x="788" y="1950"/>
                </a:lnTo>
                <a:moveTo>
                  <a:pt x="1182" y="1757"/>
                </a:moveTo>
                <a:lnTo>
                  <a:pt x="1154" y="1770"/>
                </a:lnTo>
                <a:moveTo>
                  <a:pt x="1093" y="1801"/>
                </a:moveTo>
                <a:lnTo>
                  <a:pt x="1138" y="1778"/>
                </a:lnTo>
                <a:lnTo>
                  <a:pt x="1148" y="1773"/>
                </a:lnTo>
                <a:lnTo>
                  <a:pt x="1154" y="1770"/>
                </a:lnTo>
                <a:moveTo>
                  <a:pt x="1154" y="1770"/>
                </a:moveTo>
                <a:lnTo>
                  <a:pt x="1162" y="1815"/>
                </a:lnTo>
                <a:lnTo>
                  <a:pt x="1163" y="1820"/>
                </a:lnTo>
                <a:moveTo>
                  <a:pt x="1323" y="1688"/>
                </a:moveTo>
                <a:lnTo>
                  <a:pt x="1309" y="1696"/>
                </a:lnTo>
                <a:lnTo>
                  <a:pt x="1297" y="1700"/>
                </a:lnTo>
                <a:lnTo>
                  <a:pt x="1258" y="1720"/>
                </a:lnTo>
                <a:lnTo>
                  <a:pt x="1248" y="1724"/>
                </a:lnTo>
                <a:moveTo>
                  <a:pt x="1206" y="1745"/>
                </a:moveTo>
                <a:lnTo>
                  <a:pt x="1237" y="1730"/>
                </a:lnTo>
                <a:lnTo>
                  <a:pt x="1248" y="1724"/>
                </a:lnTo>
                <a:moveTo>
                  <a:pt x="1323" y="1688"/>
                </a:moveTo>
                <a:lnTo>
                  <a:pt x="1339" y="1680"/>
                </a:lnTo>
                <a:lnTo>
                  <a:pt x="1344" y="1678"/>
                </a:lnTo>
                <a:lnTo>
                  <a:pt x="1376" y="1664"/>
                </a:lnTo>
                <a:moveTo>
                  <a:pt x="1323" y="1688"/>
                </a:moveTo>
                <a:lnTo>
                  <a:pt x="1329" y="1688"/>
                </a:lnTo>
                <a:lnTo>
                  <a:pt x="1336" y="1688"/>
                </a:lnTo>
                <a:lnTo>
                  <a:pt x="1350" y="1682"/>
                </a:lnTo>
                <a:lnTo>
                  <a:pt x="1368" y="1674"/>
                </a:lnTo>
                <a:lnTo>
                  <a:pt x="1373" y="1672"/>
                </a:lnTo>
                <a:lnTo>
                  <a:pt x="1376" y="1673"/>
                </a:lnTo>
                <a:lnTo>
                  <a:pt x="1379" y="1673"/>
                </a:lnTo>
                <a:moveTo>
                  <a:pt x="1376" y="1664"/>
                </a:moveTo>
                <a:lnTo>
                  <a:pt x="1375" y="1662"/>
                </a:lnTo>
                <a:lnTo>
                  <a:pt x="1374" y="1659"/>
                </a:lnTo>
                <a:lnTo>
                  <a:pt x="1361" y="1616"/>
                </a:lnTo>
                <a:moveTo>
                  <a:pt x="1376" y="1664"/>
                </a:moveTo>
                <a:lnTo>
                  <a:pt x="1381" y="1663"/>
                </a:lnTo>
                <a:lnTo>
                  <a:pt x="1412" y="1654"/>
                </a:lnTo>
                <a:lnTo>
                  <a:pt x="1418" y="1653"/>
                </a:lnTo>
                <a:lnTo>
                  <a:pt x="1423" y="1652"/>
                </a:lnTo>
                <a:lnTo>
                  <a:pt x="1432" y="1649"/>
                </a:lnTo>
                <a:lnTo>
                  <a:pt x="1459" y="1645"/>
                </a:lnTo>
                <a:lnTo>
                  <a:pt x="1465" y="1644"/>
                </a:lnTo>
                <a:lnTo>
                  <a:pt x="1486" y="1641"/>
                </a:lnTo>
                <a:lnTo>
                  <a:pt x="1494" y="1640"/>
                </a:lnTo>
                <a:moveTo>
                  <a:pt x="1376" y="1664"/>
                </a:moveTo>
                <a:lnTo>
                  <a:pt x="1376" y="1666"/>
                </a:lnTo>
                <a:lnTo>
                  <a:pt x="1377" y="1668"/>
                </a:lnTo>
                <a:lnTo>
                  <a:pt x="1379" y="1673"/>
                </a:lnTo>
                <a:moveTo>
                  <a:pt x="2685" y="1706"/>
                </a:moveTo>
                <a:lnTo>
                  <a:pt x="2691" y="1708"/>
                </a:lnTo>
                <a:moveTo>
                  <a:pt x="2793" y="1739"/>
                </a:moveTo>
                <a:lnTo>
                  <a:pt x="2749" y="1726"/>
                </a:lnTo>
                <a:lnTo>
                  <a:pt x="2712" y="1714"/>
                </a:lnTo>
                <a:lnTo>
                  <a:pt x="2691" y="1708"/>
                </a:lnTo>
                <a:moveTo>
                  <a:pt x="2853" y="1764"/>
                </a:moveTo>
                <a:lnTo>
                  <a:pt x="2799" y="1744"/>
                </a:lnTo>
                <a:moveTo>
                  <a:pt x="2853" y="1764"/>
                </a:moveTo>
                <a:lnTo>
                  <a:pt x="2869" y="1773"/>
                </a:lnTo>
                <a:lnTo>
                  <a:pt x="2878" y="1780"/>
                </a:lnTo>
                <a:lnTo>
                  <a:pt x="2917" y="1812"/>
                </a:lnTo>
                <a:lnTo>
                  <a:pt x="3093" y="2002"/>
                </a:lnTo>
                <a:lnTo>
                  <a:pt x="3104" y="2014"/>
                </a:lnTo>
                <a:lnTo>
                  <a:pt x="3112" y="2021"/>
                </a:lnTo>
                <a:lnTo>
                  <a:pt x="3115" y="2024"/>
                </a:lnTo>
                <a:moveTo>
                  <a:pt x="661" y="2058"/>
                </a:moveTo>
                <a:lnTo>
                  <a:pt x="658" y="2056"/>
                </a:lnTo>
                <a:moveTo>
                  <a:pt x="661" y="2058"/>
                </a:moveTo>
                <a:lnTo>
                  <a:pt x="659" y="2062"/>
                </a:lnTo>
                <a:lnTo>
                  <a:pt x="658" y="2064"/>
                </a:lnTo>
                <a:lnTo>
                  <a:pt x="656" y="2067"/>
                </a:lnTo>
                <a:moveTo>
                  <a:pt x="661" y="2058"/>
                </a:moveTo>
                <a:lnTo>
                  <a:pt x="664" y="2052"/>
                </a:lnTo>
                <a:moveTo>
                  <a:pt x="3085" y="815"/>
                </a:moveTo>
                <a:lnTo>
                  <a:pt x="3085" y="816"/>
                </a:lnTo>
                <a:lnTo>
                  <a:pt x="3104" y="808"/>
                </a:lnTo>
                <a:lnTo>
                  <a:pt x="3115" y="803"/>
                </a:lnTo>
                <a:lnTo>
                  <a:pt x="3140" y="792"/>
                </a:lnTo>
                <a:lnTo>
                  <a:pt x="3153" y="788"/>
                </a:lnTo>
                <a:moveTo>
                  <a:pt x="3085" y="815"/>
                </a:moveTo>
                <a:lnTo>
                  <a:pt x="3034" y="836"/>
                </a:lnTo>
                <a:lnTo>
                  <a:pt x="2986" y="851"/>
                </a:lnTo>
                <a:lnTo>
                  <a:pt x="2941" y="865"/>
                </a:lnTo>
                <a:lnTo>
                  <a:pt x="2910" y="875"/>
                </a:lnTo>
                <a:lnTo>
                  <a:pt x="2865" y="889"/>
                </a:lnTo>
                <a:lnTo>
                  <a:pt x="2843" y="896"/>
                </a:lnTo>
                <a:lnTo>
                  <a:pt x="2804" y="910"/>
                </a:lnTo>
                <a:lnTo>
                  <a:pt x="2799" y="912"/>
                </a:lnTo>
                <a:moveTo>
                  <a:pt x="2843" y="906"/>
                </a:moveTo>
                <a:lnTo>
                  <a:pt x="2822" y="913"/>
                </a:lnTo>
                <a:lnTo>
                  <a:pt x="2792" y="924"/>
                </a:lnTo>
                <a:moveTo>
                  <a:pt x="2843" y="906"/>
                </a:moveTo>
                <a:lnTo>
                  <a:pt x="2846" y="905"/>
                </a:lnTo>
                <a:lnTo>
                  <a:pt x="2866" y="900"/>
                </a:lnTo>
                <a:lnTo>
                  <a:pt x="2900" y="889"/>
                </a:lnTo>
                <a:moveTo>
                  <a:pt x="2773" y="933"/>
                </a:moveTo>
                <a:lnTo>
                  <a:pt x="2766" y="939"/>
                </a:lnTo>
                <a:lnTo>
                  <a:pt x="2762" y="944"/>
                </a:lnTo>
                <a:lnTo>
                  <a:pt x="2759" y="951"/>
                </a:lnTo>
                <a:lnTo>
                  <a:pt x="2758" y="960"/>
                </a:lnTo>
                <a:lnTo>
                  <a:pt x="2758" y="978"/>
                </a:lnTo>
                <a:moveTo>
                  <a:pt x="2773" y="933"/>
                </a:moveTo>
                <a:lnTo>
                  <a:pt x="2771" y="932"/>
                </a:lnTo>
                <a:lnTo>
                  <a:pt x="2770" y="932"/>
                </a:lnTo>
                <a:lnTo>
                  <a:pt x="2769" y="932"/>
                </a:lnTo>
                <a:lnTo>
                  <a:pt x="2768" y="931"/>
                </a:lnTo>
                <a:lnTo>
                  <a:pt x="2768" y="929"/>
                </a:lnTo>
                <a:lnTo>
                  <a:pt x="2768" y="928"/>
                </a:lnTo>
                <a:lnTo>
                  <a:pt x="2768" y="927"/>
                </a:lnTo>
                <a:lnTo>
                  <a:pt x="2769" y="926"/>
                </a:lnTo>
                <a:lnTo>
                  <a:pt x="2769" y="925"/>
                </a:lnTo>
                <a:lnTo>
                  <a:pt x="2769" y="924"/>
                </a:lnTo>
                <a:lnTo>
                  <a:pt x="2770" y="924"/>
                </a:lnTo>
                <a:moveTo>
                  <a:pt x="2773" y="933"/>
                </a:moveTo>
                <a:lnTo>
                  <a:pt x="2792" y="924"/>
                </a:lnTo>
                <a:moveTo>
                  <a:pt x="3645" y="642"/>
                </a:moveTo>
                <a:lnTo>
                  <a:pt x="3638" y="643"/>
                </a:lnTo>
                <a:lnTo>
                  <a:pt x="3613" y="647"/>
                </a:lnTo>
                <a:lnTo>
                  <a:pt x="3597" y="648"/>
                </a:lnTo>
                <a:lnTo>
                  <a:pt x="3582" y="651"/>
                </a:lnTo>
                <a:lnTo>
                  <a:pt x="3556" y="658"/>
                </a:lnTo>
                <a:lnTo>
                  <a:pt x="3522" y="667"/>
                </a:lnTo>
                <a:lnTo>
                  <a:pt x="3508" y="671"/>
                </a:lnTo>
                <a:moveTo>
                  <a:pt x="3645" y="642"/>
                </a:moveTo>
                <a:lnTo>
                  <a:pt x="3672" y="640"/>
                </a:lnTo>
                <a:moveTo>
                  <a:pt x="3751" y="637"/>
                </a:moveTo>
                <a:lnTo>
                  <a:pt x="3723" y="639"/>
                </a:lnTo>
                <a:moveTo>
                  <a:pt x="3751" y="637"/>
                </a:moveTo>
                <a:lnTo>
                  <a:pt x="3756" y="636"/>
                </a:lnTo>
                <a:lnTo>
                  <a:pt x="3763" y="636"/>
                </a:lnTo>
                <a:moveTo>
                  <a:pt x="4808" y="536"/>
                </a:moveTo>
                <a:lnTo>
                  <a:pt x="4770" y="539"/>
                </a:lnTo>
                <a:moveTo>
                  <a:pt x="4808" y="536"/>
                </a:moveTo>
                <a:lnTo>
                  <a:pt x="4886" y="529"/>
                </a:lnTo>
                <a:lnTo>
                  <a:pt x="4902" y="528"/>
                </a:lnTo>
                <a:lnTo>
                  <a:pt x="4986" y="521"/>
                </a:lnTo>
                <a:lnTo>
                  <a:pt x="5033" y="516"/>
                </a:lnTo>
                <a:moveTo>
                  <a:pt x="6017" y="183"/>
                </a:moveTo>
                <a:lnTo>
                  <a:pt x="6014" y="176"/>
                </a:lnTo>
                <a:moveTo>
                  <a:pt x="6017" y="183"/>
                </a:moveTo>
                <a:lnTo>
                  <a:pt x="6004" y="188"/>
                </a:lnTo>
                <a:lnTo>
                  <a:pt x="5999" y="190"/>
                </a:lnTo>
                <a:lnTo>
                  <a:pt x="5955" y="206"/>
                </a:lnTo>
                <a:moveTo>
                  <a:pt x="6017" y="183"/>
                </a:moveTo>
                <a:lnTo>
                  <a:pt x="6025" y="180"/>
                </a:lnTo>
                <a:moveTo>
                  <a:pt x="6017" y="183"/>
                </a:moveTo>
                <a:lnTo>
                  <a:pt x="6021" y="192"/>
                </a:lnTo>
                <a:lnTo>
                  <a:pt x="6022" y="194"/>
                </a:lnTo>
                <a:lnTo>
                  <a:pt x="6023" y="201"/>
                </a:lnTo>
                <a:lnTo>
                  <a:pt x="6022" y="208"/>
                </a:lnTo>
                <a:lnTo>
                  <a:pt x="6015" y="242"/>
                </a:lnTo>
                <a:lnTo>
                  <a:pt x="5999" y="317"/>
                </a:lnTo>
                <a:moveTo>
                  <a:pt x="2229" y="1122"/>
                </a:moveTo>
                <a:lnTo>
                  <a:pt x="2250" y="1110"/>
                </a:lnTo>
                <a:lnTo>
                  <a:pt x="2268" y="1100"/>
                </a:lnTo>
                <a:moveTo>
                  <a:pt x="2229" y="1122"/>
                </a:moveTo>
                <a:lnTo>
                  <a:pt x="2223" y="1125"/>
                </a:lnTo>
                <a:lnTo>
                  <a:pt x="2219" y="1128"/>
                </a:lnTo>
                <a:lnTo>
                  <a:pt x="2194" y="1143"/>
                </a:lnTo>
                <a:lnTo>
                  <a:pt x="2151" y="1168"/>
                </a:lnTo>
                <a:moveTo>
                  <a:pt x="2306" y="1292"/>
                </a:moveTo>
                <a:lnTo>
                  <a:pt x="2296" y="1298"/>
                </a:lnTo>
                <a:moveTo>
                  <a:pt x="2306" y="1292"/>
                </a:moveTo>
                <a:lnTo>
                  <a:pt x="2331" y="1276"/>
                </a:lnTo>
                <a:moveTo>
                  <a:pt x="1697" y="1357"/>
                </a:moveTo>
                <a:lnTo>
                  <a:pt x="1778" y="1360"/>
                </a:lnTo>
                <a:moveTo>
                  <a:pt x="1697" y="1357"/>
                </a:moveTo>
                <a:lnTo>
                  <a:pt x="1687" y="1357"/>
                </a:lnTo>
                <a:lnTo>
                  <a:pt x="1648" y="1367"/>
                </a:lnTo>
                <a:moveTo>
                  <a:pt x="1791" y="1361"/>
                </a:moveTo>
                <a:lnTo>
                  <a:pt x="1803" y="1360"/>
                </a:lnTo>
                <a:lnTo>
                  <a:pt x="1819" y="1356"/>
                </a:lnTo>
                <a:lnTo>
                  <a:pt x="1865" y="1330"/>
                </a:lnTo>
                <a:moveTo>
                  <a:pt x="1791" y="1361"/>
                </a:moveTo>
                <a:lnTo>
                  <a:pt x="1778" y="1360"/>
                </a:lnTo>
                <a:moveTo>
                  <a:pt x="1865" y="1330"/>
                </a:moveTo>
                <a:lnTo>
                  <a:pt x="1928" y="1292"/>
                </a:lnTo>
                <a:moveTo>
                  <a:pt x="1928" y="1292"/>
                </a:moveTo>
                <a:lnTo>
                  <a:pt x="1954" y="1367"/>
                </a:lnTo>
                <a:moveTo>
                  <a:pt x="1925" y="1286"/>
                </a:moveTo>
                <a:lnTo>
                  <a:pt x="1928" y="1292"/>
                </a:lnTo>
                <a:moveTo>
                  <a:pt x="1928" y="1292"/>
                </a:moveTo>
                <a:lnTo>
                  <a:pt x="1937" y="1280"/>
                </a:lnTo>
                <a:moveTo>
                  <a:pt x="2388" y="2208"/>
                </a:moveTo>
                <a:lnTo>
                  <a:pt x="2383" y="2209"/>
                </a:lnTo>
                <a:lnTo>
                  <a:pt x="2372" y="2214"/>
                </a:lnTo>
                <a:lnTo>
                  <a:pt x="2341" y="2228"/>
                </a:lnTo>
                <a:lnTo>
                  <a:pt x="2330" y="2231"/>
                </a:lnTo>
                <a:lnTo>
                  <a:pt x="2300" y="2239"/>
                </a:lnTo>
                <a:lnTo>
                  <a:pt x="2280" y="2244"/>
                </a:lnTo>
                <a:lnTo>
                  <a:pt x="2272" y="2247"/>
                </a:lnTo>
                <a:lnTo>
                  <a:pt x="2254" y="2255"/>
                </a:lnTo>
                <a:moveTo>
                  <a:pt x="2388" y="2208"/>
                </a:moveTo>
                <a:lnTo>
                  <a:pt x="2394" y="2240"/>
                </a:lnTo>
                <a:lnTo>
                  <a:pt x="2399" y="2285"/>
                </a:lnTo>
                <a:lnTo>
                  <a:pt x="2400" y="2310"/>
                </a:lnTo>
                <a:moveTo>
                  <a:pt x="2388" y="2208"/>
                </a:moveTo>
                <a:lnTo>
                  <a:pt x="2383" y="2174"/>
                </a:lnTo>
                <a:lnTo>
                  <a:pt x="2380" y="2156"/>
                </a:lnTo>
                <a:moveTo>
                  <a:pt x="2088" y="2303"/>
                </a:moveTo>
                <a:lnTo>
                  <a:pt x="2087" y="2280"/>
                </a:lnTo>
                <a:moveTo>
                  <a:pt x="2088" y="2303"/>
                </a:moveTo>
                <a:lnTo>
                  <a:pt x="2092" y="2302"/>
                </a:lnTo>
                <a:moveTo>
                  <a:pt x="1404" y="1747"/>
                </a:moveTo>
                <a:lnTo>
                  <a:pt x="1398" y="1737"/>
                </a:lnTo>
                <a:lnTo>
                  <a:pt x="1396" y="1733"/>
                </a:lnTo>
                <a:lnTo>
                  <a:pt x="1395" y="1728"/>
                </a:lnTo>
                <a:lnTo>
                  <a:pt x="1386" y="1696"/>
                </a:lnTo>
                <a:lnTo>
                  <a:pt x="1383" y="1684"/>
                </a:lnTo>
                <a:lnTo>
                  <a:pt x="1379" y="1673"/>
                </a:lnTo>
                <a:moveTo>
                  <a:pt x="1404" y="1747"/>
                </a:moveTo>
                <a:lnTo>
                  <a:pt x="1410" y="1748"/>
                </a:lnTo>
                <a:moveTo>
                  <a:pt x="1371" y="1529"/>
                </a:moveTo>
                <a:lnTo>
                  <a:pt x="1406" y="1520"/>
                </a:lnTo>
                <a:lnTo>
                  <a:pt x="1418" y="1520"/>
                </a:lnTo>
                <a:lnTo>
                  <a:pt x="1427" y="1520"/>
                </a:lnTo>
                <a:lnTo>
                  <a:pt x="1439" y="1523"/>
                </a:lnTo>
                <a:lnTo>
                  <a:pt x="1442" y="1524"/>
                </a:lnTo>
                <a:lnTo>
                  <a:pt x="1456" y="1528"/>
                </a:lnTo>
                <a:lnTo>
                  <a:pt x="1486" y="1539"/>
                </a:lnTo>
                <a:lnTo>
                  <a:pt x="1560" y="1571"/>
                </a:lnTo>
                <a:lnTo>
                  <a:pt x="1562" y="1573"/>
                </a:lnTo>
                <a:lnTo>
                  <a:pt x="1562" y="1579"/>
                </a:lnTo>
                <a:moveTo>
                  <a:pt x="1365" y="1509"/>
                </a:moveTo>
                <a:lnTo>
                  <a:pt x="1366" y="1515"/>
                </a:lnTo>
                <a:lnTo>
                  <a:pt x="1368" y="1519"/>
                </a:lnTo>
                <a:lnTo>
                  <a:pt x="1371" y="1529"/>
                </a:lnTo>
                <a:moveTo>
                  <a:pt x="1371" y="1529"/>
                </a:moveTo>
                <a:lnTo>
                  <a:pt x="1365" y="1532"/>
                </a:lnTo>
                <a:lnTo>
                  <a:pt x="1360" y="1536"/>
                </a:lnTo>
                <a:lnTo>
                  <a:pt x="1351" y="1542"/>
                </a:lnTo>
                <a:lnTo>
                  <a:pt x="1346" y="1546"/>
                </a:lnTo>
                <a:moveTo>
                  <a:pt x="1779" y="2279"/>
                </a:moveTo>
                <a:lnTo>
                  <a:pt x="1768" y="2288"/>
                </a:lnTo>
                <a:lnTo>
                  <a:pt x="1760" y="2294"/>
                </a:lnTo>
                <a:lnTo>
                  <a:pt x="1753" y="2298"/>
                </a:lnTo>
                <a:lnTo>
                  <a:pt x="1746" y="2300"/>
                </a:lnTo>
                <a:lnTo>
                  <a:pt x="1730" y="2305"/>
                </a:lnTo>
                <a:moveTo>
                  <a:pt x="1445" y="2308"/>
                </a:moveTo>
                <a:lnTo>
                  <a:pt x="1441" y="2296"/>
                </a:lnTo>
                <a:moveTo>
                  <a:pt x="435" y="808"/>
                </a:moveTo>
                <a:lnTo>
                  <a:pt x="432" y="782"/>
                </a:lnTo>
                <a:moveTo>
                  <a:pt x="400" y="738"/>
                </a:moveTo>
                <a:lnTo>
                  <a:pt x="405" y="784"/>
                </a:lnTo>
                <a:moveTo>
                  <a:pt x="420" y="904"/>
                </a:moveTo>
                <a:lnTo>
                  <a:pt x="406" y="804"/>
                </a:lnTo>
                <a:lnTo>
                  <a:pt x="405" y="784"/>
                </a:lnTo>
                <a:moveTo>
                  <a:pt x="624" y="2032"/>
                </a:moveTo>
                <a:lnTo>
                  <a:pt x="629" y="2030"/>
                </a:lnTo>
                <a:moveTo>
                  <a:pt x="624" y="2032"/>
                </a:moveTo>
                <a:lnTo>
                  <a:pt x="611" y="2024"/>
                </a:lnTo>
                <a:lnTo>
                  <a:pt x="609" y="2021"/>
                </a:lnTo>
                <a:lnTo>
                  <a:pt x="602" y="2012"/>
                </a:lnTo>
                <a:lnTo>
                  <a:pt x="600" y="2009"/>
                </a:lnTo>
                <a:lnTo>
                  <a:pt x="598" y="2006"/>
                </a:lnTo>
                <a:lnTo>
                  <a:pt x="595" y="1993"/>
                </a:lnTo>
                <a:moveTo>
                  <a:pt x="624" y="2032"/>
                </a:moveTo>
                <a:lnTo>
                  <a:pt x="646" y="2048"/>
                </a:lnTo>
                <a:lnTo>
                  <a:pt x="658" y="2056"/>
                </a:lnTo>
                <a:moveTo>
                  <a:pt x="595" y="1993"/>
                </a:moveTo>
                <a:lnTo>
                  <a:pt x="594" y="1991"/>
                </a:lnTo>
                <a:lnTo>
                  <a:pt x="592" y="1978"/>
                </a:lnTo>
                <a:moveTo>
                  <a:pt x="592" y="1908"/>
                </a:moveTo>
                <a:lnTo>
                  <a:pt x="593" y="1880"/>
                </a:lnTo>
                <a:moveTo>
                  <a:pt x="583" y="1768"/>
                </a:moveTo>
                <a:lnTo>
                  <a:pt x="587" y="1793"/>
                </a:lnTo>
                <a:lnTo>
                  <a:pt x="590" y="1836"/>
                </a:lnTo>
                <a:lnTo>
                  <a:pt x="593" y="1880"/>
                </a:lnTo>
                <a:moveTo>
                  <a:pt x="556" y="1586"/>
                </a:moveTo>
                <a:lnTo>
                  <a:pt x="561" y="1615"/>
                </a:lnTo>
                <a:moveTo>
                  <a:pt x="562" y="1620"/>
                </a:moveTo>
                <a:lnTo>
                  <a:pt x="561" y="1615"/>
                </a:lnTo>
                <a:moveTo>
                  <a:pt x="525" y="1468"/>
                </a:moveTo>
                <a:lnTo>
                  <a:pt x="526" y="1472"/>
                </a:lnTo>
                <a:moveTo>
                  <a:pt x="556" y="1586"/>
                </a:moveTo>
                <a:lnTo>
                  <a:pt x="549" y="1543"/>
                </a:lnTo>
                <a:lnTo>
                  <a:pt x="526" y="1472"/>
                </a:lnTo>
                <a:moveTo>
                  <a:pt x="496" y="1328"/>
                </a:moveTo>
                <a:lnTo>
                  <a:pt x="498" y="1343"/>
                </a:lnTo>
                <a:moveTo>
                  <a:pt x="501" y="1368"/>
                </a:moveTo>
                <a:lnTo>
                  <a:pt x="498" y="1343"/>
                </a:lnTo>
                <a:moveTo>
                  <a:pt x="471" y="1347"/>
                </a:moveTo>
                <a:lnTo>
                  <a:pt x="476" y="1347"/>
                </a:lnTo>
                <a:lnTo>
                  <a:pt x="482" y="1346"/>
                </a:lnTo>
                <a:lnTo>
                  <a:pt x="498" y="1343"/>
                </a:lnTo>
                <a:moveTo>
                  <a:pt x="469" y="1117"/>
                </a:moveTo>
                <a:lnTo>
                  <a:pt x="473" y="1142"/>
                </a:lnTo>
                <a:moveTo>
                  <a:pt x="473" y="1148"/>
                </a:moveTo>
                <a:lnTo>
                  <a:pt x="473" y="1142"/>
                </a:lnTo>
                <a:moveTo>
                  <a:pt x="462" y="1055"/>
                </a:moveTo>
                <a:lnTo>
                  <a:pt x="466" y="1096"/>
                </a:lnTo>
                <a:moveTo>
                  <a:pt x="469" y="1117"/>
                </a:moveTo>
                <a:lnTo>
                  <a:pt x="466" y="1096"/>
                </a:lnTo>
                <a:moveTo>
                  <a:pt x="723" y="1396"/>
                </a:moveTo>
                <a:lnTo>
                  <a:pt x="729" y="1397"/>
                </a:lnTo>
                <a:moveTo>
                  <a:pt x="748" y="1405"/>
                </a:moveTo>
                <a:lnTo>
                  <a:pt x="744" y="1402"/>
                </a:lnTo>
                <a:lnTo>
                  <a:pt x="738" y="1400"/>
                </a:lnTo>
                <a:lnTo>
                  <a:pt x="729" y="1397"/>
                </a:lnTo>
                <a:moveTo>
                  <a:pt x="760" y="1419"/>
                </a:moveTo>
                <a:lnTo>
                  <a:pt x="748" y="1405"/>
                </a:lnTo>
                <a:moveTo>
                  <a:pt x="833" y="1505"/>
                </a:moveTo>
                <a:lnTo>
                  <a:pt x="822" y="1493"/>
                </a:lnTo>
                <a:moveTo>
                  <a:pt x="840" y="1439"/>
                </a:moveTo>
                <a:lnTo>
                  <a:pt x="833" y="1464"/>
                </a:lnTo>
                <a:lnTo>
                  <a:pt x="822" y="1493"/>
                </a:lnTo>
                <a:moveTo>
                  <a:pt x="760" y="1419"/>
                </a:moveTo>
                <a:lnTo>
                  <a:pt x="785" y="1451"/>
                </a:lnTo>
                <a:lnTo>
                  <a:pt x="800" y="1468"/>
                </a:lnTo>
                <a:lnTo>
                  <a:pt x="817" y="1487"/>
                </a:lnTo>
                <a:lnTo>
                  <a:pt x="822" y="1493"/>
                </a:lnTo>
                <a:moveTo>
                  <a:pt x="834" y="1506"/>
                </a:moveTo>
                <a:lnTo>
                  <a:pt x="833" y="1505"/>
                </a:lnTo>
                <a:moveTo>
                  <a:pt x="917" y="1592"/>
                </a:moveTo>
                <a:lnTo>
                  <a:pt x="941" y="1620"/>
                </a:lnTo>
                <a:moveTo>
                  <a:pt x="961" y="1647"/>
                </a:moveTo>
                <a:lnTo>
                  <a:pt x="941" y="1620"/>
                </a:lnTo>
                <a:moveTo>
                  <a:pt x="961" y="1647"/>
                </a:moveTo>
                <a:lnTo>
                  <a:pt x="967" y="1653"/>
                </a:lnTo>
                <a:moveTo>
                  <a:pt x="1029" y="1608"/>
                </a:moveTo>
                <a:lnTo>
                  <a:pt x="967" y="1653"/>
                </a:lnTo>
                <a:moveTo>
                  <a:pt x="1106" y="1565"/>
                </a:moveTo>
                <a:lnTo>
                  <a:pt x="1198" y="1553"/>
                </a:lnTo>
                <a:moveTo>
                  <a:pt x="1270" y="1537"/>
                </a:moveTo>
                <a:lnTo>
                  <a:pt x="1256" y="1540"/>
                </a:lnTo>
                <a:lnTo>
                  <a:pt x="1242" y="1545"/>
                </a:lnTo>
                <a:lnTo>
                  <a:pt x="1234" y="1548"/>
                </a:lnTo>
                <a:lnTo>
                  <a:pt x="1226" y="1549"/>
                </a:lnTo>
                <a:lnTo>
                  <a:pt x="1198" y="1553"/>
                </a:lnTo>
                <a:moveTo>
                  <a:pt x="455" y="1230"/>
                </a:moveTo>
                <a:lnTo>
                  <a:pt x="471" y="1347"/>
                </a:lnTo>
                <a:moveTo>
                  <a:pt x="430" y="987"/>
                </a:moveTo>
                <a:lnTo>
                  <a:pt x="440" y="1096"/>
                </a:lnTo>
                <a:moveTo>
                  <a:pt x="450" y="1184"/>
                </a:moveTo>
                <a:lnTo>
                  <a:pt x="440" y="1096"/>
                </a:lnTo>
                <a:moveTo>
                  <a:pt x="983" y="2280"/>
                </a:moveTo>
                <a:lnTo>
                  <a:pt x="972" y="2284"/>
                </a:lnTo>
                <a:lnTo>
                  <a:pt x="957" y="2288"/>
                </a:lnTo>
                <a:lnTo>
                  <a:pt x="937" y="2293"/>
                </a:lnTo>
                <a:lnTo>
                  <a:pt x="918" y="2300"/>
                </a:lnTo>
                <a:moveTo>
                  <a:pt x="983" y="2280"/>
                </a:moveTo>
                <a:lnTo>
                  <a:pt x="1025" y="2264"/>
                </a:lnTo>
                <a:moveTo>
                  <a:pt x="1506" y="1657"/>
                </a:moveTo>
                <a:lnTo>
                  <a:pt x="1495" y="1665"/>
                </a:lnTo>
                <a:moveTo>
                  <a:pt x="1494" y="1640"/>
                </a:moveTo>
                <a:lnTo>
                  <a:pt x="1495" y="1642"/>
                </a:lnTo>
                <a:lnTo>
                  <a:pt x="1496" y="1644"/>
                </a:lnTo>
                <a:lnTo>
                  <a:pt x="1499" y="1646"/>
                </a:lnTo>
                <a:lnTo>
                  <a:pt x="1499" y="1648"/>
                </a:lnTo>
                <a:lnTo>
                  <a:pt x="1501" y="1650"/>
                </a:lnTo>
                <a:lnTo>
                  <a:pt x="1503" y="1653"/>
                </a:lnTo>
                <a:lnTo>
                  <a:pt x="1506" y="1657"/>
                </a:lnTo>
                <a:moveTo>
                  <a:pt x="1506" y="1657"/>
                </a:moveTo>
                <a:lnTo>
                  <a:pt x="1528" y="1636"/>
                </a:lnTo>
                <a:lnTo>
                  <a:pt x="1564" y="1601"/>
                </a:lnTo>
                <a:lnTo>
                  <a:pt x="1572" y="1593"/>
                </a:lnTo>
                <a:moveTo>
                  <a:pt x="1605" y="1327"/>
                </a:moveTo>
                <a:lnTo>
                  <a:pt x="1603" y="1343"/>
                </a:lnTo>
                <a:moveTo>
                  <a:pt x="1456" y="1188"/>
                </a:moveTo>
                <a:lnTo>
                  <a:pt x="1461" y="1196"/>
                </a:lnTo>
                <a:lnTo>
                  <a:pt x="1464" y="1206"/>
                </a:lnTo>
                <a:lnTo>
                  <a:pt x="1480" y="1283"/>
                </a:lnTo>
                <a:lnTo>
                  <a:pt x="1483" y="1294"/>
                </a:lnTo>
                <a:lnTo>
                  <a:pt x="1487" y="1301"/>
                </a:lnTo>
                <a:lnTo>
                  <a:pt x="1491" y="1310"/>
                </a:lnTo>
                <a:lnTo>
                  <a:pt x="1498" y="1317"/>
                </a:lnTo>
                <a:lnTo>
                  <a:pt x="1504" y="1320"/>
                </a:lnTo>
                <a:lnTo>
                  <a:pt x="1517" y="1324"/>
                </a:lnTo>
                <a:lnTo>
                  <a:pt x="1523" y="1326"/>
                </a:lnTo>
                <a:lnTo>
                  <a:pt x="1541" y="1332"/>
                </a:lnTo>
                <a:lnTo>
                  <a:pt x="1550" y="1334"/>
                </a:lnTo>
                <a:lnTo>
                  <a:pt x="1556" y="1336"/>
                </a:lnTo>
                <a:lnTo>
                  <a:pt x="1603" y="1343"/>
                </a:lnTo>
                <a:moveTo>
                  <a:pt x="1336" y="1048"/>
                </a:moveTo>
                <a:lnTo>
                  <a:pt x="1373" y="1163"/>
                </a:lnTo>
                <a:moveTo>
                  <a:pt x="1379" y="1193"/>
                </a:moveTo>
                <a:lnTo>
                  <a:pt x="1378" y="1182"/>
                </a:lnTo>
                <a:lnTo>
                  <a:pt x="1373" y="1163"/>
                </a:lnTo>
                <a:moveTo>
                  <a:pt x="1401" y="1156"/>
                </a:moveTo>
                <a:lnTo>
                  <a:pt x="1394" y="1156"/>
                </a:lnTo>
                <a:lnTo>
                  <a:pt x="1391" y="1157"/>
                </a:lnTo>
                <a:lnTo>
                  <a:pt x="1380" y="1160"/>
                </a:lnTo>
                <a:lnTo>
                  <a:pt x="1373" y="1163"/>
                </a:lnTo>
                <a:moveTo>
                  <a:pt x="1365" y="1229"/>
                </a:moveTo>
                <a:lnTo>
                  <a:pt x="1363" y="1231"/>
                </a:lnTo>
                <a:lnTo>
                  <a:pt x="1359" y="1234"/>
                </a:lnTo>
                <a:lnTo>
                  <a:pt x="1323" y="1252"/>
                </a:lnTo>
                <a:moveTo>
                  <a:pt x="1343" y="1337"/>
                </a:moveTo>
                <a:lnTo>
                  <a:pt x="1342" y="1334"/>
                </a:lnTo>
                <a:lnTo>
                  <a:pt x="1334" y="1300"/>
                </a:lnTo>
                <a:lnTo>
                  <a:pt x="1323" y="1252"/>
                </a:lnTo>
                <a:moveTo>
                  <a:pt x="1291" y="1229"/>
                </a:moveTo>
                <a:lnTo>
                  <a:pt x="1306" y="1226"/>
                </a:lnTo>
                <a:lnTo>
                  <a:pt x="1310" y="1225"/>
                </a:lnTo>
                <a:lnTo>
                  <a:pt x="1311" y="1225"/>
                </a:lnTo>
                <a:lnTo>
                  <a:pt x="1312" y="1225"/>
                </a:lnTo>
                <a:lnTo>
                  <a:pt x="1313" y="1225"/>
                </a:lnTo>
                <a:lnTo>
                  <a:pt x="1314" y="1226"/>
                </a:lnTo>
                <a:lnTo>
                  <a:pt x="1314" y="1227"/>
                </a:lnTo>
                <a:lnTo>
                  <a:pt x="1314" y="1228"/>
                </a:lnTo>
                <a:lnTo>
                  <a:pt x="1323" y="1252"/>
                </a:lnTo>
                <a:moveTo>
                  <a:pt x="1061" y="1295"/>
                </a:moveTo>
                <a:lnTo>
                  <a:pt x="1031" y="1304"/>
                </a:lnTo>
                <a:moveTo>
                  <a:pt x="1016" y="1309"/>
                </a:moveTo>
                <a:lnTo>
                  <a:pt x="1031" y="1304"/>
                </a:lnTo>
                <a:moveTo>
                  <a:pt x="895" y="1350"/>
                </a:moveTo>
                <a:lnTo>
                  <a:pt x="859" y="1364"/>
                </a:lnTo>
                <a:moveTo>
                  <a:pt x="852" y="1388"/>
                </a:moveTo>
                <a:lnTo>
                  <a:pt x="859" y="1364"/>
                </a:lnTo>
                <a:moveTo>
                  <a:pt x="1272" y="1234"/>
                </a:moveTo>
                <a:lnTo>
                  <a:pt x="1264" y="1235"/>
                </a:lnTo>
                <a:moveTo>
                  <a:pt x="1198" y="1252"/>
                </a:moveTo>
                <a:lnTo>
                  <a:pt x="1208" y="1250"/>
                </a:lnTo>
                <a:lnTo>
                  <a:pt x="1218" y="1247"/>
                </a:lnTo>
                <a:lnTo>
                  <a:pt x="1225" y="1245"/>
                </a:lnTo>
                <a:lnTo>
                  <a:pt x="1232" y="1244"/>
                </a:lnTo>
                <a:lnTo>
                  <a:pt x="1264" y="1235"/>
                </a:lnTo>
                <a:moveTo>
                  <a:pt x="6073" y="2091"/>
                </a:moveTo>
                <a:lnTo>
                  <a:pt x="6069" y="2090"/>
                </a:lnTo>
                <a:moveTo>
                  <a:pt x="6069" y="2090"/>
                </a:moveTo>
                <a:lnTo>
                  <a:pt x="6069" y="2081"/>
                </a:lnTo>
                <a:lnTo>
                  <a:pt x="6067" y="2070"/>
                </a:lnTo>
                <a:lnTo>
                  <a:pt x="6064" y="2057"/>
                </a:lnTo>
                <a:moveTo>
                  <a:pt x="6069" y="2090"/>
                </a:moveTo>
                <a:lnTo>
                  <a:pt x="6067" y="2099"/>
                </a:lnTo>
                <a:lnTo>
                  <a:pt x="6065" y="2104"/>
                </a:lnTo>
                <a:lnTo>
                  <a:pt x="6061" y="2112"/>
                </a:lnTo>
                <a:moveTo>
                  <a:pt x="5850" y="1012"/>
                </a:moveTo>
                <a:lnTo>
                  <a:pt x="5850" y="1003"/>
                </a:lnTo>
                <a:lnTo>
                  <a:pt x="5852" y="988"/>
                </a:lnTo>
                <a:lnTo>
                  <a:pt x="5861" y="932"/>
                </a:lnTo>
                <a:moveTo>
                  <a:pt x="5850" y="1012"/>
                </a:moveTo>
                <a:lnTo>
                  <a:pt x="5845" y="1074"/>
                </a:lnTo>
                <a:lnTo>
                  <a:pt x="5845" y="1088"/>
                </a:lnTo>
                <a:moveTo>
                  <a:pt x="5945" y="622"/>
                </a:moveTo>
                <a:lnTo>
                  <a:pt x="5964" y="568"/>
                </a:lnTo>
                <a:moveTo>
                  <a:pt x="5945" y="622"/>
                </a:moveTo>
                <a:lnTo>
                  <a:pt x="5927" y="686"/>
                </a:lnTo>
                <a:moveTo>
                  <a:pt x="1684" y="2037"/>
                </a:moveTo>
                <a:lnTo>
                  <a:pt x="1676" y="2038"/>
                </a:lnTo>
                <a:lnTo>
                  <a:pt x="1661" y="2040"/>
                </a:lnTo>
                <a:moveTo>
                  <a:pt x="1821" y="1790"/>
                </a:moveTo>
                <a:lnTo>
                  <a:pt x="1821" y="1796"/>
                </a:lnTo>
                <a:lnTo>
                  <a:pt x="1824" y="1824"/>
                </a:lnTo>
                <a:moveTo>
                  <a:pt x="1821" y="1790"/>
                </a:moveTo>
                <a:lnTo>
                  <a:pt x="1818" y="1765"/>
                </a:lnTo>
                <a:lnTo>
                  <a:pt x="1814" y="1739"/>
                </a:lnTo>
                <a:moveTo>
                  <a:pt x="1850" y="2012"/>
                </a:moveTo>
                <a:lnTo>
                  <a:pt x="1849" y="1988"/>
                </a:lnTo>
                <a:moveTo>
                  <a:pt x="2341" y="1974"/>
                </a:moveTo>
                <a:lnTo>
                  <a:pt x="2342" y="1978"/>
                </a:lnTo>
                <a:lnTo>
                  <a:pt x="2344" y="1989"/>
                </a:lnTo>
                <a:lnTo>
                  <a:pt x="2350" y="2012"/>
                </a:lnTo>
                <a:lnTo>
                  <a:pt x="2354" y="2036"/>
                </a:lnTo>
                <a:lnTo>
                  <a:pt x="2357" y="2045"/>
                </a:lnTo>
                <a:lnTo>
                  <a:pt x="2365" y="2081"/>
                </a:lnTo>
                <a:lnTo>
                  <a:pt x="2372" y="2115"/>
                </a:lnTo>
                <a:moveTo>
                  <a:pt x="2341" y="1974"/>
                </a:moveTo>
                <a:lnTo>
                  <a:pt x="2337" y="1960"/>
                </a:lnTo>
                <a:lnTo>
                  <a:pt x="2334" y="1946"/>
                </a:lnTo>
                <a:moveTo>
                  <a:pt x="1617" y="1786"/>
                </a:moveTo>
                <a:lnTo>
                  <a:pt x="1599" y="1784"/>
                </a:lnTo>
                <a:lnTo>
                  <a:pt x="1538" y="1781"/>
                </a:lnTo>
                <a:moveTo>
                  <a:pt x="1617" y="1786"/>
                </a:moveTo>
                <a:lnTo>
                  <a:pt x="1634" y="1787"/>
                </a:lnTo>
                <a:moveTo>
                  <a:pt x="2742" y="922"/>
                </a:moveTo>
                <a:lnTo>
                  <a:pt x="2747" y="925"/>
                </a:lnTo>
                <a:lnTo>
                  <a:pt x="2753" y="927"/>
                </a:lnTo>
                <a:lnTo>
                  <a:pt x="2759" y="927"/>
                </a:lnTo>
                <a:lnTo>
                  <a:pt x="2765" y="926"/>
                </a:lnTo>
                <a:lnTo>
                  <a:pt x="2770" y="924"/>
                </a:lnTo>
                <a:moveTo>
                  <a:pt x="1634" y="1787"/>
                </a:moveTo>
                <a:lnTo>
                  <a:pt x="1643" y="1785"/>
                </a:lnTo>
                <a:moveTo>
                  <a:pt x="3620" y="264"/>
                </a:moveTo>
                <a:lnTo>
                  <a:pt x="3604" y="280"/>
                </a:lnTo>
                <a:moveTo>
                  <a:pt x="3604" y="280"/>
                </a:moveTo>
                <a:lnTo>
                  <a:pt x="3596" y="272"/>
                </a:lnTo>
                <a:lnTo>
                  <a:pt x="3573" y="252"/>
                </a:lnTo>
                <a:lnTo>
                  <a:pt x="3551" y="238"/>
                </a:lnTo>
                <a:lnTo>
                  <a:pt x="3532" y="228"/>
                </a:lnTo>
                <a:lnTo>
                  <a:pt x="3504" y="213"/>
                </a:lnTo>
                <a:lnTo>
                  <a:pt x="3499" y="211"/>
                </a:lnTo>
                <a:moveTo>
                  <a:pt x="3604" y="280"/>
                </a:moveTo>
                <a:lnTo>
                  <a:pt x="3624" y="301"/>
                </a:lnTo>
                <a:lnTo>
                  <a:pt x="3640" y="320"/>
                </a:lnTo>
                <a:lnTo>
                  <a:pt x="3655" y="341"/>
                </a:lnTo>
                <a:lnTo>
                  <a:pt x="3661" y="352"/>
                </a:lnTo>
                <a:moveTo>
                  <a:pt x="2638" y="891"/>
                </a:moveTo>
                <a:lnTo>
                  <a:pt x="2646" y="886"/>
                </a:lnTo>
                <a:lnTo>
                  <a:pt x="2653" y="883"/>
                </a:lnTo>
                <a:lnTo>
                  <a:pt x="2658" y="880"/>
                </a:lnTo>
                <a:lnTo>
                  <a:pt x="2661" y="879"/>
                </a:lnTo>
                <a:lnTo>
                  <a:pt x="2665" y="878"/>
                </a:lnTo>
                <a:moveTo>
                  <a:pt x="2638" y="891"/>
                </a:moveTo>
                <a:lnTo>
                  <a:pt x="2577" y="925"/>
                </a:lnTo>
                <a:moveTo>
                  <a:pt x="1945" y="1272"/>
                </a:moveTo>
                <a:lnTo>
                  <a:pt x="1975" y="1253"/>
                </a:lnTo>
                <a:lnTo>
                  <a:pt x="2028" y="1220"/>
                </a:lnTo>
                <a:moveTo>
                  <a:pt x="2028" y="1220"/>
                </a:moveTo>
                <a:lnTo>
                  <a:pt x="2042" y="1216"/>
                </a:lnTo>
                <a:lnTo>
                  <a:pt x="2054" y="1215"/>
                </a:lnTo>
                <a:moveTo>
                  <a:pt x="3478" y="2280"/>
                </a:moveTo>
                <a:lnTo>
                  <a:pt x="3484" y="2291"/>
                </a:lnTo>
                <a:moveTo>
                  <a:pt x="3484" y="2291"/>
                </a:moveTo>
                <a:lnTo>
                  <a:pt x="3454" y="2269"/>
                </a:lnTo>
                <a:lnTo>
                  <a:pt x="3431" y="2254"/>
                </a:lnTo>
                <a:lnTo>
                  <a:pt x="3406" y="2236"/>
                </a:lnTo>
                <a:lnTo>
                  <a:pt x="3325" y="2179"/>
                </a:lnTo>
                <a:lnTo>
                  <a:pt x="3256" y="2129"/>
                </a:lnTo>
                <a:lnTo>
                  <a:pt x="3253" y="2127"/>
                </a:lnTo>
                <a:lnTo>
                  <a:pt x="3243" y="2119"/>
                </a:lnTo>
                <a:lnTo>
                  <a:pt x="3231" y="2110"/>
                </a:lnTo>
                <a:lnTo>
                  <a:pt x="3224" y="2104"/>
                </a:lnTo>
                <a:lnTo>
                  <a:pt x="3174" y="2066"/>
                </a:lnTo>
                <a:moveTo>
                  <a:pt x="993" y="2178"/>
                </a:moveTo>
                <a:lnTo>
                  <a:pt x="1007" y="2164"/>
                </a:lnTo>
                <a:lnTo>
                  <a:pt x="1017" y="2155"/>
                </a:lnTo>
                <a:lnTo>
                  <a:pt x="1025" y="2147"/>
                </a:lnTo>
                <a:lnTo>
                  <a:pt x="1029" y="2143"/>
                </a:lnTo>
                <a:lnTo>
                  <a:pt x="1045" y="2126"/>
                </a:lnTo>
                <a:lnTo>
                  <a:pt x="1048" y="2123"/>
                </a:lnTo>
                <a:lnTo>
                  <a:pt x="1056" y="2116"/>
                </a:lnTo>
                <a:lnTo>
                  <a:pt x="1059" y="2112"/>
                </a:lnTo>
                <a:lnTo>
                  <a:pt x="1070" y="2100"/>
                </a:lnTo>
                <a:lnTo>
                  <a:pt x="1081" y="2089"/>
                </a:lnTo>
                <a:lnTo>
                  <a:pt x="1086" y="2084"/>
                </a:lnTo>
                <a:lnTo>
                  <a:pt x="1107" y="2062"/>
                </a:lnTo>
                <a:lnTo>
                  <a:pt x="1125" y="2045"/>
                </a:lnTo>
                <a:lnTo>
                  <a:pt x="1142" y="2027"/>
                </a:lnTo>
                <a:moveTo>
                  <a:pt x="993" y="2178"/>
                </a:moveTo>
                <a:lnTo>
                  <a:pt x="987" y="2185"/>
                </a:lnTo>
                <a:lnTo>
                  <a:pt x="955" y="2217"/>
                </a:lnTo>
                <a:lnTo>
                  <a:pt x="936" y="2236"/>
                </a:lnTo>
                <a:lnTo>
                  <a:pt x="929" y="2243"/>
                </a:lnTo>
                <a:moveTo>
                  <a:pt x="621" y="2145"/>
                </a:moveTo>
                <a:lnTo>
                  <a:pt x="604" y="2184"/>
                </a:lnTo>
                <a:lnTo>
                  <a:pt x="599" y="2194"/>
                </a:lnTo>
                <a:lnTo>
                  <a:pt x="593" y="2207"/>
                </a:lnTo>
                <a:lnTo>
                  <a:pt x="586" y="2218"/>
                </a:lnTo>
                <a:lnTo>
                  <a:pt x="584" y="2224"/>
                </a:lnTo>
                <a:moveTo>
                  <a:pt x="1572" y="1593"/>
                </a:moveTo>
                <a:lnTo>
                  <a:pt x="1569" y="1590"/>
                </a:lnTo>
                <a:lnTo>
                  <a:pt x="1566" y="1587"/>
                </a:lnTo>
                <a:lnTo>
                  <a:pt x="1565" y="1584"/>
                </a:lnTo>
                <a:lnTo>
                  <a:pt x="1562" y="1579"/>
                </a:lnTo>
                <a:moveTo>
                  <a:pt x="1562" y="1579"/>
                </a:moveTo>
                <a:lnTo>
                  <a:pt x="1523" y="1615"/>
                </a:lnTo>
                <a:lnTo>
                  <a:pt x="1510" y="1628"/>
                </a:lnTo>
                <a:lnTo>
                  <a:pt x="1500" y="1636"/>
                </a:lnTo>
                <a:lnTo>
                  <a:pt x="1494" y="1640"/>
                </a:lnTo>
                <a:moveTo>
                  <a:pt x="1597" y="1428"/>
                </a:moveTo>
                <a:lnTo>
                  <a:pt x="1596" y="1447"/>
                </a:lnTo>
                <a:lnTo>
                  <a:pt x="1595" y="1471"/>
                </a:lnTo>
                <a:lnTo>
                  <a:pt x="1594" y="1505"/>
                </a:lnTo>
                <a:lnTo>
                  <a:pt x="1594" y="1515"/>
                </a:lnTo>
                <a:moveTo>
                  <a:pt x="1572" y="1593"/>
                </a:moveTo>
                <a:lnTo>
                  <a:pt x="1582" y="1585"/>
                </a:lnTo>
                <a:lnTo>
                  <a:pt x="1585" y="1583"/>
                </a:lnTo>
                <a:lnTo>
                  <a:pt x="1602" y="1572"/>
                </a:lnTo>
                <a:lnTo>
                  <a:pt x="1607" y="1570"/>
                </a:lnTo>
                <a:moveTo>
                  <a:pt x="1594" y="1515"/>
                </a:moveTo>
                <a:lnTo>
                  <a:pt x="1595" y="1524"/>
                </a:lnTo>
                <a:moveTo>
                  <a:pt x="1391" y="1901"/>
                </a:moveTo>
                <a:lnTo>
                  <a:pt x="1391" y="1905"/>
                </a:lnTo>
                <a:lnTo>
                  <a:pt x="1394" y="1924"/>
                </a:lnTo>
                <a:lnTo>
                  <a:pt x="1395" y="1937"/>
                </a:lnTo>
                <a:lnTo>
                  <a:pt x="1396" y="1969"/>
                </a:lnTo>
                <a:moveTo>
                  <a:pt x="1391" y="1901"/>
                </a:moveTo>
                <a:lnTo>
                  <a:pt x="1393" y="1900"/>
                </a:lnTo>
                <a:moveTo>
                  <a:pt x="1397" y="1976"/>
                </a:moveTo>
                <a:lnTo>
                  <a:pt x="1397" y="1999"/>
                </a:lnTo>
                <a:moveTo>
                  <a:pt x="1397" y="1976"/>
                </a:moveTo>
                <a:lnTo>
                  <a:pt x="1396" y="1969"/>
                </a:lnTo>
                <a:moveTo>
                  <a:pt x="21" y="1108"/>
                </a:moveTo>
                <a:lnTo>
                  <a:pt x="28" y="1150"/>
                </a:lnTo>
                <a:moveTo>
                  <a:pt x="36" y="1174"/>
                </a:moveTo>
                <a:lnTo>
                  <a:pt x="34" y="1171"/>
                </a:lnTo>
                <a:lnTo>
                  <a:pt x="32" y="1168"/>
                </a:lnTo>
                <a:lnTo>
                  <a:pt x="28" y="1150"/>
                </a:lnTo>
                <a:moveTo>
                  <a:pt x="11" y="1036"/>
                </a:moveTo>
                <a:lnTo>
                  <a:pt x="21" y="1108"/>
                </a:lnTo>
                <a:moveTo>
                  <a:pt x="17" y="1276"/>
                </a:moveTo>
                <a:lnTo>
                  <a:pt x="41" y="1272"/>
                </a:lnTo>
                <a:lnTo>
                  <a:pt x="68" y="1266"/>
                </a:lnTo>
                <a:moveTo>
                  <a:pt x="36" y="1174"/>
                </a:moveTo>
                <a:lnTo>
                  <a:pt x="37" y="1176"/>
                </a:lnTo>
                <a:lnTo>
                  <a:pt x="39" y="1176"/>
                </a:lnTo>
                <a:lnTo>
                  <a:pt x="43" y="1180"/>
                </a:lnTo>
                <a:lnTo>
                  <a:pt x="47" y="1183"/>
                </a:lnTo>
                <a:lnTo>
                  <a:pt x="51" y="1187"/>
                </a:lnTo>
                <a:lnTo>
                  <a:pt x="67" y="1260"/>
                </a:lnTo>
                <a:lnTo>
                  <a:pt x="68" y="1266"/>
                </a:lnTo>
                <a:moveTo>
                  <a:pt x="113" y="1259"/>
                </a:moveTo>
                <a:lnTo>
                  <a:pt x="94" y="1261"/>
                </a:lnTo>
                <a:lnTo>
                  <a:pt x="68" y="1266"/>
                </a:lnTo>
                <a:moveTo>
                  <a:pt x="10" y="1029"/>
                </a:moveTo>
                <a:lnTo>
                  <a:pt x="11" y="1036"/>
                </a:lnTo>
                <a:moveTo>
                  <a:pt x="2772" y="1980"/>
                </a:moveTo>
                <a:lnTo>
                  <a:pt x="2773" y="1986"/>
                </a:lnTo>
                <a:moveTo>
                  <a:pt x="2779" y="2008"/>
                </a:moveTo>
                <a:lnTo>
                  <a:pt x="2779" y="2007"/>
                </a:lnTo>
                <a:lnTo>
                  <a:pt x="2773" y="1986"/>
                </a:lnTo>
                <a:moveTo>
                  <a:pt x="2944" y="1892"/>
                </a:moveTo>
                <a:lnTo>
                  <a:pt x="2943" y="1905"/>
                </a:lnTo>
                <a:moveTo>
                  <a:pt x="2931" y="1979"/>
                </a:moveTo>
                <a:lnTo>
                  <a:pt x="2934" y="1960"/>
                </a:lnTo>
                <a:lnTo>
                  <a:pt x="2943" y="1905"/>
                </a:lnTo>
                <a:moveTo>
                  <a:pt x="2946" y="1868"/>
                </a:moveTo>
                <a:lnTo>
                  <a:pt x="2944" y="1892"/>
                </a:lnTo>
                <a:moveTo>
                  <a:pt x="2771" y="1965"/>
                </a:moveTo>
                <a:lnTo>
                  <a:pt x="2771" y="1972"/>
                </a:lnTo>
                <a:moveTo>
                  <a:pt x="2772" y="1980"/>
                </a:moveTo>
                <a:lnTo>
                  <a:pt x="2771" y="1972"/>
                </a:lnTo>
                <a:moveTo>
                  <a:pt x="2652" y="2052"/>
                </a:moveTo>
                <a:lnTo>
                  <a:pt x="2779" y="2008"/>
                </a:lnTo>
                <a:moveTo>
                  <a:pt x="2773" y="1888"/>
                </a:moveTo>
                <a:lnTo>
                  <a:pt x="2770" y="1907"/>
                </a:lnTo>
                <a:moveTo>
                  <a:pt x="2770" y="1926"/>
                </a:moveTo>
                <a:lnTo>
                  <a:pt x="2770" y="1907"/>
                </a:lnTo>
                <a:moveTo>
                  <a:pt x="2446" y="2128"/>
                </a:moveTo>
                <a:lnTo>
                  <a:pt x="2380" y="2156"/>
                </a:lnTo>
                <a:moveTo>
                  <a:pt x="2380" y="2156"/>
                </a:moveTo>
                <a:lnTo>
                  <a:pt x="2372" y="2115"/>
                </a:lnTo>
                <a:moveTo>
                  <a:pt x="3735" y="2099"/>
                </a:moveTo>
                <a:lnTo>
                  <a:pt x="3731" y="2204"/>
                </a:lnTo>
                <a:moveTo>
                  <a:pt x="3705" y="2201"/>
                </a:moveTo>
                <a:lnTo>
                  <a:pt x="3731" y="2204"/>
                </a:lnTo>
                <a:moveTo>
                  <a:pt x="4548" y="1977"/>
                </a:moveTo>
                <a:lnTo>
                  <a:pt x="4538" y="2008"/>
                </a:lnTo>
                <a:lnTo>
                  <a:pt x="4528" y="2052"/>
                </a:lnTo>
                <a:lnTo>
                  <a:pt x="4507" y="2122"/>
                </a:lnTo>
                <a:lnTo>
                  <a:pt x="4494" y="2174"/>
                </a:lnTo>
                <a:lnTo>
                  <a:pt x="4471" y="2253"/>
                </a:lnTo>
                <a:moveTo>
                  <a:pt x="4484" y="2256"/>
                </a:moveTo>
                <a:lnTo>
                  <a:pt x="4482" y="2256"/>
                </a:lnTo>
                <a:lnTo>
                  <a:pt x="4473" y="2254"/>
                </a:lnTo>
                <a:lnTo>
                  <a:pt x="4471" y="2253"/>
                </a:lnTo>
                <a:moveTo>
                  <a:pt x="3913" y="2236"/>
                </a:moveTo>
                <a:lnTo>
                  <a:pt x="3914" y="2238"/>
                </a:lnTo>
                <a:lnTo>
                  <a:pt x="3914" y="2240"/>
                </a:lnTo>
                <a:lnTo>
                  <a:pt x="3915" y="2241"/>
                </a:lnTo>
                <a:lnTo>
                  <a:pt x="3913" y="2254"/>
                </a:lnTo>
                <a:lnTo>
                  <a:pt x="3910" y="2278"/>
                </a:lnTo>
                <a:moveTo>
                  <a:pt x="3904" y="2308"/>
                </a:moveTo>
                <a:lnTo>
                  <a:pt x="3910" y="2278"/>
                </a:lnTo>
                <a:moveTo>
                  <a:pt x="3951" y="2289"/>
                </a:moveTo>
                <a:lnTo>
                  <a:pt x="3935" y="2284"/>
                </a:lnTo>
                <a:lnTo>
                  <a:pt x="3910" y="2278"/>
                </a:lnTo>
                <a:moveTo>
                  <a:pt x="3470" y="2088"/>
                </a:moveTo>
                <a:lnTo>
                  <a:pt x="3472" y="2096"/>
                </a:lnTo>
                <a:lnTo>
                  <a:pt x="3473" y="2099"/>
                </a:lnTo>
                <a:lnTo>
                  <a:pt x="3474" y="2103"/>
                </a:lnTo>
                <a:lnTo>
                  <a:pt x="3474" y="2108"/>
                </a:lnTo>
                <a:lnTo>
                  <a:pt x="3474" y="2129"/>
                </a:lnTo>
                <a:lnTo>
                  <a:pt x="3474" y="2159"/>
                </a:lnTo>
                <a:lnTo>
                  <a:pt x="3474" y="2160"/>
                </a:lnTo>
                <a:lnTo>
                  <a:pt x="3474" y="2168"/>
                </a:lnTo>
                <a:moveTo>
                  <a:pt x="3466" y="2240"/>
                </a:moveTo>
                <a:lnTo>
                  <a:pt x="3466" y="2236"/>
                </a:lnTo>
                <a:lnTo>
                  <a:pt x="3467" y="2231"/>
                </a:lnTo>
                <a:lnTo>
                  <a:pt x="3470" y="2201"/>
                </a:lnTo>
                <a:lnTo>
                  <a:pt x="3472" y="2184"/>
                </a:lnTo>
                <a:lnTo>
                  <a:pt x="3474" y="2168"/>
                </a:lnTo>
                <a:moveTo>
                  <a:pt x="3652" y="2190"/>
                </a:moveTo>
                <a:lnTo>
                  <a:pt x="3645" y="2189"/>
                </a:lnTo>
                <a:lnTo>
                  <a:pt x="3624" y="2186"/>
                </a:lnTo>
                <a:lnTo>
                  <a:pt x="3601" y="2185"/>
                </a:lnTo>
                <a:lnTo>
                  <a:pt x="3529" y="2176"/>
                </a:lnTo>
                <a:lnTo>
                  <a:pt x="3497" y="2171"/>
                </a:lnTo>
                <a:lnTo>
                  <a:pt x="3474" y="2168"/>
                </a:lnTo>
                <a:moveTo>
                  <a:pt x="394" y="678"/>
                </a:moveTo>
                <a:lnTo>
                  <a:pt x="399" y="728"/>
                </a:lnTo>
                <a:moveTo>
                  <a:pt x="400" y="738"/>
                </a:moveTo>
                <a:lnTo>
                  <a:pt x="399" y="728"/>
                </a:lnTo>
                <a:moveTo>
                  <a:pt x="150" y="363"/>
                </a:moveTo>
                <a:lnTo>
                  <a:pt x="41" y="388"/>
                </a:lnTo>
                <a:moveTo>
                  <a:pt x="430" y="987"/>
                </a:moveTo>
                <a:lnTo>
                  <a:pt x="420" y="904"/>
                </a:lnTo>
                <a:moveTo>
                  <a:pt x="371" y="501"/>
                </a:moveTo>
                <a:lnTo>
                  <a:pt x="370" y="495"/>
                </a:lnTo>
                <a:moveTo>
                  <a:pt x="273" y="378"/>
                </a:moveTo>
                <a:lnTo>
                  <a:pt x="296" y="408"/>
                </a:lnTo>
                <a:lnTo>
                  <a:pt x="318" y="436"/>
                </a:lnTo>
                <a:lnTo>
                  <a:pt x="363" y="485"/>
                </a:lnTo>
                <a:lnTo>
                  <a:pt x="367" y="489"/>
                </a:lnTo>
                <a:lnTo>
                  <a:pt x="370" y="495"/>
                </a:lnTo>
                <a:moveTo>
                  <a:pt x="371" y="501"/>
                </a:moveTo>
                <a:lnTo>
                  <a:pt x="388" y="639"/>
                </a:lnTo>
                <a:moveTo>
                  <a:pt x="394" y="678"/>
                </a:moveTo>
                <a:lnTo>
                  <a:pt x="388" y="639"/>
                </a:lnTo>
                <a:moveTo>
                  <a:pt x="2519" y="208"/>
                </a:moveTo>
                <a:lnTo>
                  <a:pt x="2584" y="172"/>
                </a:lnTo>
                <a:lnTo>
                  <a:pt x="2662" y="140"/>
                </a:lnTo>
                <a:lnTo>
                  <a:pt x="2686" y="131"/>
                </a:lnTo>
                <a:moveTo>
                  <a:pt x="2519" y="208"/>
                </a:moveTo>
                <a:lnTo>
                  <a:pt x="2508" y="214"/>
                </a:lnTo>
                <a:lnTo>
                  <a:pt x="2480" y="230"/>
                </a:lnTo>
                <a:lnTo>
                  <a:pt x="2462" y="240"/>
                </a:lnTo>
                <a:lnTo>
                  <a:pt x="2450" y="249"/>
                </a:lnTo>
                <a:moveTo>
                  <a:pt x="2450" y="249"/>
                </a:moveTo>
                <a:lnTo>
                  <a:pt x="2427" y="261"/>
                </a:lnTo>
                <a:lnTo>
                  <a:pt x="2396" y="275"/>
                </a:lnTo>
                <a:moveTo>
                  <a:pt x="2450" y="249"/>
                </a:moveTo>
                <a:lnTo>
                  <a:pt x="2450" y="257"/>
                </a:lnTo>
                <a:lnTo>
                  <a:pt x="2453" y="263"/>
                </a:lnTo>
                <a:lnTo>
                  <a:pt x="2457" y="266"/>
                </a:lnTo>
                <a:lnTo>
                  <a:pt x="2464" y="264"/>
                </a:lnTo>
                <a:moveTo>
                  <a:pt x="3620" y="264"/>
                </a:moveTo>
                <a:lnTo>
                  <a:pt x="3636" y="278"/>
                </a:lnTo>
                <a:lnTo>
                  <a:pt x="3645" y="288"/>
                </a:lnTo>
                <a:lnTo>
                  <a:pt x="3665" y="316"/>
                </a:lnTo>
                <a:lnTo>
                  <a:pt x="3670" y="324"/>
                </a:lnTo>
                <a:moveTo>
                  <a:pt x="3620" y="264"/>
                </a:moveTo>
                <a:lnTo>
                  <a:pt x="3596" y="240"/>
                </a:lnTo>
                <a:lnTo>
                  <a:pt x="3577" y="227"/>
                </a:lnTo>
                <a:lnTo>
                  <a:pt x="3568" y="222"/>
                </a:lnTo>
                <a:lnTo>
                  <a:pt x="3546" y="209"/>
                </a:lnTo>
                <a:lnTo>
                  <a:pt x="3470" y="167"/>
                </a:lnTo>
                <a:lnTo>
                  <a:pt x="3336" y="99"/>
                </a:lnTo>
                <a:lnTo>
                  <a:pt x="3327" y="96"/>
                </a:lnTo>
                <a:lnTo>
                  <a:pt x="3324" y="97"/>
                </a:lnTo>
                <a:lnTo>
                  <a:pt x="3301" y="104"/>
                </a:lnTo>
                <a:lnTo>
                  <a:pt x="3297" y="104"/>
                </a:lnTo>
                <a:lnTo>
                  <a:pt x="3260" y="84"/>
                </a:lnTo>
                <a:lnTo>
                  <a:pt x="3201" y="46"/>
                </a:lnTo>
                <a:lnTo>
                  <a:pt x="3181" y="24"/>
                </a:lnTo>
                <a:lnTo>
                  <a:pt x="3163" y="15"/>
                </a:lnTo>
                <a:lnTo>
                  <a:pt x="3145" y="8"/>
                </a:lnTo>
                <a:lnTo>
                  <a:pt x="3122" y="4"/>
                </a:lnTo>
                <a:lnTo>
                  <a:pt x="3082" y="0"/>
                </a:lnTo>
                <a:lnTo>
                  <a:pt x="3043" y="0"/>
                </a:lnTo>
                <a:lnTo>
                  <a:pt x="3018" y="3"/>
                </a:lnTo>
                <a:lnTo>
                  <a:pt x="3008" y="5"/>
                </a:lnTo>
                <a:lnTo>
                  <a:pt x="2969" y="18"/>
                </a:lnTo>
                <a:lnTo>
                  <a:pt x="2720" y="117"/>
                </a:lnTo>
                <a:lnTo>
                  <a:pt x="2686" y="131"/>
                </a:lnTo>
                <a:moveTo>
                  <a:pt x="3670" y="324"/>
                </a:moveTo>
                <a:lnTo>
                  <a:pt x="3677" y="340"/>
                </a:lnTo>
                <a:moveTo>
                  <a:pt x="3686" y="449"/>
                </a:moveTo>
                <a:lnTo>
                  <a:pt x="3684" y="433"/>
                </a:lnTo>
                <a:lnTo>
                  <a:pt x="3681" y="416"/>
                </a:lnTo>
                <a:lnTo>
                  <a:pt x="3669" y="371"/>
                </a:lnTo>
                <a:lnTo>
                  <a:pt x="3661" y="352"/>
                </a:lnTo>
                <a:moveTo>
                  <a:pt x="3686" y="449"/>
                </a:moveTo>
                <a:lnTo>
                  <a:pt x="3686" y="462"/>
                </a:lnTo>
                <a:lnTo>
                  <a:pt x="3686" y="497"/>
                </a:lnTo>
                <a:lnTo>
                  <a:pt x="3682" y="590"/>
                </a:lnTo>
                <a:lnTo>
                  <a:pt x="3681" y="612"/>
                </a:lnTo>
                <a:moveTo>
                  <a:pt x="3709" y="450"/>
                </a:moveTo>
                <a:lnTo>
                  <a:pt x="3712" y="547"/>
                </a:lnTo>
                <a:lnTo>
                  <a:pt x="3712" y="596"/>
                </a:lnTo>
                <a:moveTo>
                  <a:pt x="3709" y="450"/>
                </a:moveTo>
                <a:lnTo>
                  <a:pt x="3708" y="439"/>
                </a:lnTo>
                <a:lnTo>
                  <a:pt x="3705" y="426"/>
                </a:lnTo>
                <a:lnTo>
                  <a:pt x="3701" y="407"/>
                </a:lnTo>
                <a:lnTo>
                  <a:pt x="3697" y="393"/>
                </a:lnTo>
                <a:lnTo>
                  <a:pt x="3690" y="373"/>
                </a:lnTo>
                <a:lnTo>
                  <a:pt x="3682" y="352"/>
                </a:lnTo>
                <a:lnTo>
                  <a:pt x="3677" y="340"/>
                </a:lnTo>
                <a:moveTo>
                  <a:pt x="3712" y="596"/>
                </a:moveTo>
                <a:lnTo>
                  <a:pt x="3713" y="601"/>
                </a:lnTo>
                <a:lnTo>
                  <a:pt x="3713" y="604"/>
                </a:lnTo>
                <a:lnTo>
                  <a:pt x="3715" y="607"/>
                </a:lnTo>
                <a:lnTo>
                  <a:pt x="3717" y="610"/>
                </a:lnTo>
                <a:lnTo>
                  <a:pt x="3720" y="612"/>
                </a:lnTo>
                <a:lnTo>
                  <a:pt x="3723" y="615"/>
                </a:lnTo>
                <a:lnTo>
                  <a:pt x="3728" y="616"/>
                </a:lnTo>
                <a:lnTo>
                  <a:pt x="3734" y="617"/>
                </a:lnTo>
                <a:lnTo>
                  <a:pt x="3743" y="618"/>
                </a:lnTo>
                <a:lnTo>
                  <a:pt x="3759" y="620"/>
                </a:lnTo>
                <a:lnTo>
                  <a:pt x="3774" y="620"/>
                </a:lnTo>
                <a:lnTo>
                  <a:pt x="3777" y="620"/>
                </a:lnTo>
                <a:moveTo>
                  <a:pt x="3712" y="596"/>
                </a:moveTo>
                <a:lnTo>
                  <a:pt x="3710" y="616"/>
                </a:lnTo>
                <a:lnTo>
                  <a:pt x="3707" y="625"/>
                </a:lnTo>
                <a:lnTo>
                  <a:pt x="3703" y="630"/>
                </a:lnTo>
                <a:lnTo>
                  <a:pt x="3697" y="632"/>
                </a:lnTo>
                <a:lnTo>
                  <a:pt x="3693" y="634"/>
                </a:lnTo>
                <a:moveTo>
                  <a:pt x="1171" y="601"/>
                </a:moveTo>
                <a:lnTo>
                  <a:pt x="1165" y="605"/>
                </a:lnTo>
                <a:moveTo>
                  <a:pt x="1165" y="605"/>
                </a:moveTo>
                <a:lnTo>
                  <a:pt x="1194" y="612"/>
                </a:lnTo>
                <a:lnTo>
                  <a:pt x="1249" y="626"/>
                </a:lnTo>
                <a:lnTo>
                  <a:pt x="1294" y="636"/>
                </a:lnTo>
                <a:lnTo>
                  <a:pt x="1312" y="637"/>
                </a:lnTo>
                <a:lnTo>
                  <a:pt x="1331" y="636"/>
                </a:lnTo>
                <a:lnTo>
                  <a:pt x="1382" y="628"/>
                </a:lnTo>
                <a:lnTo>
                  <a:pt x="1404" y="625"/>
                </a:lnTo>
                <a:lnTo>
                  <a:pt x="1510" y="602"/>
                </a:lnTo>
                <a:lnTo>
                  <a:pt x="1545" y="593"/>
                </a:lnTo>
                <a:lnTo>
                  <a:pt x="1867" y="479"/>
                </a:lnTo>
                <a:moveTo>
                  <a:pt x="1164" y="613"/>
                </a:moveTo>
                <a:lnTo>
                  <a:pt x="1164" y="611"/>
                </a:lnTo>
                <a:lnTo>
                  <a:pt x="1165" y="605"/>
                </a:lnTo>
                <a:moveTo>
                  <a:pt x="1165" y="605"/>
                </a:moveTo>
                <a:lnTo>
                  <a:pt x="1086" y="587"/>
                </a:lnTo>
                <a:moveTo>
                  <a:pt x="3681" y="612"/>
                </a:moveTo>
                <a:lnTo>
                  <a:pt x="3683" y="620"/>
                </a:lnTo>
                <a:lnTo>
                  <a:pt x="3686" y="627"/>
                </a:lnTo>
                <a:lnTo>
                  <a:pt x="3693" y="634"/>
                </a:lnTo>
                <a:moveTo>
                  <a:pt x="3681" y="612"/>
                </a:moveTo>
                <a:lnTo>
                  <a:pt x="3675" y="622"/>
                </a:lnTo>
                <a:lnTo>
                  <a:pt x="3668" y="629"/>
                </a:lnTo>
                <a:lnTo>
                  <a:pt x="3659" y="633"/>
                </a:lnTo>
                <a:lnTo>
                  <a:pt x="3656" y="634"/>
                </a:lnTo>
                <a:moveTo>
                  <a:pt x="150" y="363"/>
                </a:moveTo>
                <a:lnTo>
                  <a:pt x="245" y="339"/>
                </a:lnTo>
                <a:lnTo>
                  <a:pt x="247" y="339"/>
                </a:lnTo>
                <a:lnTo>
                  <a:pt x="249" y="340"/>
                </a:lnTo>
                <a:lnTo>
                  <a:pt x="251" y="340"/>
                </a:lnTo>
                <a:lnTo>
                  <a:pt x="251" y="340"/>
                </a:lnTo>
                <a:lnTo>
                  <a:pt x="273" y="378"/>
                </a:lnTo>
                <a:moveTo>
                  <a:pt x="17" y="1276"/>
                </a:moveTo>
                <a:lnTo>
                  <a:pt x="9" y="1279"/>
                </a:lnTo>
                <a:moveTo>
                  <a:pt x="4248" y="588"/>
                </a:moveTo>
                <a:lnTo>
                  <a:pt x="4255" y="587"/>
                </a:lnTo>
                <a:moveTo>
                  <a:pt x="4248" y="588"/>
                </a:moveTo>
                <a:lnTo>
                  <a:pt x="4248" y="582"/>
                </a:lnTo>
                <a:moveTo>
                  <a:pt x="4248" y="588"/>
                </a:moveTo>
                <a:lnTo>
                  <a:pt x="4032" y="607"/>
                </a:lnTo>
                <a:lnTo>
                  <a:pt x="4019" y="608"/>
                </a:lnTo>
                <a:lnTo>
                  <a:pt x="3844" y="624"/>
                </a:lnTo>
                <a:moveTo>
                  <a:pt x="4248" y="588"/>
                </a:moveTo>
                <a:lnTo>
                  <a:pt x="4249" y="593"/>
                </a:lnTo>
                <a:moveTo>
                  <a:pt x="3844" y="624"/>
                </a:moveTo>
                <a:lnTo>
                  <a:pt x="3747" y="632"/>
                </a:lnTo>
                <a:lnTo>
                  <a:pt x="3715" y="633"/>
                </a:lnTo>
                <a:lnTo>
                  <a:pt x="3699" y="634"/>
                </a:lnTo>
                <a:lnTo>
                  <a:pt x="3693" y="634"/>
                </a:lnTo>
                <a:moveTo>
                  <a:pt x="3844" y="624"/>
                </a:moveTo>
                <a:lnTo>
                  <a:pt x="3809" y="622"/>
                </a:lnTo>
                <a:lnTo>
                  <a:pt x="3777" y="620"/>
                </a:lnTo>
                <a:moveTo>
                  <a:pt x="3644" y="637"/>
                </a:moveTo>
                <a:lnTo>
                  <a:pt x="3656" y="634"/>
                </a:lnTo>
                <a:moveTo>
                  <a:pt x="3637" y="638"/>
                </a:moveTo>
                <a:lnTo>
                  <a:pt x="3644" y="637"/>
                </a:lnTo>
                <a:moveTo>
                  <a:pt x="3644" y="637"/>
                </a:moveTo>
                <a:lnTo>
                  <a:pt x="3672" y="636"/>
                </a:lnTo>
                <a:lnTo>
                  <a:pt x="3677" y="635"/>
                </a:lnTo>
                <a:lnTo>
                  <a:pt x="3693" y="634"/>
                </a:lnTo>
                <a:moveTo>
                  <a:pt x="4" y="992"/>
                </a:moveTo>
                <a:lnTo>
                  <a:pt x="0" y="958"/>
                </a:lnTo>
                <a:moveTo>
                  <a:pt x="10" y="1027"/>
                </a:moveTo>
                <a:lnTo>
                  <a:pt x="9" y="1026"/>
                </a:lnTo>
                <a:lnTo>
                  <a:pt x="4" y="992"/>
                </a:lnTo>
                <a:moveTo>
                  <a:pt x="10" y="1029"/>
                </a:moveTo>
                <a:lnTo>
                  <a:pt x="10" y="1027"/>
                </a:lnTo>
                <a:moveTo>
                  <a:pt x="454" y="1216"/>
                </a:moveTo>
                <a:lnTo>
                  <a:pt x="450" y="1184"/>
                </a:lnTo>
                <a:moveTo>
                  <a:pt x="454" y="1216"/>
                </a:moveTo>
                <a:lnTo>
                  <a:pt x="413" y="1220"/>
                </a:lnTo>
                <a:moveTo>
                  <a:pt x="324" y="1231"/>
                </a:moveTo>
                <a:lnTo>
                  <a:pt x="352" y="1228"/>
                </a:lnTo>
                <a:lnTo>
                  <a:pt x="413" y="1220"/>
                </a:lnTo>
                <a:moveTo>
                  <a:pt x="168" y="1252"/>
                </a:moveTo>
                <a:lnTo>
                  <a:pt x="254" y="1240"/>
                </a:lnTo>
                <a:lnTo>
                  <a:pt x="311" y="1232"/>
                </a:lnTo>
                <a:lnTo>
                  <a:pt x="324" y="1231"/>
                </a:lnTo>
                <a:moveTo>
                  <a:pt x="113" y="1259"/>
                </a:moveTo>
                <a:lnTo>
                  <a:pt x="128" y="1256"/>
                </a:lnTo>
                <a:lnTo>
                  <a:pt x="160" y="1253"/>
                </a:lnTo>
                <a:lnTo>
                  <a:pt x="168" y="1252"/>
                </a:lnTo>
                <a:moveTo>
                  <a:pt x="462" y="1055"/>
                </a:moveTo>
                <a:lnTo>
                  <a:pt x="435" y="808"/>
                </a:lnTo>
                <a:moveTo>
                  <a:pt x="486" y="1256"/>
                </a:moveTo>
                <a:lnTo>
                  <a:pt x="476" y="1171"/>
                </a:lnTo>
                <a:lnTo>
                  <a:pt x="473" y="1148"/>
                </a:lnTo>
                <a:moveTo>
                  <a:pt x="493" y="1305"/>
                </a:moveTo>
                <a:lnTo>
                  <a:pt x="486" y="1256"/>
                </a:lnTo>
                <a:moveTo>
                  <a:pt x="496" y="1328"/>
                </a:moveTo>
                <a:lnTo>
                  <a:pt x="493" y="1305"/>
                </a:lnTo>
                <a:moveTo>
                  <a:pt x="1101" y="1281"/>
                </a:moveTo>
                <a:lnTo>
                  <a:pt x="1079" y="1288"/>
                </a:lnTo>
                <a:lnTo>
                  <a:pt x="1061" y="1295"/>
                </a:lnTo>
                <a:moveTo>
                  <a:pt x="1016" y="1309"/>
                </a:moveTo>
                <a:lnTo>
                  <a:pt x="992" y="1318"/>
                </a:lnTo>
                <a:moveTo>
                  <a:pt x="987" y="1320"/>
                </a:moveTo>
                <a:lnTo>
                  <a:pt x="992" y="1318"/>
                </a:lnTo>
                <a:moveTo>
                  <a:pt x="987" y="1320"/>
                </a:moveTo>
                <a:lnTo>
                  <a:pt x="967" y="1327"/>
                </a:lnTo>
                <a:moveTo>
                  <a:pt x="924" y="1340"/>
                </a:moveTo>
                <a:lnTo>
                  <a:pt x="967" y="1327"/>
                </a:lnTo>
                <a:moveTo>
                  <a:pt x="509" y="1424"/>
                </a:moveTo>
                <a:lnTo>
                  <a:pt x="501" y="1368"/>
                </a:lnTo>
                <a:moveTo>
                  <a:pt x="840" y="1439"/>
                </a:moveTo>
                <a:lnTo>
                  <a:pt x="844" y="1422"/>
                </a:lnTo>
                <a:lnTo>
                  <a:pt x="852" y="1388"/>
                </a:lnTo>
                <a:moveTo>
                  <a:pt x="723" y="1396"/>
                </a:moveTo>
                <a:lnTo>
                  <a:pt x="698" y="1397"/>
                </a:lnTo>
                <a:moveTo>
                  <a:pt x="509" y="1424"/>
                </a:moveTo>
                <a:lnTo>
                  <a:pt x="540" y="1418"/>
                </a:lnTo>
                <a:lnTo>
                  <a:pt x="577" y="1413"/>
                </a:lnTo>
                <a:lnTo>
                  <a:pt x="610" y="1410"/>
                </a:lnTo>
                <a:lnTo>
                  <a:pt x="617" y="1409"/>
                </a:lnTo>
                <a:lnTo>
                  <a:pt x="673" y="1402"/>
                </a:lnTo>
                <a:lnTo>
                  <a:pt x="698" y="1397"/>
                </a:lnTo>
                <a:moveTo>
                  <a:pt x="834" y="1506"/>
                </a:moveTo>
                <a:lnTo>
                  <a:pt x="849" y="1521"/>
                </a:lnTo>
                <a:moveTo>
                  <a:pt x="857" y="1529"/>
                </a:moveTo>
                <a:lnTo>
                  <a:pt x="849" y="1521"/>
                </a:lnTo>
                <a:moveTo>
                  <a:pt x="1083" y="1570"/>
                </a:moveTo>
                <a:lnTo>
                  <a:pt x="1106" y="1565"/>
                </a:lnTo>
                <a:moveTo>
                  <a:pt x="878" y="1548"/>
                </a:moveTo>
                <a:lnTo>
                  <a:pt x="910" y="1584"/>
                </a:lnTo>
                <a:moveTo>
                  <a:pt x="917" y="1592"/>
                </a:moveTo>
                <a:lnTo>
                  <a:pt x="910" y="1584"/>
                </a:lnTo>
                <a:moveTo>
                  <a:pt x="579" y="1736"/>
                </a:moveTo>
                <a:lnTo>
                  <a:pt x="571" y="1683"/>
                </a:lnTo>
                <a:lnTo>
                  <a:pt x="562" y="1620"/>
                </a:lnTo>
                <a:moveTo>
                  <a:pt x="579" y="1736"/>
                </a:moveTo>
                <a:lnTo>
                  <a:pt x="583" y="1768"/>
                </a:lnTo>
                <a:moveTo>
                  <a:pt x="1282" y="1231"/>
                </a:moveTo>
                <a:lnTo>
                  <a:pt x="1272" y="1234"/>
                </a:lnTo>
                <a:moveTo>
                  <a:pt x="1364" y="1494"/>
                </a:moveTo>
                <a:lnTo>
                  <a:pt x="1365" y="1509"/>
                </a:lnTo>
                <a:moveTo>
                  <a:pt x="1270" y="1537"/>
                </a:moveTo>
                <a:lnTo>
                  <a:pt x="1306" y="1528"/>
                </a:lnTo>
                <a:lnTo>
                  <a:pt x="1322" y="1524"/>
                </a:lnTo>
                <a:lnTo>
                  <a:pt x="1365" y="1509"/>
                </a:lnTo>
                <a:moveTo>
                  <a:pt x="590" y="1940"/>
                </a:moveTo>
                <a:lnTo>
                  <a:pt x="591" y="1927"/>
                </a:lnTo>
                <a:lnTo>
                  <a:pt x="591" y="1923"/>
                </a:lnTo>
                <a:lnTo>
                  <a:pt x="592" y="1908"/>
                </a:lnTo>
                <a:moveTo>
                  <a:pt x="1291" y="1229"/>
                </a:moveTo>
                <a:lnTo>
                  <a:pt x="1282" y="1231"/>
                </a:lnTo>
                <a:moveTo>
                  <a:pt x="1351" y="1578"/>
                </a:moveTo>
                <a:lnTo>
                  <a:pt x="1349" y="1571"/>
                </a:lnTo>
                <a:lnTo>
                  <a:pt x="1345" y="1552"/>
                </a:lnTo>
                <a:lnTo>
                  <a:pt x="1345" y="1550"/>
                </a:lnTo>
                <a:lnTo>
                  <a:pt x="1346" y="1546"/>
                </a:lnTo>
                <a:moveTo>
                  <a:pt x="1351" y="1578"/>
                </a:moveTo>
                <a:lnTo>
                  <a:pt x="1361" y="1616"/>
                </a:lnTo>
                <a:moveTo>
                  <a:pt x="652" y="2080"/>
                </a:moveTo>
                <a:lnTo>
                  <a:pt x="640" y="2104"/>
                </a:lnTo>
                <a:lnTo>
                  <a:pt x="635" y="2116"/>
                </a:lnTo>
                <a:lnTo>
                  <a:pt x="629" y="2129"/>
                </a:lnTo>
                <a:lnTo>
                  <a:pt x="623" y="2142"/>
                </a:lnTo>
                <a:lnTo>
                  <a:pt x="621" y="2145"/>
                </a:lnTo>
                <a:moveTo>
                  <a:pt x="1315" y="979"/>
                </a:moveTo>
                <a:lnTo>
                  <a:pt x="1325" y="1012"/>
                </a:lnTo>
                <a:lnTo>
                  <a:pt x="1330" y="1030"/>
                </a:lnTo>
                <a:lnTo>
                  <a:pt x="1336" y="1048"/>
                </a:lnTo>
                <a:moveTo>
                  <a:pt x="1080" y="1808"/>
                </a:moveTo>
                <a:lnTo>
                  <a:pt x="1093" y="1801"/>
                </a:lnTo>
                <a:moveTo>
                  <a:pt x="1080" y="1808"/>
                </a:moveTo>
                <a:lnTo>
                  <a:pt x="1067" y="1814"/>
                </a:lnTo>
                <a:moveTo>
                  <a:pt x="1051" y="1822"/>
                </a:moveTo>
                <a:lnTo>
                  <a:pt x="1067" y="1814"/>
                </a:lnTo>
                <a:moveTo>
                  <a:pt x="1016" y="1838"/>
                </a:moveTo>
                <a:lnTo>
                  <a:pt x="1051" y="1822"/>
                </a:lnTo>
                <a:moveTo>
                  <a:pt x="985" y="1853"/>
                </a:moveTo>
                <a:lnTo>
                  <a:pt x="987" y="1852"/>
                </a:lnTo>
                <a:lnTo>
                  <a:pt x="1016" y="1838"/>
                </a:lnTo>
                <a:moveTo>
                  <a:pt x="965" y="1864"/>
                </a:moveTo>
                <a:lnTo>
                  <a:pt x="985" y="1853"/>
                </a:lnTo>
                <a:moveTo>
                  <a:pt x="952" y="1870"/>
                </a:moveTo>
                <a:lnTo>
                  <a:pt x="965" y="1864"/>
                </a:lnTo>
                <a:moveTo>
                  <a:pt x="886" y="1903"/>
                </a:moveTo>
                <a:lnTo>
                  <a:pt x="888" y="1901"/>
                </a:lnTo>
                <a:lnTo>
                  <a:pt x="890" y="1900"/>
                </a:lnTo>
                <a:lnTo>
                  <a:pt x="952" y="1870"/>
                </a:lnTo>
                <a:moveTo>
                  <a:pt x="1186" y="1954"/>
                </a:moveTo>
                <a:lnTo>
                  <a:pt x="1179" y="1920"/>
                </a:lnTo>
                <a:lnTo>
                  <a:pt x="1169" y="1861"/>
                </a:lnTo>
                <a:moveTo>
                  <a:pt x="1093" y="2243"/>
                </a:moveTo>
                <a:lnTo>
                  <a:pt x="1069" y="2250"/>
                </a:lnTo>
                <a:lnTo>
                  <a:pt x="1054" y="2256"/>
                </a:lnTo>
                <a:moveTo>
                  <a:pt x="1054" y="2256"/>
                </a:moveTo>
                <a:lnTo>
                  <a:pt x="1025" y="2264"/>
                </a:lnTo>
                <a:moveTo>
                  <a:pt x="1432" y="2259"/>
                </a:moveTo>
                <a:lnTo>
                  <a:pt x="1441" y="2296"/>
                </a:lnTo>
                <a:moveTo>
                  <a:pt x="1432" y="2259"/>
                </a:moveTo>
                <a:lnTo>
                  <a:pt x="1426" y="2232"/>
                </a:lnTo>
                <a:lnTo>
                  <a:pt x="1426" y="2226"/>
                </a:lnTo>
                <a:lnTo>
                  <a:pt x="1425" y="2224"/>
                </a:lnTo>
                <a:lnTo>
                  <a:pt x="1422" y="2209"/>
                </a:lnTo>
                <a:lnTo>
                  <a:pt x="1420" y="2201"/>
                </a:lnTo>
                <a:lnTo>
                  <a:pt x="1415" y="2178"/>
                </a:lnTo>
                <a:lnTo>
                  <a:pt x="1412" y="2158"/>
                </a:lnTo>
                <a:moveTo>
                  <a:pt x="2043" y="358"/>
                </a:moveTo>
                <a:lnTo>
                  <a:pt x="2054" y="362"/>
                </a:lnTo>
                <a:lnTo>
                  <a:pt x="2073" y="368"/>
                </a:lnTo>
                <a:lnTo>
                  <a:pt x="2099" y="376"/>
                </a:lnTo>
                <a:lnTo>
                  <a:pt x="2109" y="376"/>
                </a:lnTo>
                <a:moveTo>
                  <a:pt x="2037" y="434"/>
                </a:moveTo>
                <a:lnTo>
                  <a:pt x="2037" y="414"/>
                </a:lnTo>
                <a:moveTo>
                  <a:pt x="2037" y="414"/>
                </a:moveTo>
                <a:lnTo>
                  <a:pt x="2109" y="376"/>
                </a:lnTo>
                <a:moveTo>
                  <a:pt x="1867" y="475"/>
                </a:moveTo>
                <a:lnTo>
                  <a:pt x="1908" y="460"/>
                </a:lnTo>
                <a:lnTo>
                  <a:pt x="2001" y="427"/>
                </a:lnTo>
                <a:lnTo>
                  <a:pt x="2011" y="424"/>
                </a:lnTo>
                <a:lnTo>
                  <a:pt x="2037" y="414"/>
                </a:lnTo>
                <a:moveTo>
                  <a:pt x="1364" y="1494"/>
                </a:moveTo>
                <a:lnTo>
                  <a:pt x="1361" y="1482"/>
                </a:lnTo>
                <a:lnTo>
                  <a:pt x="1358" y="1467"/>
                </a:lnTo>
                <a:moveTo>
                  <a:pt x="1343" y="1337"/>
                </a:moveTo>
                <a:lnTo>
                  <a:pt x="1345" y="1344"/>
                </a:lnTo>
                <a:lnTo>
                  <a:pt x="1354" y="1419"/>
                </a:lnTo>
                <a:lnTo>
                  <a:pt x="1354" y="1423"/>
                </a:lnTo>
                <a:lnTo>
                  <a:pt x="1355" y="1440"/>
                </a:lnTo>
                <a:lnTo>
                  <a:pt x="1356" y="1448"/>
                </a:lnTo>
                <a:lnTo>
                  <a:pt x="1358" y="1467"/>
                </a:lnTo>
                <a:moveTo>
                  <a:pt x="2767" y="129"/>
                </a:moveTo>
                <a:lnTo>
                  <a:pt x="2773" y="116"/>
                </a:lnTo>
                <a:lnTo>
                  <a:pt x="2781" y="92"/>
                </a:lnTo>
                <a:lnTo>
                  <a:pt x="2780" y="89"/>
                </a:lnTo>
                <a:lnTo>
                  <a:pt x="2778" y="89"/>
                </a:lnTo>
                <a:moveTo>
                  <a:pt x="2763" y="95"/>
                </a:moveTo>
                <a:lnTo>
                  <a:pt x="2765" y="94"/>
                </a:lnTo>
                <a:lnTo>
                  <a:pt x="2778" y="89"/>
                </a:lnTo>
                <a:moveTo>
                  <a:pt x="2738" y="104"/>
                </a:moveTo>
                <a:lnTo>
                  <a:pt x="2763" y="95"/>
                </a:lnTo>
                <a:moveTo>
                  <a:pt x="2699" y="119"/>
                </a:moveTo>
                <a:lnTo>
                  <a:pt x="2691" y="123"/>
                </a:lnTo>
                <a:moveTo>
                  <a:pt x="2691" y="123"/>
                </a:moveTo>
                <a:lnTo>
                  <a:pt x="2686" y="131"/>
                </a:lnTo>
                <a:moveTo>
                  <a:pt x="2746" y="140"/>
                </a:moveTo>
                <a:lnTo>
                  <a:pt x="2762" y="133"/>
                </a:lnTo>
                <a:lnTo>
                  <a:pt x="2767" y="129"/>
                </a:lnTo>
                <a:moveTo>
                  <a:pt x="2746" y="140"/>
                </a:moveTo>
                <a:lnTo>
                  <a:pt x="2712" y="155"/>
                </a:lnTo>
                <a:moveTo>
                  <a:pt x="2616" y="194"/>
                </a:moveTo>
                <a:lnTo>
                  <a:pt x="2621" y="193"/>
                </a:lnTo>
                <a:lnTo>
                  <a:pt x="2712" y="155"/>
                </a:lnTo>
                <a:moveTo>
                  <a:pt x="2569" y="201"/>
                </a:moveTo>
                <a:lnTo>
                  <a:pt x="2527" y="220"/>
                </a:lnTo>
                <a:lnTo>
                  <a:pt x="2525" y="220"/>
                </a:lnTo>
                <a:moveTo>
                  <a:pt x="2569" y="201"/>
                </a:moveTo>
                <a:lnTo>
                  <a:pt x="2610" y="196"/>
                </a:lnTo>
                <a:lnTo>
                  <a:pt x="2616" y="194"/>
                </a:lnTo>
                <a:moveTo>
                  <a:pt x="2396" y="275"/>
                </a:moveTo>
                <a:lnTo>
                  <a:pt x="2292" y="315"/>
                </a:lnTo>
                <a:lnTo>
                  <a:pt x="2145" y="365"/>
                </a:lnTo>
                <a:lnTo>
                  <a:pt x="2122" y="373"/>
                </a:lnTo>
                <a:lnTo>
                  <a:pt x="2109" y="376"/>
                </a:lnTo>
                <a:moveTo>
                  <a:pt x="2396" y="275"/>
                </a:moveTo>
                <a:lnTo>
                  <a:pt x="2271" y="333"/>
                </a:lnTo>
                <a:lnTo>
                  <a:pt x="2177" y="368"/>
                </a:lnTo>
                <a:lnTo>
                  <a:pt x="1867" y="479"/>
                </a:lnTo>
                <a:moveTo>
                  <a:pt x="2006" y="448"/>
                </a:moveTo>
                <a:lnTo>
                  <a:pt x="2002" y="448"/>
                </a:lnTo>
                <a:lnTo>
                  <a:pt x="1998" y="448"/>
                </a:lnTo>
                <a:lnTo>
                  <a:pt x="1994" y="448"/>
                </a:lnTo>
                <a:lnTo>
                  <a:pt x="1872" y="491"/>
                </a:lnTo>
                <a:lnTo>
                  <a:pt x="1869" y="492"/>
                </a:lnTo>
                <a:moveTo>
                  <a:pt x="2006" y="448"/>
                </a:moveTo>
                <a:lnTo>
                  <a:pt x="1957" y="465"/>
                </a:lnTo>
                <a:lnTo>
                  <a:pt x="1915" y="484"/>
                </a:lnTo>
                <a:moveTo>
                  <a:pt x="2006" y="448"/>
                </a:moveTo>
                <a:lnTo>
                  <a:pt x="2013" y="446"/>
                </a:lnTo>
                <a:moveTo>
                  <a:pt x="2036" y="458"/>
                </a:moveTo>
                <a:lnTo>
                  <a:pt x="2036" y="465"/>
                </a:lnTo>
                <a:moveTo>
                  <a:pt x="2034" y="524"/>
                </a:moveTo>
                <a:lnTo>
                  <a:pt x="2035" y="496"/>
                </a:lnTo>
                <a:lnTo>
                  <a:pt x="2035" y="467"/>
                </a:lnTo>
                <a:lnTo>
                  <a:pt x="2036" y="465"/>
                </a:lnTo>
                <a:moveTo>
                  <a:pt x="2036" y="465"/>
                </a:moveTo>
                <a:lnTo>
                  <a:pt x="2034" y="463"/>
                </a:lnTo>
                <a:lnTo>
                  <a:pt x="2030" y="460"/>
                </a:lnTo>
                <a:lnTo>
                  <a:pt x="2027" y="456"/>
                </a:lnTo>
                <a:lnTo>
                  <a:pt x="2022" y="451"/>
                </a:lnTo>
                <a:lnTo>
                  <a:pt x="2018" y="448"/>
                </a:lnTo>
                <a:lnTo>
                  <a:pt x="2013" y="446"/>
                </a:lnTo>
                <a:moveTo>
                  <a:pt x="1867" y="479"/>
                </a:moveTo>
                <a:lnTo>
                  <a:pt x="1895" y="463"/>
                </a:lnTo>
                <a:lnTo>
                  <a:pt x="1911" y="455"/>
                </a:lnTo>
                <a:lnTo>
                  <a:pt x="1993" y="424"/>
                </a:lnTo>
                <a:lnTo>
                  <a:pt x="1997" y="422"/>
                </a:lnTo>
                <a:lnTo>
                  <a:pt x="1999" y="420"/>
                </a:lnTo>
                <a:lnTo>
                  <a:pt x="2003" y="417"/>
                </a:lnTo>
                <a:lnTo>
                  <a:pt x="2005" y="416"/>
                </a:lnTo>
                <a:lnTo>
                  <a:pt x="2007" y="413"/>
                </a:lnTo>
                <a:lnTo>
                  <a:pt x="2008" y="411"/>
                </a:lnTo>
                <a:lnTo>
                  <a:pt x="2012" y="400"/>
                </a:lnTo>
                <a:lnTo>
                  <a:pt x="2016" y="392"/>
                </a:lnTo>
                <a:lnTo>
                  <a:pt x="2017" y="388"/>
                </a:lnTo>
                <a:lnTo>
                  <a:pt x="2018" y="384"/>
                </a:lnTo>
                <a:lnTo>
                  <a:pt x="2020" y="378"/>
                </a:lnTo>
                <a:lnTo>
                  <a:pt x="2021" y="353"/>
                </a:lnTo>
                <a:moveTo>
                  <a:pt x="1755" y="527"/>
                </a:moveTo>
                <a:lnTo>
                  <a:pt x="1548" y="600"/>
                </a:lnTo>
                <a:lnTo>
                  <a:pt x="1512" y="611"/>
                </a:lnTo>
                <a:lnTo>
                  <a:pt x="1465" y="619"/>
                </a:lnTo>
                <a:lnTo>
                  <a:pt x="1404" y="632"/>
                </a:lnTo>
                <a:lnTo>
                  <a:pt x="1385" y="635"/>
                </a:lnTo>
                <a:lnTo>
                  <a:pt x="1356" y="640"/>
                </a:lnTo>
                <a:lnTo>
                  <a:pt x="1333" y="644"/>
                </a:lnTo>
                <a:lnTo>
                  <a:pt x="1313" y="644"/>
                </a:lnTo>
                <a:lnTo>
                  <a:pt x="1293" y="643"/>
                </a:lnTo>
                <a:lnTo>
                  <a:pt x="1275" y="641"/>
                </a:lnTo>
                <a:lnTo>
                  <a:pt x="1248" y="633"/>
                </a:lnTo>
                <a:lnTo>
                  <a:pt x="1202" y="622"/>
                </a:lnTo>
                <a:lnTo>
                  <a:pt x="1192" y="620"/>
                </a:lnTo>
                <a:lnTo>
                  <a:pt x="1168" y="615"/>
                </a:lnTo>
                <a:lnTo>
                  <a:pt x="1164" y="613"/>
                </a:lnTo>
                <a:moveTo>
                  <a:pt x="1755" y="527"/>
                </a:moveTo>
                <a:lnTo>
                  <a:pt x="1783" y="522"/>
                </a:lnTo>
                <a:lnTo>
                  <a:pt x="1869" y="492"/>
                </a:lnTo>
                <a:moveTo>
                  <a:pt x="1569" y="576"/>
                </a:moveTo>
                <a:lnTo>
                  <a:pt x="1532" y="590"/>
                </a:lnTo>
                <a:moveTo>
                  <a:pt x="1532" y="645"/>
                </a:moveTo>
                <a:lnTo>
                  <a:pt x="1530" y="617"/>
                </a:lnTo>
                <a:lnTo>
                  <a:pt x="1532" y="590"/>
                </a:lnTo>
                <a:moveTo>
                  <a:pt x="1359" y="621"/>
                </a:moveTo>
                <a:lnTo>
                  <a:pt x="1474" y="603"/>
                </a:lnTo>
                <a:lnTo>
                  <a:pt x="1532" y="590"/>
                </a:lnTo>
                <a:moveTo>
                  <a:pt x="1192" y="592"/>
                </a:moveTo>
                <a:lnTo>
                  <a:pt x="1198" y="590"/>
                </a:lnTo>
                <a:lnTo>
                  <a:pt x="1218" y="583"/>
                </a:lnTo>
                <a:lnTo>
                  <a:pt x="1221" y="582"/>
                </a:lnTo>
                <a:lnTo>
                  <a:pt x="1229" y="592"/>
                </a:lnTo>
                <a:lnTo>
                  <a:pt x="1239" y="600"/>
                </a:lnTo>
                <a:lnTo>
                  <a:pt x="1256" y="608"/>
                </a:lnTo>
                <a:moveTo>
                  <a:pt x="1324" y="624"/>
                </a:moveTo>
                <a:lnTo>
                  <a:pt x="1319" y="624"/>
                </a:lnTo>
                <a:lnTo>
                  <a:pt x="1306" y="620"/>
                </a:lnTo>
                <a:lnTo>
                  <a:pt x="1301" y="619"/>
                </a:lnTo>
                <a:lnTo>
                  <a:pt x="1265" y="611"/>
                </a:lnTo>
                <a:lnTo>
                  <a:pt x="1256" y="608"/>
                </a:lnTo>
                <a:moveTo>
                  <a:pt x="2799" y="912"/>
                </a:moveTo>
                <a:lnTo>
                  <a:pt x="2784" y="917"/>
                </a:lnTo>
                <a:moveTo>
                  <a:pt x="2770" y="924"/>
                </a:moveTo>
                <a:lnTo>
                  <a:pt x="2784" y="917"/>
                </a:lnTo>
                <a:moveTo>
                  <a:pt x="2956" y="1038"/>
                </a:moveTo>
                <a:lnTo>
                  <a:pt x="2964" y="1063"/>
                </a:lnTo>
                <a:moveTo>
                  <a:pt x="2974" y="1095"/>
                </a:moveTo>
                <a:lnTo>
                  <a:pt x="2964" y="1063"/>
                </a:lnTo>
                <a:moveTo>
                  <a:pt x="2984" y="1124"/>
                </a:moveTo>
                <a:lnTo>
                  <a:pt x="2993" y="1155"/>
                </a:lnTo>
                <a:moveTo>
                  <a:pt x="3005" y="1192"/>
                </a:moveTo>
                <a:lnTo>
                  <a:pt x="2993" y="1155"/>
                </a:lnTo>
                <a:moveTo>
                  <a:pt x="3005" y="1192"/>
                </a:moveTo>
                <a:lnTo>
                  <a:pt x="3016" y="1228"/>
                </a:lnTo>
                <a:moveTo>
                  <a:pt x="3026" y="1264"/>
                </a:moveTo>
                <a:lnTo>
                  <a:pt x="3016" y="1228"/>
                </a:lnTo>
                <a:moveTo>
                  <a:pt x="3028" y="1300"/>
                </a:moveTo>
                <a:lnTo>
                  <a:pt x="3026" y="1264"/>
                </a:lnTo>
                <a:moveTo>
                  <a:pt x="3026" y="1338"/>
                </a:moveTo>
                <a:lnTo>
                  <a:pt x="3028" y="1310"/>
                </a:lnTo>
                <a:lnTo>
                  <a:pt x="3028" y="1300"/>
                </a:lnTo>
                <a:moveTo>
                  <a:pt x="3020" y="1374"/>
                </a:moveTo>
                <a:lnTo>
                  <a:pt x="3026" y="1338"/>
                </a:lnTo>
                <a:moveTo>
                  <a:pt x="3008" y="1456"/>
                </a:moveTo>
                <a:lnTo>
                  <a:pt x="3020" y="1374"/>
                </a:lnTo>
                <a:moveTo>
                  <a:pt x="2998" y="1521"/>
                </a:moveTo>
                <a:lnTo>
                  <a:pt x="3008" y="1456"/>
                </a:lnTo>
                <a:moveTo>
                  <a:pt x="2989" y="1586"/>
                </a:moveTo>
                <a:lnTo>
                  <a:pt x="2985" y="1619"/>
                </a:lnTo>
                <a:moveTo>
                  <a:pt x="2978" y="1660"/>
                </a:moveTo>
                <a:lnTo>
                  <a:pt x="2985" y="1619"/>
                </a:lnTo>
                <a:moveTo>
                  <a:pt x="2973" y="1694"/>
                </a:moveTo>
                <a:lnTo>
                  <a:pt x="2978" y="1660"/>
                </a:lnTo>
                <a:moveTo>
                  <a:pt x="2799" y="1744"/>
                </a:moveTo>
                <a:lnTo>
                  <a:pt x="2789" y="1780"/>
                </a:lnTo>
                <a:moveTo>
                  <a:pt x="2781" y="1812"/>
                </a:moveTo>
                <a:lnTo>
                  <a:pt x="2789" y="1780"/>
                </a:lnTo>
                <a:moveTo>
                  <a:pt x="2775" y="1845"/>
                </a:moveTo>
                <a:lnTo>
                  <a:pt x="2781" y="1812"/>
                </a:lnTo>
                <a:moveTo>
                  <a:pt x="2960" y="1775"/>
                </a:moveTo>
                <a:lnTo>
                  <a:pt x="2954" y="1811"/>
                </a:lnTo>
                <a:moveTo>
                  <a:pt x="2951" y="1832"/>
                </a:moveTo>
                <a:lnTo>
                  <a:pt x="2954" y="1811"/>
                </a:lnTo>
                <a:moveTo>
                  <a:pt x="2773" y="1880"/>
                </a:moveTo>
                <a:lnTo>
                  <a:pt x="2775" y="1845"/>
                </a:lnTo>
                <a:moveTo>
                  <a:pt x="2949" y="1849"/>
                </a:moveTo>
                <a:lnTo>
                  <a:pt x="2946" y="1862"/>
                </a:lnTo>
                <a:moveTo>
                  <a:pt x="2946" y="1868"/>
                </a:moveTo>
                <a:lnTo>
                  <a:pt x="2946" y="1862"/>
                </a:lnTo>
                <a:moveTo>
                  <a:pt x="2773" y="1880"/>
                </a:moveTo>
                <a:lnTo>
                  <a:pt x="2773" y="1888"/>
                </a:lnTo>
                <a:moveTo>
                  <a:pt x="2770" y="1936"/>
                </a:moveTo>
                <a:lnTo>
                  <a:pt x="2770" y="1926"/>
                </a:lnTo>
                <a:moveTo>
                  <a:pt x="2931" y="1979"/>
                </a:moveTo>
                <a:lnTo>
                  <a:pt x="2928" y="2002"/>
                </a:lnTo>
                <a:moveTo>
                  <a:pt x="2922" y="2041"/>
                </a:moveTo>
                <a:lnTo>
                  <a:pt x="2928" y="2002"/>
                </a:lnTo>
                <a:moveTo>
                  <a:pt x="2916" y="2075"/>
                </a:moveTo>
                <a:lnTo>
                  <a:pt x="2922" y="2041"/>
                </a:lnTo>
                <a:moveTo>
                  <a:pt x="2912" y="2105"/>
                </a:moveTo>
                <a:lnTo>
                  <a:pt x="2916" y="2075"/>
                </a:lnTo>
                <a:moveTo>
                  <a:pt x="2908" y="2132"/>
                </a:moveTo>
                <a:lnTo>
                  <a:pt x="2912" y="2105"/>
                </a:lnTo>
                <a:moveTo>
                  <a:pt x="2908" y="2132"/>
                </a:moveTo>
                <a:lnTo>
                  <a:pt x="2903" y="2158"/>
                </a:lnTo>
                <a:moveTo>
                  <a:pt x="2896" y="2204"/>
                </a:moveTo>
                <a:lnTo>
                  <a:pt x="2900" y="2181"/>
                </a:lnTo>
                <a:lnTo>
                  <a:pt x="2903" y="2158"/>
                </a:lnTo>
                <a:moveTo>
                  <a:pt x="2896" y="2204"/>
                </a:moveTo>
                <a:lnTo>
                  <a:pt x="2891" y="2237"/>
                </a:lnTo>
                <a:moveTo>
                  <a:pt x="2885" y="2271"/>
                </a:moveTo>
                <a:lnTo>
                  <a:pt x="2891" y="2237"/>
                </a:lnTo>
                <a:moveTo>
                  <a:pt x="2885" y="2271"/>
                </a:moveTo>
                <a:lnTo>
                  <a:pt x="2880" y="2304"/>
                </a:lnTo>
                <a:moveTo>
                  <a:pt x="2372" y="2115"/>
                </a:moveTo>
                <a:lnTo>
                  <a:pt x="2357" y="2118"/>
                </a:lnTo>
                <a:lnTo>
                  <a:pt x="2309" y="2130"/>
                </a:lnTo>
                <a:lnTo>
                  <a:pt x="2303" y="2131"/>
                </a:lnTo>
                <a:lnTo>
                  <a:pt x="2253" y="2142"/>
                </a:lnTo>
                <a:moveTo>
                  <a:pt x="2563" y="2088"/>
                </a:moveTo>
                <a:lnTo>
                  <a:pt x="2553" y="2092"/>
                </a:lnTo>
                <a:lnTo>
                  <a:pt x="2523" y="2103"/>
                </a:lnTo>
                <a:lnTo>
                  <a:pt x="2446" y="2128"/>
                </a:lnTo>
                <a:moveTo>
                  <a:pt x="2083" y="2168"/>
                </a:moveTo>
                <a:lnTo>
                  <a:pt x="2086" y="2167"/>
                </a:lnTo>
                <a:moveTo>
                  <a:pt x="2083" y="2168"/>
                </a:moveTo>
                <a:lnTo>
                  <a:pt x="2080" y="2137"/>
                </a:lnTo>
                <a:moveTo>
                  <a:pt x="2083" y="2168"/>
                </a:moveTo>
                <a:lnTo>
                  <a:pt x="2084" y="2184"/>
                </a:lnTo>
                <a:moveTo>
                  <a:pt x="3303" y="741"/>
                </a:moveTo>
                <a:lnTo>
                  <a:pt x="3297" y="744"/>
                </a:lnTo>
                <a:lnTo>
                  <a:pt x="3287" y="747"/>
                </a:lnTo>
                <a:lnTo>
                  <a:pt x="3279" y="750"/>
                </a:lnTo>
                <a:lnTo>
                  <a:pt x="3256" y="758"/>
                </a:lnTo>
                <a:lnTo>
                  <a:pt x="3227" y="768"/>
                </a:lnTo>
                <a:lnTo>
                  <a:pt x="3208" y="774"/>
                </a:lnTo>
                <a:lnTo>
                  <a:pt x="3185" y="782"/>
                </a:lnTo>
                <a:lnTo>
                  <a:pt x="3158" y="792"/>
                </a:lnTo>
                <a:moveTo>
                  <a:pt x="3303" y="741"/>
                </a:moveTo>
                <a:lnTo>
                  <a:pt x="3326" y="733"/>
                </a:lnTo>
                <a:lnTo>
                  <a:pt x="3330" y="732"/>
                </a:lnTo>
                <a:lnTo>
                  <a:pt x="3336" y="730"/>
                </a:lnTo>
                <a:moveTo>
                  <a:pt x="3027" y="911"/>
                </a:moveTo>
                <a:lnTo>
                  <a:pt x="3005" y="879"/>
                </a:lnTo>
                <a:lnTo>
                  <a:pt x="2996" y="859"/>
                </a:lnTo>
                <a:moveTo>
                  <a:pt x="2996" y="859"/>
                </a:moveTo>
                <a:lnTo>
                  <a:pt x="2989" y="860"/>
                </a:lnTo>
                <a:lnTo>
                  <a:pt x="2943" y="875"/>
                </a:lnTo>
                <a:lnTo>
                  <a:pt x="2939" y="876"/>
                </a:lnTo>
                <a:moveTo>
                  <a:pt x="2996" y="859"/>
                </a:moveTo>
                <a:lnTo>
                  <a:pt x="3030" y="848"/>
                </a:lnTo>
                <a:lnTo>
                  <a:pt x="3036" y="846"/>
                </a:lnTo>
                <a:lnTo>
                  <a:pt x="3074" y="832"/>
                </a:lnTo>
                <a:moveTo>
                  <a:pt x="3038" y="929"/>
                </a:moveTo>
                <a:lnTo>
                  <a:pt x="3027" y="911"/>
                </a:lnTo>
                <a:moveTo>
                  <a:pt x="3073" y="1026"/>
                </a:moveTo>
                <a:lnTo>
                  <a:pt x="3066" y="1003"/>
                </a:lnTo>
                <a:moveTo>
                  <a:pt x="3056" y="971"/>
                </a:moveTo>
                <a:lnTo>
                  <a:pt x="3066" y="1003"/>
                </a:lnTo>
                <a:moveTo>
                  <a:pt x="3080" y="1047"/>
                </a:moveTo>
                <a:lnTo>
                  <a:pt x="3077" y="1036"/>
                </a:lnTo>
                <a:lnTo>
                  <a:pt x="3073" y="1026"/>
                </a:lnTo>
                <a:moveTo>
                  <a:pt x="3102" y="1115"/>
                </a:moveTo>
                <a:lnTo>
                  <a:pt x="3093" y="1089"/>
                </a:lnTo>
                <a:moveTo>
                  <a:pt x="3087" y="1069"/>
                </a:moveTo>
                <a:lnTo>
                  <a:pt x="3093" y="1089"/>
                </a:lnTo>
                <a:moveTo>
                  <a:pt x="3127" y="1196"/>
                </a:moveTo>
                <a:lnTo>
                  <a:pt x="3116" y="1164"/>
                </a:lnTo>
                <a:moveTo>
                  <a:pt x="3111" y="1143"/>
                </a:moveTo>
                <a:lnTo>
                  <a:pt x="3116" y="1164"/>
                </a:lnTo>
                <a:moveTo>
                  <a:pt x="3131" y="1212"/>
                </a:moveTo>
                <a:lnTo>
                  <a:pt x="3127" y="1196"/>
                </a:lnTo>
                <a:moveTo>
                  <a:pt x="3392" y="1934"/>
                </a:moveTo>
                <a:lnTo>
                  <a:pt x="3396" y="1936"/>
                </a:lnTo>
                <a:lnTo>
                  <a:pt x="3401" y="1941"/>
                </a:lnTo>
                <a:lnTo>
                  <a:pt x="3405" y="1945"/>
                </a:lnTo>
                <a:lnTo>
                  <a:pt x="3408" y="1948"/>
                </a:lnTo>
                <a:lnTo>
                  <a:pt x="3410" y="1952"/>
                </a:lnTo>
                <a:moveTo>
                  <a:pt x="3412" y="1980"/>
                </a:moveTo>
                <a:lnTo>
                  <a:pt x="3412" y="1969"/>
                </a:lnTo>
                <a:lnTo>
                  <a:pt x="3412" y="1962"/>
                </a:lnTo>
                <a:lnTo>
                  <a:pt x="3410" y="1952"/>
                </a:lnTo>
                <a:moveTo>
                  <a:pt x="3069" y="1800"/>
                </a:moveTo>
                <a:lnTo>
                  <a:pt x="3099" y="1616"/>
                </a:lnTo>
                <a:moveTo>
                  <a:pt x="3133" y="1403"/>
                </a:moveTo>
                <a:lnTo>
                  <a:pt x="3107" y="1558"/>
                </a:lnTo>
                <a:lnTo>
                  <a:pt x="3099" y="1616"/>
                </a:lnTo>
                <a:moveTo>
                  <a:pt x="3062" y="1844"/>
                </a:moveTo>
                <a:lnTo>
                  <a:pt x="3069" y="1800"/>
                </a:lnTo>
                <a:moveTo>
                  <a:pt x="3055" y="1884"/>
                </a:moveTo>
                <a:lnTo>
                  <a:pt x="3062" y="1844"/>
                </a:lnTo>
                <a:moveTo>
                  <a:pt x="3055" y="1884"/>
                </a:moveTo>
                <a:lnTo>
                  <a:pt x="3049" y="1926"/>
                </a:lnTo>
                <a:moveTo>
                  <a:pt x="3048" y="1929"/>
                </a:moveTo>
                <a:lnTo>
                  <a:pt x="3049" y="1926"/>
                </a:lnTo>
                <a:moveTo>
                  <a:pt x="3272" y="1907"/>
                </a:moveTo>
                <a:lnTo>
                  <a:pt x="3293" y="1910"/>
                </a:lnTo>
                <a:lnTo>
                  <a:pt x="3312" y="1914"/>
                </a:lnTo>
                <a:lnTo>
                  <a:pt x="3370" y="1928"/>
                </a:lnTo>
                <a:lnTo>
                  <a:pt x="3384" y="1932"/>
                </a:lnTo>
                <a:lnTo>
                  <a:pt x="3392" y="1934"/>
                </a:lnTo>
                <a:moveTo>
                  <a:pt x="3470" y="2088"/>
                </a:moveTo>
                <a:lnTo>
                  <a:pt x="3468" y="2080"/>
                </a:lnTo>
                <a:lnTo>
                  <a:pt x="3466" y="2073"/>
                </a:lnTo>
                <a:lnTo>
                  <a:pt x="3463" y="2068"/>
                </a:lnTo>
                <a:lnTo>
                  <a:pt x="3460" y="2058"/>
                </a:lnTo>
                <a:lnTo>
                  <a:pt x="3457" y="2052"/>
                </a:lnTo>
                <a:lnTo>
                  <a:pt x="3449" y="2043"/>
                </a:lnTo>
                <a:lnTo>
                  <a:pt x="3435" y="2025"/>
                </a:lnTo>
                <a:lnTo>
                  <a:pt x="3429" y="2018"/>
                </a:lnTo>
                <a:lnTo>
                  <a:pt x="3421" y="2006"/>
                </a:lnTo>
                <a:lnTo>
                  <a:pt x="3418" y="2000"/>
                </a:lnTo>
                <a:lnTo>
                  <a:pt x="3416" y="1994"/>
                </a:lnTo>
                <a:lnTo>
                  <a:pt x="3414" y="1988"/>
                </a:lnTo>
                <a:lnTo>
                  <a:pt x="3412" y="1980"/>
                </a:lnTo>
                <a:moveTo>
                  <a:pt x="3723" y="639"/>
                </a:moveTo>
                <a:lnTo>
                  <a:pt x="3672" y="640"/>
                </a:lnTo>
                <a:moveTo>
                  <a:pt x="3723" y="639"/>
                </a:moveTo>
                <a:lnTo>
                  <a:pt x="3696" y="636"/>
                </a:lnTo>
                <a:lnTo>
                  <a:pt x="3693" y="634"/>
                </a:lnTo>
                <a:moveTo>
                  <a:pt x="3143" y="1272"/>
                </a:moveTo>
                <a:lnTo>
                  <a:pt x="3143" y="1283"/>
                </a:lnTo>
                <a:lnTo>
                  <a:pt x="3144" y="1304"/>
                </a:lnTo>
                <a:lnTo>
                  <a:pt x="3144" y="1326"/>
                </a:lnTo>
                <a:lnTo>
                  <a:pt x="3143" y="1340"/>
                </a:lnTo>
                <a:lnTo>
                  <a:pt x="3133" y="1403"/>
                </a:lnTo>
                <a:moveTo>
                  <a:pt x="3817" y="1510"/>
                </a:moveTo>
                <a:lnTo>
                  <a:pt x="3811" y="1508"/>
                </a:lnTo>
                <a:moveTo>
                  <a:pt x="3803" y="1532"/>
                </a:moveTo>
                <a:lnTo>
                  <a:pt x="3805" y="1524"/>
                </a:lnTo>
                <a:lnTo>
                  <a:pt x="3808" y="1517"/>
                </a:lnTo>
                <a:lnTo>
                  <a:pt x="3810" y="1510"/>
                </a:lnTo>
                <a:lnTo>
                  <a:pt x="3811" y="1508"/>
                </a:lnTo>
                <a:moveTo>
                  <a:pt x="3799" y="1548"/>
                </a:moveTo>
                <a:lnTo>
                  <a:pt x="3803" y="1532"/>
                </a:lnTo>
                <a:moveTo>
                  <a:pt x="3950" y="1568"/>
                </a:moveTo>
                <a:lnTo>
                  <a:pt x="3921" y="1542"/>
                </a:lnTo>
                <a:moveTo>
                  <a:pt x="3885" y="1533"/>
                </a:moveTo>
                <a:lnTo>
                  <a:pt x="3890" y="1535"/>
                </a:lnTo>
                <a:lnTo>
                  <a:pt x="3921" y="1542"/>
                </a:lnTo>
                <a:moveTo>
                  <a:pt x="3792" y="1568"/>
                </a:moveTo>
                <a:lnTo>
                  <a:pt x="3782" y="1592"/>
                </a:lnTo>
                <a:lnTo>
                  <a:pt x="3776" y="1614"/>
                </a:lnTo>
                <a:lnTo>
                  <a:pt x="3770" y="1635"/>
                </a:lnTo>
                <a:lnTo>
                  <a:pt x="3769" y="1640"/>
                </a:lnTo>
                <a:moveTo>
                  <a:pt x="3757" y="1696"/>
                </a:moveTo>
                <a:lnTo>
                  <a:pt x="3759" y="1691"/>
                </a:lnTo>
                <a:lnTo>
                  <a:pt x="3769" y="1640"/>
                </a:lnTo>
                <a:moveTo>
                  <a:pt x="3755" y="1710"/>
                </a:moveTo>
                <a:lnTo>
                  <a:pt x="3752" y="1719"/>
                </a:lnTo>
                <a:moveTo>
                  <a:pt x="3752" y="1725"/>
                </a:moveTo>
                <a:lnTo>
                  <a:pt x="3752" y="1719"/>
                </a:lnTo>
                <a:moveTo>
                  <a:pt x="3734" y="2019"/>
                </a:moveTo>
                <a:lnTo>
                  <a:pt x="3734" y="2042"/>
                </a:lnTo>
                <a:moveTo>
                  <a:pt x="3735" y="2099"/>
                </a:moveTo>
                <a:lnTo>
                  <a:pt x="3736" y="2074"/>
                </a:lnTo>
                <a:lnTo>
                  <a:pt x="3736" y="2049"/>
                </a:lnTo>
                <a:lnTo>
                  <a:pt x="3734" y="2042"/>
                </a:lnTo>
                <a:moveTo>
                  <a:pt x="3693" y="634"/>
                </a:moveTo>
                <a:lnTo>
                  <a:pt x="3686" y="637"/>
                </a:lnTo>
                <a:lnTo>
                  <a:pt x="3672" y="640"/>
                </a:lnTo>
                <a:moveTo>
                  <a:pt x="2601" y="1679"/>
                </a:moveTo>
                <a:lnTo>
                  <a:pt x="2542" y="1664"/>
                </a:lnTo>
                <a:lnTo>
                  <a:pt x="2459" y="1652"/>
                </a:lnTo>
                <a:moveTo>
                  <a:pt x="2450" y="1652"/>
                </a:moveTo>
                <a:lnTo>
                  <a:pt x="2454" y="1652"/>
                </a:lnTo>
                <a:lnTo>
                  <a:pt x="2459" y="1652"/>
                </a:lnTo>
                <a:moveTo>
                  <a:pt x="2665" y="1700"/>
                </a:moveTo>
                <a:lnTo>
                  <a:pt x="2643" y="1692"/>
                </a:lnTo>
                <a:lnTo>
                  <a:pt x="2601" y="1679"/>
                </a:lnTo>
                <a:moveTo>
                  <a:pt x="2297" y="1720"/>
                </a:moveTo>
                <a:lnTo>
                  <a:pt x="2297" y="1737"/>
                </a:lnTo>
                <a:lnTo>
                  <a:pt x="2298" y="1744"/>
                </a:lnTo>
                <a:moveTo>
                  <a:pt x="2297" y="1720"/>
                </a:moveTo>
                <a:lnTo>
                  <a:pt x="2296" y="1700"/>
                </a:lnTo>
                <a:moveTo>
                  <a:pt x="2317" y="1881"/>
                </a:moveTo>
                <a:lnTo>
                  <a:pt x="2334" y="1946"/>
                </a:lnTo>
                <a:moveTo>
                  <a:pt x="2317" y="1881"/>
                </a:moveTo>
                <a:lnTo>
                  <a:pt x="2310" y="1845"/>
                </a:lnTo>
                <a:lnTo>
                  <a:pt x="2309" y="1842"/>
                </a:lnTo>
                <a:moveTo>
                  <a:pt x="2770" y="1952"/>
                </a:moveTo>
                <a:lnTo>
                  <a:pt x="2770" y="1936"/>
                </a:lnTo>
                <a:moveTo>
                  <a:pt x="2770" y="1952"/>
                </a:moveTo>
                <a:lnTo>
                  <a:pt x="2771" y="1965"/>
                </a:lnTo>
                <a:moveTo>
                  <a:pt x="2633" y="2060"/>
                </a:moveTo>
                <a:lnTo>
                  <a:pt x="2652" y="2052"/>
                </a:lnTo>
                <a:moveTo>
                  <a:pt x="2084" y="2184"/>
                </a:moveTo>
                <a:lnTo>
                  <a:pt x="2084" y="2204"/>
                </a:lnTo>
                <a:moveTo>
                  <a:pt x="2087" y="2259"/>
                </a:moveTo>
                <a:lnTo>
                  <a:pt x="2087" y="2256"/>
                </a:lnTo>
                <a:lnTo>
                  <a:pt x="2086" y="2242"/>
                </a:lnTo>
                <a:moveTo>
                  <a:pt x="2087" y="2259"/>
                </a:moveTo>
                <a:lnTo>
                  <a:pt x="2087" y="2280"/>
                </a:lnTo>
                <a:moveTo>
                  <a:pt x="2037" y="580"/>
                </a:moveTo>
                <a:lnTo>
                  <a:pt x="2037" y="584"/>
                </a:lnTo>
                <a:moveTo>
                  <a:pt x="2038" y="614"/>
                </a:moveTo>
                <a:lnTo>
                  <a:pt x="2037" y="584"/>
                </a:lnTo>
                <a:moveTo>
                  <a:pt x="1534" y="668"/>
                </a:moveTo>
                <a:lnTo>
                  <a:pt x="1535" y="685"/>
                </a:lnTo>
                <a:moveTo>
                  <a:pt x="1535" y="689"/>
                </a:moveTo>
                <a:lnTo>
                  <a:pt x="1535" y="685"/>
                </a:lnTo>
                <a:moveTo>
                  <a:pt x="2900" y="889"/>
                </a:moveTo>
                <a:lnTo>
                  <a:pt x="2913" y="884"/>
                </a:lnTo>
                <a:lnTo>
                  <a:pt x="2939" y="876"/>
                </a:lnTo>
                <a:moveTo>
                  <a:pt x="2049" y="1048"/>
                </a:moveTo>
                <a:lnTo>
                  <a:pt x="2047" y="982"/>
                </a:lnTo>
                <a:moveTo>
                  <a:pt x="2042" y="777"/>
                </a:moveTo>
                <a:lnTo>
                  <a:pt x="2044" y="848"/>
                </a:lnTo>
                <a:lnTo>
                  <a:pt x="2047" y="982"/>
                </a:lnTo>
                <a:moveTo>
                  <a:pt x="2719" y="1037"/>
                </a:moveTo>
                <a:lnTo>
                  <a:pt x="2709" y="1043"/>
                </a:lnTo>
                <a:lnTo>
                  <a:pt x="2696" y="1052"/>
                </a:lnTo>
                <a:lnTo>
                  <a:pt x="2662" y="1072"/>
                </a:lnTo>
                <a:lnTo>
                  <a:pt x="2649" y="1080"/>
                </a:lnTo>
                <a:lnTo>
                  <a:pt x="2638" y="1087"/>
                </a:lnTo>
                <a:lnTo>
                  <a:pt x="2636" y="1088"/>
                </a:lnTo>
                <a:lnTo>
                  <a:pt x="2587" y="1118"/>
                </a:lnTo>
                <a:moveTo>
                  <a:pt x="2276" y="1095"/>
                </a:moveTo>
                <a:lnTo>
                  <a:pt x="2294" y="1085"/>
                </a:lnTo>
                <a:moveTo>
                  <a:pt x="2276" y="1095"/>
                </a:moveTo>
                <a:lnTo>
                  <a:pt x="2268" y="1100"/>
                </a:lnTo>
                <a:moveTo>
                  <a:pt x="2587" y="1118"/>
                </a:moveTo>
                <a:lnTo>
                  <a:pt x="2552" y="1140"/>
                </a:lnTo>
                <a:lnTo>
                  <a:pt x="2536" y="1150"/>
                </a:lnTo>
                <a:lnTo>
                  <a:pt x="2527" y="1155"/>
                </a:lnTo>
                <a:lnTo>
                  <a:pt x="2463" y="1194"/>
                </a:lnTo>
                <a:lnTo>
                  <a:pt x="2452" y="1201"/>
                </a:lnTo>
                <a:lnTo>
                  <a:pt x="2436" y="1211"/>
                </a:lnTo>
                <a:lnTo>
                  <a:pt x="2424" y="1218"/>
                </a:lnTo>
                <a:moveTo>
                  <a:pt x="2974" y="1095"/>
                </a:moveTo>
                <a:lnTo>
                  <a:pt x="2984" y="1124"/>
                </a:lnTo>
                <a:moveTo>
                  <a:pt x="2051" y="1074"/>
                </a:moveTo>
                <a:lnTo>
                  <a:pt x="2053" y="1194"/>
                </a:lnTo>
                <a:moveTo>
                  <a:pt x="2424" y="1218"/>
                </a:moveTo>
                <a:lnTo>
                  <a:pt x="2406" y="1229"/>
                </a:lnTo>
                <a:lnTo>
                  <a:pt x="2381" y="1245"/>
                </a:lnTo>
                <a:lnTo>
                  <a:pt x="2377" y="1248"/>
                </a:lnTo>
                <a:lnTo>
                  <a:pt x="2365" y="1254"/>
                </a:lnTo>
                <a:moveTo>
                  <a:pt x="2365" y="1254"/>
                </a:moveTo>
                <a:lnTo>
                  <a:pt x="2354" y="1261"/>
                </a:lnTo>
                <a:moveTo>
                  <a:pt x="2296" y="1298"/>
                </a:moveTo>
                <a:lnTo>
                  <a:pt x="2273" y="1311"/>
                </a:lnTo>
                <a:moveTo>
                  <a:pt x="1599" y="1262"/>
                </a:moveTo>
                <a:lnTo>
                  <a:pt x="1599" y="1272"/>
                </a:lnTo>
                <a:lnTo>
                  <a:pt x="1603" y="1294"/>
                </a:lnTo>
                <a:lnTo>
                  <a:pt x="1605" y="1327"/>
                </a:lnTo>
                <a:moveTo>
                  <a:pt x="2273" y="1494"/>
                </a:moveTo>
                <a:lnTo>
                  <a:pt x="2255" y="1453"/>
                </a:lnTo>
                <a:moveTo>
                  <a:pt x="2291" y="1536"/>
                </a:moveTo>
                <a:lnTo>
                  <a:pt x="2289" y="1532"/>
                </a:lnTo>
                <a:lnTo>
                  <a:pt x="2273" y="1494"/>
                </a:lnTo>
                <a:moveTo>
                  <a:pt x="2291" y="1536"/>
                </a:moveTo>
                <a:lnTo>
                  <a:pt x="2293" y="1543"/>
                </a:lnTo>
                <a:moveTo>
                  <a:pt x="2295" y="1577"/>
                </a:moveTo>
                <a:lnTo>
                  <a:pt x="2295" y="1568"/>
                </a:lnTo>
                <a:lnTo>
                  <a:pt x="2295" y="1556"/>
                </a:lnTo>
                <a:lnTo>
                  <a:pt x="2293" y="1543"/>
                </a:lnTo>
                <a:moveTo>
                  <a:pt x="2998" y="1521"/>
                </a:moveTo>
                <a:lnTo>
                  <a:pt x="2993" y="1552"/>
                </a:lnTo>
                <a:moveTo>
                  <a:pt x="2989" y="1586"/>
                </a:moveTo>
                <a:lnTo>
                  <a:pt x="2993" y="1552"/>
                </a:lnTo>
                <a:moveTo>
                  <a:pt x="2970" y="1715"/>
                </a:moveTo>
                <a:lnTo>
                  <a:pt x="2973" y="1694"/>
                </a:lnTo>
                <a:moveTo>
                  <a:pt x="2666" y="1700"/>
                </a:moveTo>
                <a:lnTo>
                  <a:pt x="2665" y="1700"/>
                </a:lnTo>
                <a:moveTo>
                  <a:pt x="2666" y="1700"/>
                </a:moveTo>
                <a:lnTo>
                  <a:pt x="2668" y="1700"/>
                </a:lnTo>
                <a:lnTo>
                  <a:pt x="2679" y="1704"/>
                </a:lnTo>
                <a:lnTo>
                  <a:pt x="2685" y="1706"/>
                </a:lnTo>
                <a:moveTo>
                  <a:pt x="3158" y="792"/>
                </a:moveTo>
                <a:lnTo>
                  <a:pt x="3108" y="817"/>
                </a:lnTo>
                <a:lnTo>
                  <a:pt x="3081" y="829"/>
                </a:lnTo>
                <a:lnTo>
                  <a:pt x="3074" y="832"/>
                </a:lnTo>
                <a:moveTo>
                  <a:pt x="3153" y="788"/>
                </a:moveTo>
                <a:lnTo>
                  <a:pt x="3181" y="776"/>
                </a:lnTo>
                <a:lnTo>
                  <a:pt x="3259" y="750"/>
                </a:lnTo>
                <a:lnTo>
                  <a:pt x="3277" y="744"/>
                </a:lnTo>
                <a:lnTo>
                  <a:pt x="3281" y="743"/>
                </a:lnTo>
                <a:lnTo>
                  <a:pt x="3291" y="739"/>
                </a:lnTo>
                <a:lnTo>
                  <a:pt x="3301" y="736"/>
                </a:lnTo>
                <a:moveTo>
                  <a:pt x="2577" y="925"/>
                </a:moveTo>
                <a:lnTo>
                  <a:pt x="2557" y="936"/>
                </a:lnTo>
                <a:lnTo>
                  <a:pt x="2467" y="984"/>
                </a:lnTo>
                <a:lnTo>
                  <a:pt x="2458" y="989"/>
                </a:lnTo>
                <a:lnTo>
                  <a:pt x="2454" y="992"/>
                </a:lnTo>
                <a:lnTo>
                  <a:pt x="2404" y="1020"/>
                </a:lnTo>
                <a:lnTo>
                  <a:pt x="2384" y="1035"/>
                </a:lnTo>
                <a:lnTo>
                  <a:pt x="2379" y="1037"/>
                </a:lnTo>
                <a:lnTo>
                  <a:pt x="2368" y="1044"/>
                </a:lnTo>
                <a:lnTo>
                  <a:pt x="2348" y="1053"/>
                </a:lnTo>
                <a:lnTo>
                  <a:pt x="2326" y="1066"/>
                </a:lnTo>
                <a:lnTo>
                  <a:pt x="2294" y="1085"/>
                </a:lnTo>
                <a:moveTo>
                  <a:pt x="3056" y="971"/>
                </a:moveTo>
                <a:lnTo>
                  <a:pt x="3046" y="944"/>
                </a:lnTo>
                <a:lnTo>
                  <a:pt x="3038" y="929"/>
                </a:lnTo>
                <a:moveTo>
                  <a:pt x="3143" y="2044"/>
                </a:moveTo>
                <a:lnTo>
                  <a:pt x="3122" y="2029"/>
                </a:lnTo>
                <a:lnTo>
                  <a:pt x="3115" y="2024"/>
                </a:lnTo>
                <a:moveTo>
                  <a:pt x="3143" y="2044"/>
                </a:moveTo>
                <a:lnTo>
                  <a:pt x="3170" y="2064"/>
                </a:lnTo>
                <a:lnTo>
                  <a:pt x="3174" y="2066"/>
                </a:lnTo>
                <a:moveTo>
                  <a:pt x="4248" y="582"/>
                </a:moveTo>
                <a:lnTo>
                  <a:pt x="4254" y="581"/>
                </a:lnTo>
                <a:moveTo>
                  <a:pt x="4248" y="582"/>
                </a:moveTo>
                <a:lnTo>
                  <a:pt x="4061" y="598"/>
                </a:lnTo>
                <a:lnTo>
                  <a:pt x="4017" y="601"/>
                </a:lnTo>
                <a:lnTo>
                  <a:pt x="4005" y="603"/>
                </a:lnTo>
                <a:lnTo>
                  <a:pt x="3982" y="604"/>
                </a:lnTo>
                <a:lnTo>
                  <a:pt x="3967" y="606"/>
                </a:lnTo>
                <a:lnTo>
                  <a:pt x="3914" y="610"/>
                </a:lnTo>
                <a:lnTo>
                  <a:pt x="3901" y="612"/>
                </a:lnTo>
                <a:lnTo>
                  <a:pt x="3854" y="615"/>
                </a:lnTo>
                <a:lnTo>
                  <a:pt x="3811" y="616"/>
                </a:lnTo>
                <a:lnTo>
                  <a:pt x="3780" y="619"/>
                </a:lnTo>
                <a:lnTo>
                  <a:pt x="3777" y="620"/>
                </a:lnTo>
                <a:moveTo>
                  <a:pt x="4406" y="572"/>
                </a:moveTo>
                <a:lnTo>
                  <a:pt x="4406" y="565"/>
                </a:lnTo>
                <a:moveTo>
                  <a:pt x="4406" y="565"/>
                </a:moveTo>
                <a:lnTo>
                  <a:pt x="4406" y="565"/>
                </a:lnTo>
                <a:lnTo>
                  <a:pt x="4510" y="554"/>
                </a:lnTo>
                <a:lnTo>
                  <a:pt x="4585" y="545"/>
                </a:lnTo>
                <a:lnTo>
                  <a:pt x="4590" y="545"/>
                </a:lnTo>
                <a:lnTo>
                  <a:pt x="4633" y="541"/>
                </a:lnTo>
                <a:lnTo>
                  <a:pt x="4663" y="538"/>
                </a:lnTo>
                <a:lnTo>
                  <a:pt x="4719" y="533"/>
                </a:lnTo>
                <a:lnTo>
                  <a:pt x="4747" y="531"/>
                </a:lnTo>
                <a:lnTo>
                  <a:pt x="4791" y="528"/>
                </a:lnTo>
                <a:lnTo>
                  <a:pt x="4807" y="526"/>
                </a:lnTo>
                <a:lnTo>
                  <a:pt x="4825" y="524"/>
                </a:lnTo>
                <a:lnTo>
                  <a:pt x="4860" y="522"/>
                </a:lnTo>
                <a:lnTo>
                  <a:pt x="4902" y="519"/>
                </a:lnTo>
                <a:lnTo>
                  <a:pt x="4910" y="519"/>
                </a:lnTo>
                <a:lnTo>
                  <a:pt x="4933" y="519"/>
                </a:lnTo>
                <a:moveTo>
                  <a:pt x="4406" y="565"/>
                </a:moveTo>
                <a:lnTo>
                  <a:pt x="4402" y="565"/>
                </a:lnTo>
                <a:lnTo>
                  <a:pt x="4374" y="568"/>
                </a:lnTo>
                <a:lnTo>
                  <a:pt x="4356" y="570"/>
                </a:lnTo>
                <a:lnTo>
                  <a:pt x="4254" y="581"/>
                </a:lnTo>
                <a:moveTo>
                  <a:pt x="4770" y="539"/>
                </a:moveTo>
                <a:lnTo>
                  <a:pt x="4751" y="548"/>
                </a:lnTo>
                <a:lnTo>
                  <a:pt x="4729" y="551"/>
                </a:lnTo>
                <a:lnTo>
                  <a:pt x="4648" y="557"/>
                </a:lnTo>
                <a:lnTo>
                  <a:pt x="4596" y="562"/>
                </a:lnTo>
                <a:lnTo>
                  <a:pt x="4590" y="562"/>
                </a:lnTo>
                <a:lnTo>
                  <a:pt x="4585" y="563"/>
                </a:lnTo>
                <a:lnTo>
                  <a:pt x="4568" y="565"/>
                </a:lnTo>
                <a:lnTo>
                  <a:pt x="4440" y="580"/>
                </a:lnTo>
                <a:lnTo>
                  <a:pt x="4387" y="584"/>
                </a:lnTo>
                <a:lnTo>
                  <a:pt x="4317" y="591"/>
                </a:lnTo>
                <a:lnTo>
                  <a:pt x="4258" y="597"/>
                </a:lnTo>
                <a:lnTo>
                  <a:pt x="4252" y="598"/>
                </a:lnTo>
                <a:lnTo>
                  <a:pt x="4141" y="608"/>
                </a:lnTo>
                <a:lnTo>
                  <a:pt x="4123" y="610"/>
                </a:lnTo>
                <a:lnTo>
                  <a:pt x="4098" y="612"/>
                </a:lnTo>
                <a:lnTo>
                  <a:pt x="4090" y="613"/>
                </a:lnTo>
                <a:lnTo>
                  <a:pt x="4032" y="618"/>
                </a:lnTo>
                <a:lnTo>
                  <a:pt x="4018" y="619"/>
                </a:lnTo>
                <a:lnTo>
                  <a:pt x="3959" y="624"/>
                </a:lnTo>
                <a:lnTo>
                  <a:pt x="3903" y="628"/>
                </a:lnTo>
                <a:lnTo>
                  <a:pt x="3814" y="636"/>
                </a:lnTo>
                <a:lnTo>
                  <a:pt x="3779" y="638"/>
                </a:lnTo>
                <a:lnTo>
                  <a:pt x="3763" y="636"/>
                </a:lnTo>
                <a:moveTo>
                  <a:pt x="4770" y="539"/>
                </a:moveTo>
                <a:lnTo>
                  <a:pt x="4750" y="542"/>
                </a:lnTo>
                <a:lnTo>
                  <a:pt x="4594" y="557"/>
                </a:lnTo>
                <a:lnTo>
                  <a:pt x="4590" y="557"/>
                </a:lnTo>
                <a:lnTo>
                  <a:pt x="4585" y="558"/>
                </a:lnTo>
                <a:lnTo>
                  <a:pt x="4406" y="577"/>
                </a:lnTo>
                <a:moveTo>
                  <a:pt x="3763" y="636"/>
                </a:moveTo>
                <a:lnTo>
                  <a:pt x="4032" y="612"/>
                </a:lnTo>
                <a:lnTo>
                  <a:pt x="4140" y="603"/>
                </a:lnTo>
                <a:lnTo>
                  <a:pt x="4249" y="593"/>
                </a:lnTo>
                <a:moveTo>
                  <a:pt x="4255" y="587"/>
                </a:moveTo>
                <a:lnTo>
                  <a:pt x="4406" y="572"/>
                </a:lnTo>
                <a:moveTo>
                  <a:pt x="4255" y="587"/>
                </a:moveTo>
                <a:lnTo>
                  <a:pt x="4256" y="592"/>
                </a:lnTo>
                <a:moveTo>
                  <a:pt x="4255" y="587"/>
                </a:moveTo>
                <a:lnTo>
                  <a:pt x="4254" y="581"/>
                </a:lnTo>
                <a:moveTo>
                  <a:pt x="6025" y="180"/>
                </a:moveTo>
                <a:lnTo>
                  <a:pt x="6028" y="189"/>
                </a:lnTo>
                <a:lnTo>
                  <a:pt x="6029" y="191"/>
                </a:lnTo>
                <a:lnTo>
                  <a:pt x="6030" y="200"/>
                </a:lnTo>
                <a:lnTo>
                  <a:pt x="6019" y="242"/>
                </a:lnTo>
                <a:lnTo>
                  <a:pt x="6003" y="318"/>
                </a:lnTo>
                <a:moveTo>
                  <a:pt x="6025" y="180"/>
                </a:moveTo>
                <a:lnTo>
                  <a:pt x="6021" y="172"/>
                </a:lnTo>
                <a:moveTo>
                  <a:pt x="6025" y="180"/>
                </a:moveTo>
                <a:lnTo>
                  <a:pt x="6038" y="176"/>
                </a:lnTo>
                <a:lnTo>
                  <a:pt x="6040" y="175"/>
                </a:lnTo>
                <a:lnTo>
                  <a:pt x="6064" y="166"/>
                </a:lnTo>
                <a:lnTo>
                  <a:pt x="6127" y="141"/>
                </a:lnTo>
                <a:lnTo>
                  <a:pt x="6181" y="120"/>
                </a:lnTo>
                <a:lnTo>
                  <a:pt x="6235" y="100"/>
                </a:lnTo>
                <a:lnTo>
                  <a:pt x="6277" y="84"/>
                </a:lnTo>
                <a:lnTo>
                  <a:pt x="6315" y="70"/>
                </a:lnTo>
                <a:lnTo>
                  <a:pt x="6370" y="49"/>
                </a:lnTo>
                <a:lnTo>
                  <a:pt x="6392" y="41"/>
                </a:lnTo>
                <a:lnTo>
                  <a:pt x="6396" y="39"/>
                </a:lnTo>
                <a:lnTo>
                  <a:pt x="6423" y="28"/>
                </a:lnTo>
                <a:moveTo>
                  <a:pt x="3466" y="2252"/>
                </a:moveTo>
                <a:lnTo>
                  <a:pt x="3468" y="2256"/>
                </a:lnTo>
                <a:lnTo>
                  <a:pt x="3470" y="2261"/>
                </a:lnTo>
                <a:lnTo>
                  <a:pt x="3478" y="2280"/>
                </a:lnTo>
                <a:moveTo>
                  <a:pt x="3478" y="2280"/>
                </a:moveTo>
                <a:lnTo>
                  <a:pt x="3455" y="2263"/>
                </a:lnTo>
                <a:moveTo>
                  <a:pt x="2872" y="1766"/>
                </a:moveTo>
                <a:lnTo>
                  <a:pt x="2881" y="1773"/>
                </a:lnTo>
                <a:lnTo>
                  <a:pt x="2921" y="1809"/>
                </a:lnTo>
                <a:lnTo>
                  <a:pt x="3096" y="1996"/>
                </a:lnTo>
                <a:lnTo>
                  <a:pt x="3119" y="2019"/>
                </a:lnTo>
                <a:lnTo>
                  <a:pt x="3135" y="2032"/>
                </a:lnTo>
                <a:lnTo>
                  <a:pt x="3141" y="2035"/>
                </a:lnTo>
                <a:moveTo>
                  <a:pt x="2872" y="1766"/>
                </a:moveTo>
                <a:lnTo>
                  <a:pt x="2847" y="1753"/>
                </a:lnTo>
                <a:lnTo>
                  <a:pt x="2802" y="1737"/>
                </a:lnTo>
                <a:moveTo>
                  <a:pt x="2799" y="1744"/>
                </a:moveTo>
                <a:lnTo>
                  <a:pt x="2802" y="1737"/>
                </a:lnTo>
                <a:moveTo>
                  <a:pt x="2802" y="1737"/>
                </a:moveTo>
                <a:lnTo>
                  <a:pt x="2793" y="1739"/>
                </a:lnTo>
                <a:moveTo>
                  <a:pt x="2793" y="1739"/>
                </a:moveTo>
                <a:lnTo>
                  <a:pt x="2799" y="1744"/>
                </a:lnTo>
                <a:moveTo>
                  <a:pt x="4808" y="532"/>
                </a:moveTo>
                <a:lnTo>
                  <a:pt x="4933" y="519"/>
                </a:lnTo>
                <a:moveTo>
                  <a:pt x="4808" y="532"/>
                </a:moveTo>
                <a:lnTo>
                  <a:pt x="4630" y="548"/>
                </a:lnTo>
                <a:lnTo>
                  <a:pt x="4590" y="552"/>
                </a:lnTo>
                <a:lnTo>
                  <a:pt x="4585" y="552"/>
                </a:lnTo>
                <a:lnTo>
                  <a:pt x="4511" y="561"/>
                </a:lnTo>
                <a:lnTo>
                  <a:pt x="4498" y="563"/>
                </a:lnTo>
                <a:lnTo>
                  <a:pt x="4406" y="572"/>
                </a:lnTo>
                <a:moveTo>
                  <a:pt x="4933" y="519"/>
                </a:moveTo>
                <a:lnTo>
                  <a:pt x="4964" y="516"/>
                </a:lnTo>
                <a:lnTo>
                  <a:pt x="5011" y="512"/>
                </a:lnTo>
                <a:moveTo>
                  <a:pt x="6014" y="176"/>
                </a:moveTo>
                <a:lnTo>
                  <a:pt x="6021" y="172"/>
                </a:lnTo>
                <a:moveTo>
                  <a:pt x="6014" y="176"/>
                </a:moveTo>
                <a:lnTo>
                  <a:pt x="6004" y="180"/>
                </a:lnTo>
                <a:lnTo>
                  <a:pt x="5958" y="196"/>
                </a:lnTo>
                <a:moveTo>
                  <a:pt x="6021" y="172"/>
                </a:moveTo>
                <a:lnTo>
                  <a:pt x="6050" y="161"/>
                </a:lnTo>
                <a:moveTo>
                  <a:pt x="6419" y="22"/>
                </a:moveTo>
                <a:lnTo>
                  <a:pt x="6394" y="32"/>
                </a:lnTo>
                <a:lnTo>
                  <a:pt x="6387" y="34"/>
                </a:lnTo>
                <a:moveTo>
                  <a:pt x="656" y="2067"/>
                </a:moveTo>
                <a:lnTo>
                  <a:pt x="652" y="2080"/>
                </a:lnTo>
                <a:moveTo>
                  <a:pt x="525" y="1468"/>
                </a:moveTo>
                <a:lnTo>
                  <a:pt x="509" y="1424"/>
                </a:lnTo>
                <a:moveTo>
                  <a:pt x="2022" y="1648"/>
                </a:moveTo>
                <a:lnTo>
                  <a:pt x="2021" y="1641"/>
                </a:lnTo>
                <a:lnTo>
                  <a:pt x="2021" y="1629"/>
                </a:lnTo>
                <a:lnTo>
                  <a:pt x="2022" y="1621"/>
                </a:lnTo>
                <a:moveTo>
                  <a:pt x="2022" y="1648"/>
                </a:moveTo>
                <a:lnTo>
                  <a:pt x="2021" y="1660"/>
                </a:lnTo>
                <a:lnTo>
                  <a:pt x="2019" y="1664"/>
                </a:lnTo>
                <a:lnTo>
                  <a:pt x="2016" y="1668"/>
                </a:lnTo>
                <a:lnTo>
                  <a:pt x="1886" y="1710"/>
                </a:lnTo>
                <a:lnTo>
                  <a:pt x="1814" y="1732"/>
                </a:lnTo>
                <a:moveTo>
                  <a:pt x="2022" y="1648"/>
                </a:moveTo>
                <a:lnTo>
                  <a:pt x="2026" y="1653"/>
                </a:lnTo>
                <a:lnTo>
                  <a:pt x="2034" y="1660"/>
                </a:lnTo>
                <a:lnTo>
                  <a:pt x="2042" y="1664"/>
                </a:lnTo>
                <a:lnTo>
                  <a:pt x="2050" y="1668"/>
                </a:lnTo>
                <a:moveTo>
                  <a:pt x="1814" y="1732"/>
                </a:moveTo>
                <a:lnTo>
                  <a:pt x="1769" y="1743"/>
                </a:lnTo>
                <a:lnTo>
                  <a:pt x="1751" y="1748"/>
                </a:lnTo>
                <a:moveTo>
                  <a:pt x="1814" y="1739"/>
                </a:moveTo>
                <a:lnTo>
                  <a:pt x="1781" y="1748"/>
                </a:lnTo>
                <a:lnTo>
                  <a:pt x="1753" y="1756"/>
                </a:lnTo>
                <a:moveTo>
                  <a:pt x="1814" y="1739"/>
                </a:moveTo>
                <a:lnTo>
                  <a:pt x="1857" y="1725"/>
                </a:lnTo>
                <a:lnTo>
                  <a:pt x="1891" y="1716"/>
                </a:lnTo>
                <a:lnTo>
                  <a:pt x="1927" y="1704"/>
                </a:lnTo>
                <a:lnTo>
                  <a:pt x="2027" y="1675"/>
                </a:lnTo>
                <a:lnTo>
                  <a:pt x="2036" y="1671"/>
                </a:lnTo>
                <a:lnTo>
                  <a:pt x="2050" y="1668"/>
                </a:lnTo>
                <a:moveTo>
                  <a:pt x="1697" y="1772"/>
                </a:moveTo>
                <a:lnTo>
                  <a:pt x="1660" y="1781"/>
                </a:lnTo>
                <a:lnTo>
                  <a:pt x="1643" y="1785"/>
                </a:lnTo>
                <a:moveTo>
                  <a:pt x="1697" y="1772"/>
                </a:moveTo>
                <a:lnTo>
                  <a:pt x="1708" y="1768"/>
                </a:lnTo>
                <a:lnTo>
                  <a:pt x="1738" y="1760"/>
                </a:lnTo>
                <a:lnTo>
                  <a:pt x="1753" y="1756"/>
                </a:lnTo>
                <a:moveTo>
                  <a:pt x="2077" y="1944"/>
                </a:moveTo>
                <a:lnTo>
                  <a:pt x="2077" y="1939"/>
                </a:lnTo>
                <a:moveTo>
                  <a:pt x="2077" y="1944"/>
                </a:moveTo>
                <a:lnTo>
                  <a:pt x="2077" y="1952"/>
                </a:lnTo>
                <a:moveTo>
                  <a:pt x="2077" y="1952"/>
                </a:moveTo>
                <a:lnTo>
                  <a:pt x="2078" y="1968"/>
                </a:lnTo>
                <a:moveTo>
                  <a:pt x="2078" y="1968"/>
                </a:moveTo>
                <a:lnTo>
                  <a:pt x="2079" y="1999"/>
                </a:lnTo>
                <a:moveTo>
                  <a:pt x="1534" y="668"/>
                </a:moveTo>
                <a:lnTo>
                  <a:pt x="1532" y="645"/>
                </a:lnTo>
                <a:moveTo>
                  <a:pt x="1552" y="843"/>
                </a:moveTo>
                <a:lnTo>
                  <a:pt x="1546" y="788"/>
                </a:lnTo>
                <a:lnTo>
                  <a:pt x="1545" y="774"/>
                </a:lnTo>
                <a:lnTo>
                  <a:pt x="1542" y="751"/>
                </a:lnTo>
                <a:lnTo>
                  <a:pt x="1538" y="717"/>
                </a:lnTo>
                <a:lnTo>
                  <a:pt x="1535" y="689"/>
                </a:lnTo>
                <a:moveTo>
                  <a:pt x="985" y="569"/>
                </a:moveTo>
                <a:lnTo>
                  <a:pt x="973" y="566"/>
                </a:lnTo>
                <a:lnTo>
                  <a:pt x="872" y="543"/>
                </a:lnTo>
                <a:lnTo>
                  <a:pt x="848" y="537"/>
                </a:lnTo>
                <a:lnTo>
                  <a:pt x="833" y="534"/>
                </a:lnTo>
                <a:lnTo>
                  <a:pt x="812" y="528"/>
                </a:lnTo>
                <a:lnTo>
                  <a:pt x="782" y="518"/>
                </a:lnTo>
                <a:lnTo>
                  <a:pt x="759" y="508"/>
                </a:lnTo>
                <a:lnTo>
                  <a:pt x="741" y="500"/>
                </a:lnTo>
                <a:lnTo>
                  <a:pt x="721" y="489"/>
                </a:lnTo>
                <a:lnTo>
                  <a:pt x="686" y="469"/>
                </a:lnTo>
                <a:lnTo>
                  <a:pt x="676" y="464"/>
                </a:lnTo>
                <a:lnTo>
                  <a:pt x="659" y="452"/>
                </a:lnTo>
                <a:lnTo>
                  <a:pt x="605" y="412"/>
                </a:lnTo>
                <a:lnTo>
                  <a:pt x="559" y="376"/>
                </a:lnTo>
                <a:lnTo>
                  <a:pt x="555" y="372"/>
                </a:lnTo>
                <a:lnTo>
                  <a:pt x="551" y="369"/>
                </a:lnTo>
                <a:lnTo>
                  <a:pt x="536" y="359"/>
                </a:lnTo>
                <a:lnTo>
                  <a:pt x="505" y="340"/>
                </a:lnTo>
                <a:lnTo>
                  <a:pt x="489" y="332"/>
                </a:lnTo>
                <a:lnTo>
                  <a:pt x="478" y="328"/>
                </a:lnTo>
                <a:lnTo>
                  <a:pt x="459" y="320"/>
                </a:lnTo>
                <a:lnTo>
                  <a:pt x="444" y="316"/>
                </a:lnTo>
                <a:lnTo>
                  <a:pt x="427" y="312"/>
                </a:lnTo>
                <a:lnTo>
                  <a:pt x="401" y="308"/>
                </a:lnTo>
                <a:lnTo>
                  <a:pt x="377" y="306"/>
                </a:lnTo>
                <a:lnTo>
                  <a:pt x="351" y="308"/>
                </a:lnTo>
                <a:lnTo>
                  <a:pt x="324" y="311"/>
                </a:lnTo>
                <a:lnTo>
                  <a:pt x="304" y="315"/>
                </a:lnTo>
                <a:lnTo>
                  <a:pt x="243" y="327"/>
                </a:lnTo>
                <a:lnTo>
                  <a:pt x="98" y="359"/>
                </a:lnTo>
                <a:lnTo>
                  <a:pt x="67" y="365"/>
                </a:lnTo>
                <a:moveTo>
                  <a:pt x="985" y="569"/>
                </a:moveTo>
                <a:lnTo>
                  <a:pt x="998" y="572"/>
                </a:lnTo>
                <a:moveTo>
                  <a:pt x="3705" y="2201"/>
                </a:moveTo>
                <a:lnTo>
                  <a:pt x="3700" y="2200"/>
                </a:lnTo>
                <a:lnTo>
                  <a:pt x="3652" y="2190"/>
                </a:lnTo>
                <a:moveTo>
                  <a:pt x="3033" y="2015"/>
                </a:moveTo>
                <a:lnTo>
                  <a:pt x="3030" y="2040"/>
                </a:lnTo>
                <a:moveTo>
                  <a:pt x="2997" y="2237"/>
                </a:moveTo>
                <a:lnTo>
                  <a:pt x="3015" y="2136"/>
                </a:lnTo>
                <a:lnTo>
                  <a:pt x="3030" y="2040"/>
                </a:lnTo>
                <a:moveTo>
                  <a:pt x="2074" y="1869"/>
                </a:moveTo>
                <a:lnTo>
                  <a:pt x="2075" y="1892"/>
                </a:lnTo>
                <a:moveTo>
                  <a:pt x="1162" y="1264"/>
                </a:moveTo>
                <a:lnTo>
                  <a:pt x="1179" y="1259"/>
                </a:lnTo>
                <a:lnTo>
                  <a:pt x="1190" y="1255"/>
                </a:lnTo>
                <a:lnTo>
                  <a:pt x="1198" y="1252"/>
                </a:lnTo>
                <a:moveTo>
                  <a:pt x="1643" y="1785"/>
                </a:moveTo>
                <a:lnTo>
                  <a:pt x="1642" y="1778"/>
                </a:lnTo>
                <a:moveTo>
                  <a:pt x="1642" y="1778"/>
                </a:moveTo>
                <a:lnTo>
                  <a:pt x="1648" y="1776"/>
                </a:lnTo>
                <a:lnTo>
                  <a:pt x="1706" y="1760"/>
                </a:lnTo>
                <a:lnTo>
                  <a:pt x="1709" y="1760"/>
                </a:lnTo>
                <a:lnTo>
                  <a:pt x="1751" y="1748"/>
                </a:lnTo>
                <a:moveTo>
                  <a:pt x="1607" y="1570"/>
                </a:moveTo>
                <a:lnTo>
                  <a:pt x="1642" y="1633"/>
                </a:lnTo>
                <a:lnTo>
                  <a:pt x="1646" y="1649"/>
                </a:lnTo>
                <a:lnTo>
                  <a:pt x="1645" y="1662"/>
                </a:lnTo>
                <a:lnTo>
                  <a:pt x="1644" y="1703"/>
                </a:lnTo>
                <a:lnTo>
                  <a:pt x="1642" y="1778"/>
                </a:lnTo>
                <a:moveTo>
                  <a:pt x="1642" y="1778"/>
                </a:moveTo>
                <a:lnTo>
                  <a:pt x="1635" y="1780"/>
                </a:lnTo>
                <a:lnTo>
                  <a:pt x="1624" y="1780"/>
                </a:lnTo>
                <a:lnTo>
                  <a:pt x="1620" y="1779"/>
                </a:lnTo>
                <a:lnTo>
                  <a:pt x="1617" y="1779"/>
                </a:lnTo>
                <a:moveTo>
                  <a:pt x="2254" y="2255"/>
                </a:moveTo>
                <a:lnTo>
                  <a:pt x="2182" y="2288"/>
                </a:lnTo>
                <a:lnTo>
                  <a:pt x="2165" y="2293"/>
                </a:lnTo>
                <a:lnTo>
                  <a:pt x="2133" y="2298"/>
                </a:lnTo>
                <a:lnTo>
                  <a:pt x="2130" y="2299"/>
                </a:lnTo>
                <a:lnTo>
                  <a:pt x="2094" y="2302"/>
                </a:lnTo>
                <a:lnTo>
                  <a:pt x="2092" y="2302"/>
                </a:lnTo>
                <a:moveTo>
                  <a:pt x="2079" y="2092"/>
                </a:moveTo>
                <a:lnTo>
                  <a:pt x="2079" y="2075"/>
                </a:lnTo>
                <a:moveTo>
                  <a:pt x="2079" y="2092"/>
                </a:moveTo>
                <a:lnTo>
                  <a:pt x="2079" y="2116"/>
                </a:lnTo>
                <a:moveTo>
                  <a:pt x="2080" y="2137"/>
                </a:moveTo>
                <a:lnTo>
                  <a:pt x="2080" y="2126"/>
                </a:lnTo>
                <a:lnTo>
                  <a:pt x="2079" y="2116"/>
                </a:lnTo>
                <a:moveTo>
                  <a:pt x="1590" y="2308"/>
                </a:moveTo>
                <a:lnTo>
                  <a:pt x="1592" y="2209"/>
                </a:lnTo>
                <a:lnTo>
                  <a:pt x="1595" y="2098"/>
                </a:lnTo>
                <a:lnTo>
                  <a:pt x="1595" y="2083"/>
                </a:lnTo>
                <a:lnTo>
                  <a:pt x="1595" y="2077"/>
                </a:lnTo>
                <a:moveTo>
                  <a:pt x="1163" y="1820"/>
                </a:moveTo>
                <a:lnTo>
                  <a:pt x="1169" y="1861"/>
                </a:lnTo>
                <a:moveTo>
                  <a:pt x="1321" y="1853"/>
                </a:moveTo>
                <a:lnTo>
                  <a:pt x="1299" y="1876"/>
                </a:lnTo>
                <a:moveTo>
                  <a:pt x="1321" y="1853"/>
                </a:moveTo>
                <a:lnTo>
                  <a:pt x="1335" y="1839"/>
                </a:lnTo>
                <a:lnTo>
                  <a:pt x="1341" y="1833"/>
                </a:lnTo>
                <a:lnTo>
                  <a:pt x="1344" y="1830"/>
                </a:lnTo>
                <a:lnTo>
                  <a:pt x="1349" y="1824"/>
                </a:lnTo>
                <a:lnTo>
                  <a:pt x="1372" y="1802"/>
                </a:lnTo>
                <a:moveTo>
                  <a:pt x="1431" y="1888"/>
                </a:moveTo>
                <a:lnTo>
                  <a:pt x="1428" y="1890"/>
                </a:lnTo>
                <a:lnTo>
                  <a:pt x="1403" y="1897"/>
                </a:lnTo>
                <a:lnTo>
                  <a:pt x="1401" y="1898"/>
                </a:lnTo>
                <a:lnTo>
                  <a:pt x="1395" y="1900"/>
                </a:lnTo>
                <a:lnTo>
                  <a:pt x="1393" y="1900"/>
                </a:lnTo>
                <a:moveTo>
                  <a:pt x="1431" y="1888"/>
                </a:moveTo>
                <a:lnTo>
                  <a:pt x="1437" y="1884"/>
                </a:lnTo>
                <a:lnTo>
                  <a:pt x="1439" y="1879"/>
                </a:lnTo>
                <a:lnTo>
                  <a:pt x="1438" y="1873"/>
                </a:lnTo>
                <a:lnTo>
                  <a:pt x="1437" y="1864"/>
                </a:lnTo>
                <a:lnTo>
                  <a:pt x="1437" y="1864"/>
                </a:lnTo>
                <a:lnTo>
                  <a:pt x="1434" y="1848"/>
                </a:lnTo>
                <a:lnTo>
                  <a:pt x="1432" y="1835"/>
                </a:lnTo>
                <a:lnTo>
                  <a:pt x="1430" y="1826"/>
                </a:lnTo>
                <a:lnTo>
                  <a:pt x="1429" y="1816"/>
                </a:lnTo>
                <a:lnTo>
                  <a:pt x="1426" y="1796"/>
                </a:lnTo>
                <a:lnTo>
                  <a:pt x="1424" y="1787"/>
                </a:lnTo>
                <a:lnTo>
                  <a:pt x="1420" y="1769"/>
                </a:lnTo>
                <a:moveTo>
                  <a:pt x="1264" y="1912"/>
                </a:moveTo>
                <a:lnTo>
                  <a:pt x="1258" y="1919"/>
                </a:lnTo>
                <a:lnTo>
                  <a:pt x="1252" y="1925"/>
                </a:lnTo>
                <a:moveTo>
                  <a:pt x="1264" y="1912"/>
                </a:moveTo>
                <a:lnTo>
                  <a:pt x="1285" y="1891"/>
                </a:lnTo>
                <a:lnTo>
                  <a:pt x="1299" y="1876"/>
                </a:lnTo>
                <a:moveTo>
                  <a:pt x="1252" y="1925"/>
                </a:moveTo>
                <a:lnTo>
                  <a:pt x="1225" y="1952"/>
                </a:lnTo>
                <a:moveTo>
                  <a:pt x="1225" y="1952"/>
                </a:moveTo>
                <a:lnTo>
                  <a:pt x="1203" y="1974"/>
                </a:lnTo>
                <a:lnTo>
                  <a:pt x="1194" y="1984"/>
                </a:lnTo>
                <a:moveTo>
                  <a:pt x="1397" y="1999"/>
                </a:moveTo>
                <a:lnTo>
                  <a:pt x="1398" y="2011"/>
                </a:lnTo>
                <a:moveTo>
                  <a:pt x="1398" y="2011"/>
                </a:moveTo>
                <a:lnTo>
                  <a:pt x="1399" y="2036"/>
                </a:lnTo>
                <a:lnTo>
                  <a:pt x="1399" y="2041"/>
                </a:lnTo>
                <a:moveTo>
                  <a:pt x="1402" y="2066"/>
                </a:moveTo>
                <a:lnTo>
                  <a:pt x="1399" y="2041"/>
                </a:lnTo>
                <a:moveTo>
                  <a:pt x="1464" y="2119"/>
                </a:moveTo>
                <a:lnTo>
                  <a:pt x="1496" y="2105"/>
                </a:lnTo>
                <a:lnTo>
                  <a:pt x="1518" y="2096"/>
                </a:lnTo>
                <a:moveTo>
                  <a:pt x="1464" y="2119"/>
                </a:moveTo>
                <a:lnTo>
                  <a:pt x="1444" y="2127"/>
                </a:lnTo>
                <a:moveTo>
                  <a:pt x="2061" y="1469"/>
                </a:moveTo>
                <a:lnTo>
                  <a:pt x="2061" y="1504"/>
                </a:lnTo>
                <a:lnTo>
                  <a:pt x="2061" y="1516"/>
                </a:lnTo>
                <a:moveTo>
                  <a:pt x="6003" y="318"/>
                </a:moveTo>
                <a:lnTo>
                  <a:pt x="5999" y="317"/>
                </a:lnTo>
                <a:moveTo>
                  <a:pt x="5999" y="317"/>
                </a:moveTo>
                <a:lnTo>
                  <a:pt x="5988" y="393"/>
                </a:lnTo>
                <a:moveTo>
                  <a:pt x="6275" y="1648"/>
                </a:moveTo>
                <a:lnTo>
                  <a:pt x="6273" y="1647"/>
                </a:lnTo>
                <a:moveTo>
                  <a:pt x="6214" y="1628"/>
                </a:moveTo>
                <a:lnTo>
                  <a:pt x="6229" y="1631"/>
                </a:lnTo>
                <a:lnTo>
                  <a:pt x="6273" y="1647"/>
                </a:lnTo>
                <a:moveTo>
                  <a:pt x="5830" y="247"/>
                </a:moveTo>
                <a:lnTo>
                  <a:pt x="5860" y="236"/>
                </a:lnTo>
                <a:moveTo>
                  <a:pt x="5830" y="247"/>
                </a:moveTo>
                <a:lnTo>
                  <a:pt x="5780" y="266"/>
                </a:lnTo>
                <a:moveTo>
                  <a:pt x="2056" y="425"/>
                </a:moveTo>
                <a:lnTo>
                  <a:pt x="2037" y="434"/>
                </a:lnTo>
                <a:moveTo>
                  <a:pt x="2056" y="425"/>
                </a:moveTo>
                <a:lnTo>
                  <a:pt x="2037" y="450"/>
                </a:lnTo>
                <a:moveTo>
                  <a:pt x="2056" y="425"/>
                </a:moveTo>
                <a:lnTo>
                  <a:pt x="2146" y="392"/>
                </a:lnTo>
                <a:moveTo>
                  <a:pt x="2037" y="450"/>
                </a:moveTo>
                <a:lnTo>
                  <a:pt x="2037" y="434"/>
                </a:lnTo>
                <a:moveTo>
                  <a:pt x="2037" y="434"/>
                </a:moveTo>
                <a:lnTo>
                  <a:pt x="2013" y="446"/>
                </a:lnTo>
                <a:moveTo>
                  <a:pt x="5955" y="206"/>
                </a:moveTo>
                <a:lnTo>
                  <a:pt x="5890" y="231"/>
                </a:lnTo>
                <a:moveTo>
                  <a:pt x="2377" y="304"/>
                </a:moveTo>
                <a:lnTo>
                  <a:pt x="2438" y="282"/>
                </a:lnTo>
                <a:lnTo>
                  <a:pt x="2464" y="264"/>
                </a:lnTo>
                <a:moveTo>
                  <a:pt x="2034" y="524"/>
                </a:moveTo>
                <a:lnTo>
                  <a:pt x="2036" y="560"/>
                </a:lnTo>
                <a:moveTo>
                  <a:pt x="2037" y="580"/>
                </a:moveTo>
                <a:lnTo>
                  <a:pt x="2036" y="560"/>
                </a:lnTo>
                <a:moveTo>
                  <a:pt x="2039" y="640"/>
                </a:moveTo>
                <a:lnTo>
                  <a:pt x="2038" y="614"/>
                </a:lnTo>
                <a:moveTo>
                  <a:pt x="2037" y="450"/>
                </a:moveTo>
                <a:lnTo>
                  <a:pt x="2036" y="458"/>
                </a:lnTo>
                <a:moveTo>
                  <a:pt x="4256" y="592"/>
                </a:moveTo>
                <a:lnTo>
                  <a:pt x="4249" y="593"/>
                </a:lnTo>
                <a:moveTo>
                  <a:pt x="4256" y="592"/>
                </a:moveTo>
                <a:lnTo>
                  <a:pt x="4406" y="577"/>
                </a:lnTo>
                <a:moveTo>
                  <a:pt x="1915" y="484"/>
                </a:moveTo>
                <a:lnTo>
                  <a:pt x="1906" y="488"/>
                </a:lnTo>
                <a:lnTo>
                  <a:pt x="1901" y="490"/>
                </a:lnTo>
                <a:lnTo>
                  <a:pt x="1896" y="491"/>
                </a:lnTo>
                <a:lnTo>
                  <a:pt x="1892" y="490"/>
                </a:lnTo>
                <a:lnTo>
                  <a:pt x="1887" y="488"/>
                </a:lnTo>
                <a:lnTo>
                  <a:pt x="1882" y="485"/>
                </a:lnTo>
                <a:lnTo>
                  <a:pt x="1876" y="481"/>
                </a:lnTo>
                <a:lnTo>
                  <a:pt x="1872" y="479"/>
                </a:lnTo>
                <a:lnTo>
                  <a:pt x="1868" y="476"/>
                </a:lnTo>
                <a:lnTo>
                  <a:pt x="1867" y="475"/>
                </a:lnTo>
                <a:moveTo>
                  <a:pt x="1692" y="535"/>
                </a:moveTo>
                <a:lnTo>
                  <a:pt x="1782" y="504"/>
                </a:lnTo>
                <a:lnTo>
                  <a:pt x="1865" y="476"/>
                </a:lnTo>
                <a:lnTo>
                  <a:pt x="1867" y="475"/>
                </a:lnTo>
                <a:moveTo>
                  <a:pt x="3854" y="1226"/>
                </a:moveTo>
                <a:lnTo>
                  <a:pt x="3808" y="1184"/>
                </a:lnTo>
                <a:lnTo>
                  <a:pt x="3691" y="1080"/>
                </a:lnTo>
                <a:lnTo>
                  <a:pt x="3682" y="1072"/>
                </a:lnTo>
                <a:lnTo>
                  <a:pt x="3656" y="1048"/>
                </a:lnTo>
                <a:lnTo>
                  <a:pt x="3573" y="975"/>
                </a:lnTo>
                <a:lnTo>
                  <a:pt x="3559" y="964"/>
                </a:lnTo>
                <a:lnTo>
                  <a:pt x="3539" y="946"/>
                </a:lnTo>
                <a:lnTo>
                  <a:pt x="3511" y="918"/>
                </a:lnTo>
                <a:lnTo>
                  <a:pt x="3500" y="908"/>
                </a:lnTo>
                <a:lnTo>
                  <a:pt x="3494" y="904"/>
                </a:lnTo>
                <a:lnTo>
                  <a:pt x="3474" y="884"/>
                </a:lnTo>
                <a:lnTo>
                  <a:pt x="3457" y="868"/>
                </a:lnTo>
                <a:lnTo>
                  <a:pt x="3432" y="844"/>
                </a:lnTo>
                <a:lnTo>
                  <a:pt x="3411" y="821"/>
                </a:lnTo>
                <a:lnTo>
                  <a:pt x="3386" y="792"/>
                </a:lnTo>
                <a:lnTo>
                  <a:pt x="3339" y="733"/>
                </a:lnTo>
                <a:lnTo>
                  <a:pt x="3336" y="730"/>
                </a:lnTo>
                <a:moveTo>
                  <a:pt x="3336" y="730"/>
                </a:moveTo>
                <a:lnTo>
                  <a:pt x="3343" y="728"/>
                </a:lnTo>
                <a:lnTo>
                  <a:pt x="3378" y="716"/>
                </a:lnTo>
                <a:lnTo>
                  <a:pt x="3404" y="707"/>
                </a:lnTo>
                <a:moveTo>
                  <a:pt x="5113" y="1488"/>
                </a:moveTo>
                <a:lnTo>
                  <a:pt x="5124" y="1415"/>
                </a:lnTo>
                <a:lnTo>
                  <a:pt x="5125" y="1402"/>
                </a:lnTo>
                <a:moveTo>
                  <a:pt x="5125" y="1295"/>
                </a:moveTo>
                <a:lnTo>
                  <a:pt x="5125" y="1357"/>
                </a:lnTo>
                <a:lnTo>
                  <a:pt x="5125" y="1402"/>
                </a:lnTo>
                <a:moveTo>
                  <a:pt x="5102" y="1570"/>
                </a:moveTo>
                <a:lnTo>
                  <a:pt x="5104" y="1552"/>
                </a:lnTo>
                <a:moveTo>
                  <a:pt x="5113" y="1488"/>
                </a:moveTo>
                <a:lnTo>
                  <a:pt x="5104" y="1552"/>
                </a:lnTo>
                <a:moveTo>
                  <a:pt x="5092" y="1661"/>
                </a:moveTo>
                <a:lnTo>
                  <a:pt x="5095" y="1630"/>
                </a:lnTo>
                <a:moveTo>
                  <a:pt x="5102" y="1570"/>
                </a:moveTo>
                <a:lnTo>
                  <a:pt x="5095" y="1630"/>
                </a:lnTo>
                <a:moveTo>
                  <a:pt x="5053" y="1819"/>
                </a:moveTo>
                <a:lnTo>
                  <a:pt x="5056" y="1790"/>
                </a:lnTo>
                <a:moveTo>
                  <a:pt x="5065" y="1763"/>
                </a:moveTo>
                <a:lnTo>
                  <a:pt x="5056" y="1790"/>
                </a:lnTo>
                <a:moveTo>
                  <a:pt x="4537" y="1841"/>
                </a:moveTo>
                <a:lnTo>
                  <a:pt x="4568" y="1867"/>
                </a:lnTo>
                <a:moveTo>
                  <a:pt x="4574" y="1872"/>
                </a:moveTo>
                <a:lnTo>
                  <a:pt x="4568" y="1867"/>
                </a:lnTo>
                <a:moveTo>
                  <a:pt x="5051" y="1892"/>
                </a:moveTo>
                <a:lnTo>
                  <a:pt x="5036" y="1880"/>
                </a:lnTo>
                <a:lnTo>
                  <a:pt x="5034" y="1877"/>
                </a:lnTo>
                <a:lnTo>
                  <a:pt x="5033" y="1875"/>
                </a:lnTo>
                <a:moveTo>
                  <a:pt x="5053" y="1819"/>
                </a:moveTo>
                <a:lnTo>
                  <a:pt x="5052" y="1829"/>
                </a:lnTo>
                <a:lnTo>
                  <a:pt x="5033" y="1875"/>
                </a:lnTo>
                <a:moveTo>
                  <a:pt x="5018" y="1956"/>
                </a:moveTo>
                <a:lnTo>
                  <a:pt x="5051" y="1892"/>
                </a:lnTo>
                <a:moveTo>
                  <a:pt x="4552" y="1964"/>
                </a:moveTo>
                <a:lnTo>
                  <a:pt x="4554" y="1956"/>
                </a:lnTo>
                <a:lnTo>
                  <a:pt x="4559" y="1936"/>
                </a:lnTo>
                <a:lnTo>
                  <a:pt x="4560" y="1932"/>
                </a:lnTo>
                <a:lnTo>
                  <a:pt x="4562" y="1924"/>
                </a:lnTo>
                <a:lnTo>
                  <a:pt x="4561" y="1919"/>
                </a:lnTo>
                <a:lnTo>
                  <a:pt x="4560" y="1913"/>
                </a:lnTo>
                <a:lnTo>
                  <a:pt x="4557" y="1908"/>
                </a:lnTo>
                <a:lnTo>
                  <a:pt x="4555" y="1904"/>
                </a:lnTo>
                <a:lnTo>
                  <a:pt x="4548" y="1896"/>
                </a:lnTo>
                <a:moveTo>
                  <a:pt x="4451" y="1806"/>
                </a:moveTo>
                <a:lnTo>
                  <a:pt x="4492" y="1843"/>
                </a:lnTo>
                <a:lnTo>
                  <a:pt x="4548" y="1896"/>
                </a:lnTo>
                <a:moveTo>
                  <a:pt x="4691" y="1976"/>
                </a:moveTo>
                <a:lnTo>
                  <a:pt x="4702" y="1984"/>
                </a:lnTo>
                <a:lnTo>
                  <a:pt x="4732" y="2012"/>
                </a:lnTo>
                <a:lnTo>
                  <a:pt x="4750" y="2027"/>
                </a:lnTo>
                <a:lnTo>
                  <a:pt x="4765" y="2040"/>
                </a:lnTo>
                <a:lnTo>
                  <a:pt x="4790" y="2063"/>
                </a:lnTo>
                <a:lnTo>
                  <a:pt x="4810" y="2080"/>
                </a:lnTo>
                <a:lnTo>
                  <a:pt x="4818" y="2087"/>
                </a:lnTo>
                <a:lnTo>
                  <a:pt x="4821" y="2090"/>
                </a:lnTo>
                <a:lnTo>
                  <a:pt x="4839" y="2107"/>
                </a:lnTo>
                <a:lnTo>
                  <a:pt x="4883" y="2148"/>
                </a:lnTo>
                <a:lnTo>
                  <a:pt x="4927" y="2186"/>
                </a:lnTo>
                <a:moveTo>
                  <a:pt x="5010" y="2264"/>
                </a:moveTo>
                <a:lnTo>
                  <a:pt x="5004" y="2258"/>
                </a:lnTo>
                <a:lnTo>
                  <a:pt x="4927" y="2186"/>
                </a:lnTo>
                <a:moveTo>
                  <a:pt x="4959" y="2108"/>
                </a:moveTo>
                <a:lnTo>
                  <a:pt x="4933" y="2173"/>
                </a:lnTo>
                <a:lnTo>
                  <a:pt x="4929" y="2183"/>
                </a:lnTo>
                <a:lnTo>
                  <a:pt x="4927" y="2186"/>
                </a:lnTo>
                <a:moveTo>
                  <a:pt x="5126" y="1275"/>
                </a:moveTo>
                <a:lnTo>
                  <a:pt x="5125" y="1240"/>
                </a:lnTo>
                <a:lnTo>
                  <a:pt x="5125" y="1216"/>
                </a:lnTo>
                <a:lnTo>
                  <a:pt x="5125" y="1208"/>
                </a:lnTo>
                <a:lnTo>
                  <a:pt x="5126" y="1199"/>
                </a:lnTo>
                <a:lnTo>
                  <a:pt x="5126" y="1168"/>
                </a:lnTo>
                <a:moveTo>
                  <a:pt x="5125" y="1119"/>
                </a:moveTo>
                <a:lnTo>
                  <a:pt x="5125" y="1141"/>
                </a:lnTo>
                <a:lnTo>
                  <a:pt x="5126" y="1168"/>
                </a:lnTo>
                <a:moveTo>
                  <a:pt x="1853" y="1539"/>
                </a:moveTo>
                <a:lnTo>
                  <a:pt x="1872" y="1534"/>
                </a:lnTo>
                <a:lnTo>
                  <a:pt x="1882" y="1531"/>
                </a:lnTo>
                <a:lnTo>
                  <a:pt x="1907" y="1522"/>
                </a:lnTo>
                <a:lnTo>
                  <a:pt x="1912" y="1520"/>
                </a:lnTo>
                <a:lnTo>
                  <a:pt x="1939" y="1509"/>
                </a:lnTo>
                <a:moveTo>
                  <a:pt x="4552" y="1964"/>
                </a:moveTo>
                <a:lnTo>
                  <a:pt x="4548" y="1977"/>
                </a:lnTo>
                <a:moveTo>
                  <a:pt x="6024" y="2252"/>
                </a:moveTo>
                <a:lnTo>
                  <a:pt x="6024" y="2257"/>
                </a:lnTo>
                <a:lnTo>
                  <a:pt x="6023" y="2264"/>
                </a:lnTo>
                <a:lnTo>
                  <a:pt x="6022" y="2272"/>
                </a:lnTo>
                <a:lnTo>
                  <a:pt x="6019" y="2279"/>
                </a:lnTo>
                <a:lnTo>
                  <a:pt x="6017" y="2285"/>
                </a:lnTo>
                <a:lnTo>
                  <a:pt x="6015" y="2292"/>
                </a:lnTo>
                <a:lnTo>
                  <a:pt x="6008" y="2304"/>
                </a:lnTo>
                <a:moveTo>
                  <a:pt x="5634" y="332"/>
                </a:moveTo>
                <a:lnTo>
                  <a:pt x="5507" y="383"/>
                </a:lnTo>
                <a:moveTo>
                  <a:pt x="5634" y="332"/>
                </a:moveTo>
                <a:lnTo>
                  <a:pt x="5652" y="324"/>
                </a:lnTo>
                <a:lnTo>
                  <a:pt x="5738" y="291"/>
                </a:lnTo>
                <a:lnTo>
                  <a:pt x="5759" y="282"/>
                </a:lnTo>
                <a:moveTo>
                  <a:pt x="5784" y="272"/>
                </a:moveTo>
                <a:lnTo>
                  <a:pt x="5759" y="282"/>
                </a:lnTo>
                <a:moveTo>
                  <a:pt x="5784" y="272"/>
                </a:moveTo>
                <a:lnTo>
                  <a:pt x="5793" y="268"/>
                </a:lnTo>
                <a:lnTo>
                  <a:pt x="5890" y="231"/>
                </a:lnTo>
                <a:moveTo>
                  <a:pt x="5157" y="491"/>
                </a:moveTo>
                <a:lnTo>
                  <a:pt x="5153" y="492"/>
                </a:lnTo>
                <a:lnTo>
                  <a:pt x="5126" y="499"/>
                </a:lnTo>
                <a:lnTo>
                  <a:pt x="5097" y="506"/>
                </a:lnTo>
                <a:lnTo>
                  <a:pt x="5083" y="509"/>
                </a:lnTo>
                <a:lnTo>
                  <a:pt x="5056" y="514"/>
                </a:lnTo>
                <a:lnTo>
                  <a:pt x="5033" y="516"/>
                </a:lnTo>
                <a:moveTo>
                  <a:pt x="5157" y="491"/>
                </a:moveTo>
                <a:lnTo>
                  <a:pt x="5212" y="478"/>
                </a:lnTo>
                <a:lnTo>
                  <a:pt x="5230" y="474"/>
                </a:lnTo>
                <a:lnTo>
                  <a:pt x="5310" y="452"/>
                </a:lnTo>
                <a:lnTo>
                  <a:pt x="5345" y="441"/>
                </a:lnTo>
                <a:lnTo>
                  <a:pt x="5399" y="424"/>
                </a:lnTo>
                <a:lnTo>
                  <a:pt x="5417" y="418"/>
                </a:lnTo>
                <a:lnTo>
                  <a:pt x="5437" y="410"/>
                </a:lnTo>
                <a:lnTo>
                  <a:pt x="5476" y="395"/>
                </a:lnTo>
                <a:lnTo>
                  <a:pt x="5507" y="383"/>
                </a:lnTo>
                <a:moveTo>
                  <a:pt x="5087" y="740"/>
                </a:moveTo>
                <a:lnTo>
                  <a:pt x="5101" y="796"/>
                </a:lnTo>
                <a:lnTo>
                  <a:pt x="5105" y="810"/>
                </a:lnTo>
                <a:moveTo>
                  <a:pt x="5114" y="868"/>
                </a:moveTo>
                <a:lnTo>
                  <a:pt x="5112" y="836"/>
                </a:lnTo>
                <a:lnTo>
                  <a:pt x="5108" y="822"/>
                </a:lnTo>
                <a:lnTo>
                  <a:pt x="5105" y="810"/>
                </a:lnTo>
                <a:moveTo>
                  <a:pt x="5065" y="656"/>
                </a:moveTo>
                <a:lnTo>
                  <a:pt x="5063" y="646"/>
                </a:lnTo>
                <a:lnTo>
                  <a:pt x="5060" y="635"/>
                </a:lnTo>
                <a:lnTo>
                  <a:pt x="5055" y="612"/>
                </a:lnTo>
                <a:lnTo>
                  <a:pt x="5047" y="585"/>
                </a:lnTo>
                <a:lnTo>
                  <a:pt x="5038" y="548"/>
                </a:lnTo>
                <a:lnTo>
                  <a:pt x="5033" y="516"/>
                </a:lnTo>
                <a:moveTo>
                  <a:pt x="5083" y="729"/>
                </a:moveTo>
                <a:lnTo>
                  <a:pt x="5076" y="703"/>
                </a:lnTo>
                <a:lnTo>
                  <a:pt x="5065" y="656"/>
                </a:lnTo>
                <a:moveTo>
                  <a:pt x="6105" y="355"/>
                </a:moveTo>
                <a:lnTo>
                  <a:pt x="6158" y="372"/>
                </a:lnTo>
                <a:lnTo>
                  <a:pt x="6183" y="380"/>
                </a:lnTo>
                <a:moveTo>
                  <a:pt x="6277" y="409"/>
                </a:moveTo>
                <a:lnTo>
                  <a:pt x="6265" y="405"/>
                </a:lnTo>
                <a:lnTo>
                  <a:pt x="6183" y="380"/>
                </a:lnTo>
                <a:moveTo>
                  <a:pt x="5958" y="196"/>
                </a:moveTo>
                <a:lnTo>
                  <a:pt x="5923" y="210"/>
                </a:lnTo>
                <a:moveTo>
                  <a:pt x="6050" y="161"/>
                </a:moveTo>
                <a:lnTo>
                  <a:pt x="6063" y="156"/>
                </a:lnTo>
                <a:moveTo>
                  <a:pt x="5883" y="1290"/>
                </a:moveTo>
                <a:lnTo>
                  <a:pt x="5865" y="1232"/>
                </a:lnTo>
                <a:lnTo>
                  <a:pt x="5853" y="1185"/>
                </a:lnTo>
                <a:moveTo>
                  <a:pt x="5883" y="1290"/>
                </a:moveTo>
                <a:lnTo>
                  <a:pt x="5886" y="1301"/>
                </a:lnTo>
                <a:lnTo>
                  <a:pt x="5893" y="1316"/>
                </a:lnTo>
                <a:lnTo>
                  <a:pt x="5907" y="1340"/>
                </a:lnTo>
                <a:moveTo>
                  <a:pt x="4242" y="1717"/>
                </a:moveTo>
                <a:lnTo>
                  <a:pt x="4261" y="1724"/>
                </a:lnTo>
                <a:moveTo>
                  <a:pt x="4286" y="1732"/>
                </a:moveTo>
                <a:lnTo>
                  <a:pt x="4275" y="1728"/>
                </a:lnTo>
                <a:lnTo>
                  <a:pt x="4261" y="1724"/>
                </a:lnTo>
                <a:moveTo>
                  <a:pt x="4043" y="1642"/>
                </a:moveTo>
                <a:lnTo>
                  <a:pt x="4039" y="1640"/>
                </a:lnTo>
                <a:moveTo>
                  <a:pt x="4022" y="1632"/>
                </a:moveTo>
                <a:lnTo>
                  <a:pt x="4039" y="1640"/>
                </a:lnTo>
                <a:moveTo>
                  <a:pt x="1324" y="624"/>
                </a:moveTo>
                <a:lnTo>
                  <a:pt x="1329" y="624"/>
                </a:lnTo>
                <a:lnTo>
                  <a:pt x="1346" y="624"/>
                </a:lnTo>
                <a:lnTo>
                  <a:pt x="1359" y="621"/>
                </a:lnTo>
                <a:moveTo>
                  <a:pt x="1131" y="1272"/>
                </a:moveTo>
                <a:lnTo>
                  <a:pt x="1146" y="1268"/>
                </a:lnTo>
                <a:lnTo>
                  <a:pt x="1162" y="1264"/>
                </a:lnTo>
                <a:moveTo>
                  <a:pt x="1106" y="1280"/>
                </a:moveTo>
                <a:lnTo>
                  <a:pt x="1131" y="1272"/>
                </a:lnTo>
                <a:moveTo>
                  <a:pt x="1106" y="1280"/>
                </a:moveTo>
                <a:lnTo>
                  <a:pt x="1101" y="1281"/>
                </a:lnTo>
                <a:moveTo>
                  <a:pt x="895" y="1350"/>
                </a:moveTo>
                <a:lnTo>
                  <a:pt x="924" y="1340"/>
                </a:lnTo>
                <a:moveTo>
                  <a:pt x="1083" y="1570"/>
                </a:moveTo>
                <a:lnTo>
                  <a:pt x="1077" y="1573"/>
                </a:lnTo>
                <a:lnTo>
                  <a:pt x="1065" y="1580"/>
                </a:lnTo>
                <a:lnTo>
                  <a:pt x="1029" y="1608"/>
                </a:lnTo>
                <a:moveTo>
                  <a:pt x="1206" y="1745"/>
                </a:moveTo>
                <a:lnTo>
                  <a:pt x="1194" y="1751"/>
                </a:lnTo>
                <a:lnTo>
                  <a:pt x="1190" y="1753"/>
                </a:lnTo>
                <a:lnTo>
                  <a:pt x="1182" y="1757"/>
                </a:lnTo>
                <a:moveTo>
                  <a:pt x="3508" y="671"/>
                </a:moveTo>
                <a:lnTo>
                  <a:pt x="3451" y="690"/>
                </a:lnTo>
                <a:lnTo>
                  <a:pt x="3431" y="698"/>
                </a:lnTo>
                <a:lnTo>
                  <a:pt x="3404" y="707"/>
                </a:lnTo>
                <a:moveTo>
                  <a:pt x="592" y="1971"/>
                </a:moveTo>
                <a:lnTo>
                  <a:pt x="590" y="1944"/>
                </a:lnTo>
                <a:lnTo>
                  <a:pt x="590" y="1940"/>
                </a:lnTo>
                <a:moveTo>
                  <a:pt x="597" y="1976"/>
                </a:moveTo>
                <a:lnTo>
                  <a:pt x="599" y="1990"/>
                </a:lnTo>
                <a:lnTo>
                  <a:pt x="600" y="1993"/>
                </a:lnTo>
                <a:lnTo>
                  <a:pt x="602" y="2003"/>
                </a:lnTo>
                <a:lnTo>
                  <a:pt x="604" y="2006"/>
                </a:lnTo>
                <a:lnTo>
                  <a:pt x="605" y="2009"/>
                </a:lnTo>
                <a:lnTo>
                  <a:pt x="614" y="2020"/>
                </a:lnTo>
                <a:lnTo>
                  <a:pt x="629" y="2030"/>
                </a:lnTo>
                <a:moveTo>
                  <a:pt x="597" y="1976"/>
                </a:moveTo>
                <a:lnTo>
                  <a:pt x="595" y="1973"/>
                </a:lnTo>
                <a:lnTo>
                  <a:pt x="592" y="1971"/>
                </a:lnTo>
                <a:moveTo>
                  <a:pt x="1518" y="2096"/>
                </a:moveTo>
                <a:lnTo>
                  <a:pt x="1529" y="2091"/>
                </a:lnTo>
                <a:lnTo>
                  <a:pt x="1568" y="2076"/>
                </a:lnTo>
                <a:lnTo>
                  <a:pt x="1579" y="2070"/>
                </a:lnTo>
                <a:lnTo>
                  <a:pt x="1582" y="2068"/>
                </a:lnTo>
                <a:moveTo>
                  <a:pt x="5780" y="266"/>
                </a:moveTo>
                <a:lnTo>
                  <a:pt x="5768" y="271"/>
                </a:lnTo>
                <a:lnTo>
                  <a:pt x="5694" y="300"/>
                </a:lnTo>
                <a:moveTo>
                  <a:pt x="2078" y="2068"/>
                </a:moveTo>
                <a:lnTo>
                  <a:pt x="2079" y="2075"/>
                </a:lnTo>
                <a:moveTo>
                  <a:pt x="1563" y="948"/>
                </a:moveTo>
                <a:lnTo>
                  <a:pt x="1556" y="878"/>
                </a:lnTo>
                <a:lnTo>
                  <a:pt x="1556" y="875"/>
                </a:lnTo>
                <a:lnTo>
                  <a:pt x="1553" y="857"/>
                </a:lnTo>
                <a:lnTo>
                  <a:pt x="1552" y="843"/>
                </a:lnTo>
                <a:moveTo>
                  <a:pt x="2253" y="2142"/>
                </a:moveTo>
                <a:lnTo>
                  <a:pt x="2252" y="2142"/>
                </a:lnTo>
                <a:lnTo>
                  <a:pt x="2182" y="2156"/>
                </a:lnTo>
                <a:moveTo>
                  <a:pt x="2084" y="2218"/>
                </a:moveTo>
                <a:lnTo>
                  <a:pt x="2084" y="2204"/>
                </a:lnTo>
                <a:moveTo>
                  <a:pt x="2084" y="2218"/>
                </a:moveTo>
                <a:lnTo>
                  <a:pt x="2086" y="2242"/>
                </a:lnTo>
                <a:moveTo>
                  <a:pt x="2182" y="2156"/>
                </a:moveTo>
                <a:lnTo>
                  <a:pt x="2151" y="2160"/>
                </a:lnTo>
                <a:lnTo>
                  <a:pt x="2116" y="2164"/>
                </a:lnTo>
                <a:lnTo>
                  <a:pt x="2086" y="2167"/>
                </a:lnTo>
                <a:moveTo>
                  <a:pt x="2072" y="1809"/>
                </a:moveTo>
                <a:lnTo>
                  <a:pt x="2072" y="1805"/>
                </a:lnTo>
                <a:moveTo>
                  <a:pt x="2072" y="1809"/>
                </a:moveTo>
                <a:lnTo>
                  <a:pt x="2073" y="1851"/>
                </a:lnTo>
                <a:moveTo>
                  <a:pt x="2077" y="1939"/>
                </a:moveTo>
                <a:lnTo>
                  <a:pt x="2075" y="1892"/>
                </a:lnTo>
                <a:moveTo>
                  <a:pt x="2069" y="1754"/>
                </a:moveTo>
                <a:lnTo>
                  <a:pt x="2071" y="1774"/>
                </a:lnTo>
                <a:moveTo>
                  <a:pt x="2298" y="1744"/>
                </a:moveTo>
                <a:lnTo>
                  <a:pt x="2300" y="1772"/>
                </a:lnTo>
                <a:lnTo>
                  <a:pt x="2302" y="1792"/>
                </a:lnTo>
                <a:lnTo>
                  <a:pt x="2303" y="1796"/>
                </a:lnTo>
                <a:lnTo>
                  <a:pt x="2303" y="1806"/>
                </a:lnTo>
                <a:lnTo>
                  <a:pt x="2305" y="1819"/>
                </a:lnTo>
                <a:lnTo>
                  <a:pt x="2309" y="1842"/>
                </a:lnTo>
                <a:moveTo>
                  <a:pt x="2296" y="1700"/>
                </a:moveTo>
                <a:lnTo>
                  <a:pt x="2297" y="1670"/>
                </a:lnTo>
                <a:moveTo>
                  <a:pt x="1445" y="1719"/>
                </a:moveTo>
                <a:lnTo>
                  <a:pt x="1446" y="1726"/>
                </a:lnTo>
                <a:lnTo>
                  <a:pt x="1433" y="1739"/>
                </a:lnTo>
                <a:moveTo>
                  <a:pt x="1445" y="1719"/>
                </a:moveTo>
                <a:lnTo>
                  <a:pt x="1436" y="1721"/>
                </a:lnTo>
                <a:lnTo>
                  <a:pt x="1427" y="1730"/>
                </a:lnTo>
                <a:lnTo>
                  <a:pt x="1424" y="1732"/>
                </a:lnTo>
                <a:lnTo>
                  <a:pt x="1422" y="1736"/>
                </a:lnTo>
                <a:lnTo>
                  <a:pt x="1419" y="1737"/>
                </a:lnTo>
                <a:lnTo>
                  <a:pt x="1412" y="1746"/>
                </a:lnTo>
                <a:lnTo>
                  <a:pt x="1410" y="1748"/>
                </a:lnTo>
                <a:moveTo>
                  <a:pt x="1445" y="1719"/>
                </a:moveTo>
                <a:lnTo>
                  <a:pt x="1447" y="1718"/>
                </a:lnTo>
                <a:lnTo>
                  <a:pt x="1472" y="1689"/>
                </a:lnTo>
                <a:lnTo>
                  <a:pt x="1483" y="1678"/>
                </a:lnTo>
                <a:moveTo>
                  <a:pt x="1495" y="1665"/>
                </a:moveTo>
                <a:lnTo>
                  <a:pt x="1489" y="1672"/>
                </a:lnTo>
                <a:lnTo>
                  <a:pt x="1483" y="1678"/>
                </a:lnTo>
                <a:moveTo>
                  <a:pt x="1539" y="1774"/>
                </a:moveTo>
                <a:lnTo>
                  <a:pt x="1617" y="1779"/>
                </a:lnTo>
                <a:moveTo>
                  <a:pt x="1539" y="1774"/>
                </a:moveTo>
                <a:lnTo>
                  <a:pt x="1451" y="1767"/>
                </a:lnTo>
                <a:moveTo>
                  <a:pt x="3064" y="1886"/>
                </a:moveTo>
                <a:lnTo>
                  <a:pt x="3066" y="1886"/>
                </a:lnTo>
                <a:lnTo>
                  <a:pt x="3073" y="1887"/>
                </a:lnTo>
                <a:lnTo>
                  <a:pt x="3137" y="1892"/>
                </a:lnTo>
                <a:lnTo>
                  <a:pt x="3143" y="1892"/>
                </a:lnTo>
                <a:moveTo>
                  <a:pt x="3272" y="1907"/>
                </a:moveTo>
                <a:lnTo>
                  <a:pt x="3216" y="1900"/>
                </a:lnTo>
                <a:lnTo>
                  <a:pt x="3185" y="1897"/>
                </a:lnTo>
                <a:lnTo>
                  <a:pt x="3143" y="1892"/>
                </a:lnTo>
                <a:moveTo>
                  <a:pt x="3239" y="2106"/>
                </a:moveTo>
                <a:lnTo>
                  <a:pt x="3254" y="2119"/>
                </a:lnTo>
                <a:lnTo>
                  <a:pt x="3271" y="2132"/>
                </a:lnTo>
                <a:lnTo>
                  <a:pt x="3323" y="2169"/>
                </a:lnTo>
                <a:lnTo>
                  <a:pt x="3347" y="2186"/>
                </a:lnTo>
                <a:lnTo>
                  <a:pt x="3381" y="2210"/>
                </a:lnTo>
                <a:lnTo>
                  <a:pt x="3394" y="2220"/>
                </a:lnTo>
                <a:lnTo>
                  <a:pt x="3405" y="2226"/>
                </a:lnTo>
                <a:lnTo>
                  <a:pt x="3411" y="2231"/>
                </a:lnTo>
                <a:lnTo>
                  <a:pt x="3435" y="2248"/>
                </a:lnTo>
                <a:lnTo>
                  <a:pt x="3455" y="2263"/>
                </a:lnTo>
                <a:moveTo>
                  <a:pt x="3239" y="2106"/>
                </a:moveTo>
                <a:lnTo>
                  <a:pt x="3206" y="2083"/>
                </a:lnTo>
                <a:lnTo>
                  <a:pt x="3177" y="2061"/>
                </a:lnTo>
                <a:lnTo>
                  <a:pt x="3174" y="2058"/>
                </a:lnTo>
                <a:moveTo>
                  <a:pt x="3141" y="2035"/>
                </a:moveTo>
                <a:lnTo>
                  <a:pt x="3170" y="2056"/>
                </a:lnTo>
                <a:lnTo>
                  <a:pt x="3174" y="2058"/>
                </a:lnTo>
                <a:moveTo>
                  <a:pt x="3080" y="1047"/>
                </a:moveTo>
                <a:lnTo>
                  <a:pt x="3087" y="1069"/>
                </a:lnTo>
                <a:moveTo>
                  <a:pt x="3111" y="1143"/>
                </a:moveTo>
                <a:lnTo>
                  <a:pt x="3102" y="1115"/>
                </a:lnTo>
                <a:moveTo>
                  <a:pt x="3139" y="1240"/>
                </a:moveTo>
                <a:lnTo>
                  <a:pt x="3137" y="1232"/>
                </a:lnTo>
                <a:lnTo>
                  <a:pt x="3131" y="1212"/>
                </a:lnTo>
                <a:moveTo>
                  <a:pt x="3143" y="1272"/>
                </a:moveTo>
                <a:lnTo>
                  <a:pt x="3142" y="1266"/>
                </a:lnTo>
                <a:lnTo>
                  <a:pt x="3139" y="1240"/>
                </a:lnTo>
                <a:moveTo>
                  <a:pt x="3507" y="664"/>
                </a:moveTo>
                <a:lnTo>
                  <a:pt x="3512" y="663"/>
                </a:lnTo>
                <a:lnTo>
                  <a:pt x="3528" y="658"/>
                </a:lnTo>
                <a:lnTo>
                  <a:pt x="3561" y="649"/>
                </a:lnTo>
                <a:lnTo>
                  <a:pt x="3582" y="646"/>
                </a:lnTo>
                <a:lnTo>
                  <a:pt x="3606" y="642"/>
                </a:lnTo>
                <a:lnTo>
                  <a:pt x="3622" y="640"/>
                </a:lnTo>
                <a:lnTo>
                  <a:pt x="3637" y="638"/>
                </a:lnTo>
                <a:moveTo>
                  <a:pt x="3507" y="664"/>
                </a:moveTo>
                <a:lnTo>
                  <a:pt x="3448" y="685"/>
                </a:lnTo>
                <a:lnTo>
                  <a:pt x="3447" y="685"/>
                </a:lnTo>
                <a:lnTo>
                  <a:pt x="3447" y="685"/>
                </a:lnTo>
                <a:lnTo>
                  <a:pt x="3444" y="686"/>
                </a:lnTo>
                <a:lnTo>
                  <a:pt x="3430" y="691"/>
                </a:lnTo>
                <a:lnTo>
                  <a:pt x="3428" y="692"/>
                </a:lnTo>
                <a:lnTo>
                  <a:pt x="3402" y="700"/>
                </a:lnTo>
                <a:moveTo>
                  <a:pt x="3332" y="724"/>
                </a:moveTo>
                <a:lnTo>
                  <a:pt x="3351" y="718"/>
                </a:lnTo>
                <a:lnTo>
                  <a:pt x="3370" y="712"/>
                </a:lnTo>
                <a:lnTo>
                  <a:pt x="3386" y="706"/>
                </a:lnTo>
                <a:lnTo>
                  <a:pt x="3402" y="700"/>
                </a:lnTo>
                <a:moveTo>
                  <a:pt x="3332" y="724"/>
                </a:moveTo>
                <a:lnTo>
                  <a:pt x="3328" y="726"/>
                </a:lnTo>
                <a:lnTo>
                  <a:pt x="3325" y="727"/>
                </a:lnTo>
                <a:lnTo>
                  <a:pt x="3322" y="728"/>
                </a:lnTo>
                <a:lnTo>
                  <a:pt x="3308" y="733"/>
                </a:lnTo>
                <a:lnTo>
                  <a:pt x="3301" y="736"/>
                </a:lnTo>
                <a:moveTo>
                  <a:pt x="3048" y="1929"/>
                </a:moveTo>
                <a:lnTo>
                  <a:pt x="3040" y="1945"/>
                </a:lnTo>
                <a:lnTo>
                  <a:pt x="3040" y="1964"/>
                </a:lnTo>
                <a:lnTo>
                  <a:pt x="3039" y="1979"/>
                </a:lnTo>
                <a:lnTo>
                  <a:pt x="3033" y="2015"/>
                </a:lnTo>
                <a:moveTo>
                  <a:pt x="2970" y="1715"/>
                </a:moveTo>
                <a:lnTo>
                  <a:pt x="2965" y="1745"/>
                </a:lnTo>
                <a:moveTo>
                  <a:pt x="2960" y="1775"/>
                </a:moveTo>
                <a:lnTo>
                  <a:pt x="2965" y="1745"/>
                </a:lnTo>
                <a:moveTo>
                  <a:pt x="2951" y="1021"/>
                </a:moveTo>
                <a:lnTo>
                  <a:pt x="2956" y="1038"/>
                </a:lnTo>
                <a:moveTo>
                  <a:pt x="2946" y="1004"/>
                </a:moveTo>
                <a:lnTo>
                  <a:pt x="2938" y="976"/>
                </a:lnTo>
                <a:moveTo>
                  <a:pt x="2939" y="876"/>
                </a:moveTo>
                <a:lnTo>
                  <a:pt x="2937" y="950"/>
                </a:lnTo>
                <a:lnTo>
                  <a:pt x="2937" y="972"/>
                </a:lnTo>
                <a:lnTo>
                  <a:pt x="2938" y="976"/>
                </a:lnTo>
                <a:moveTo>
                  <a:pt x="2951" y="1021"/>
                </a:moveTo>
                <a:lnTo>
                  <a:pt x="2946" y="1004"/>
                </a:lnTo>
                <a:moveTo>
                  <a:pt x="3942" y="1305"/>
                </a:moveTo>
                <a:lnTo>
                  <a:pt x="3859" y="1230"/>
                </a:lnTo>
                <a:lnTo>
                  <a:pt x="3854" y="1226"/>
                </a:lnTo>
                <a:moveTo>
                  <a:pt x="2354" y="1261"/>
                </a:moveTo>
                <a:lnTo>
                  <a:pt x="2331" y="1276"/>
                </a:lnTo>
                <a:moveTo>
                  <a:pt x="2211" y="1349"/>
                </a:moveTo>
                <a:lnTo>
                  <a:pt x="2242" y="1332"/>
                </a:lnTo>
                <a:moveTo>
                  <a:pt x="2273" y="1311"/>
                </a:moveTo>
                <a:lnTo>
                  <a:pt x="2255" y="1323"/>
                </a:lnTo>
                <a:moveTo>
                  <a:pt x="2122" y="1184"/>
                </a:moveTo>
                <a:lnTo>
                  <a:pt x="2151" y="1168"/>
                </a:lnTo>
                <a:moveTo>
                  <a:pt x="2160" y="1384"/>
                </a:moveTo>
                <a:lnTo>
                  <a:pt x="2171" y="1377"/>
                </a:lnTo>
                <a:moveTo>
                  <a:pt x="2733" y="923"/>
                </a:moveTo>
                <a:lnTo>
                  <a:pt x="2751" y="956"/>
                </a:lnTo>
                <a:moveTo>
                  <a:pt x="2758" y="978"/>
                </a:moveTo>
                <a:lnTo>
                  <a:pt x="2758" y="984"/>
                </a:lnTo>
                <a:moveTo>
                  <a:pt x="2758" y="978"/>
                </a:moveTo>
                <a:lnTo>
                  <a:pt x="2756" y="972"/>
                </a:lnTo>
                <a:lnTo>
                  <a:pt x="2753" y="960"/>
                </a:lnTo>
                <a:lnTo>
                  <a:pt x="2751" y="956"/>
                </a:lnTo>
                <a:moveTo>
                  <a:pt x="1303" y="938"/>
                </a:moveTo>
                <a:lnTo>
                  <a:pt x="1315" y="979"/>
                </a:lnTo>
                <a:moveTo>
                  <a:pt x="1456" y="1188"/>
                </a:moveTo>
                <a:lnTo>
                  <a:pt x="1449" y="1178"/>
                </a:lnTo>
                <a:lnTo>
                  <a:pt x="1437" y="1167"/>
                </a:lnTo>
                <a:lnTo>
                  <a:pt x="1426" y="1160"/>
                </a:lnTo>
                <a:lnTo>
                  <a:pt x="1414" y="1156"/>
                </a:lnTo>
                <a:lnTo>
                  <a:pt x="1406" y="1155"/>
                </a:lnTo>
                <a:lnTo>
                  <a:pt x="1401" y="1156"/>
                </a:lnTo>
                <a:moveTo>
                  <a:pt x="1373" y="1218"/>
                </a:moveTo>
                <a:lnTo>
                  <a:pt x="1374" y="1215"/>
                </a:lnTo>
                <a:lnTo>
                  <a:pt x="1378" y="1200"/>
                </a:lnTo>
                <a:lnTo>
                  <a:pt x="1379" y="1193"/>
                </a:lnTo>
                <a:moveTo>
                  <a:pt x="1595" y="1240"/>
                </a:moveTo>
                <a:lnTo>
                  <a:pt x="1599" y="1262"/>
                </a:lnTo>
                <a:moveTo>
                  <a:pt x="878" y="1548"/>
                </a:moveTo>
                <a:lnTo>
                  <a:pt x="873" y="1544"/>
                </a:lnTo>
                <a:lnTo>
                  <a:pt x="857" y="1529"/>
                </a:lnTo>
                <a:moveTo>
                  <a:pt x="2525" y="220"/>
                </a:moveTo>
                <a:lnTo>
                  <a:pt x="2511" y="228"/>
                </a:lnTo>
                <a:lnTo>
                  <a:pt x="2498" y="238"/>
                </a:lnTo>
                <a:lnTo>
                  <a:pt x="2474" y="257"/>
                </a:lnTo>
                <a:lnTo>
                  <a:pt x="2464" y="264"/>
                </a:lnTo>
                <a:moveTo>
                  <a:pt x="6049" y="2132"/>
                </a:moveTo>
                <a:lnTo>
                  <a:pt x="6061" y="2112"/>
                </a:lnTo>
                <a:moveTo>
                  <a:pt x="6049" y="2132"/>
                </a:moveTo>
                <a:lnTo>
                  <a:pt x="6046" y="2137"/>
                </a:lnTo>
                <a:lnTo>
                  <a:pt x="6044" y="2142"/>
                </a:lnTo>
                <a:moveTo>
                  <a:pt x="6024" y="2252"/>
                </a:moveTo>
                <a:lnTo>
                  <a:pt x="6023" y="2244"/>
                </a:lnTo>
                <a:moveTo>
                  <a:pt x="6030" y="2168"/>
                </a:moveTo>
                <a:lnTo>
                  <a:pt x="6023" y="2184"/>
                </a:lnTo>
                <a:lnTo>
                  <a:pt x="6021" y="2189"/>
                </a:lnTo>
                <a:lnTo>
                  <a:pt x="6021" y="2198"/>
                </a:lnTo>
                <a:lnTo>
                  <a:pt x="6023" y="2244"/>
                </a:lnTo>
                <a:moveTo>
                  <a:pt x="6127" y="2267"/>
                </a:moveTo>
                <a:lnTo>
                  <a:pt x="6116" y="2265"/>
                </a:lnTo>
                <a:lnTo>
                  <a:pt x="6092" y="2261"/>
                </a:lnTo>
                <a:lnTo>
                  <a:pt x="6081" y="2260"/>
                </a:lnTo>
                <a:lnTo>
                  <a:pt x="6024" y="2252"/>
                </a:lnTo>
                <a:moveTo>
                  <a:pt x="6213" y="2283"/>
                </a:moveTo>
                <a:lnTo>
                  <a:pt x="6264" y="2294"/>
                </a:lnTo>
                <a:lnTo>
                  <a:pt x="6271" y="2296"/>
                </a:lnTo>
                <a:lnTo>
                  <a:pt x="6277" y="2299"/>
                </a:lnTo>
                <a:lnTo>
                  <a:pt x="6285" y="2304"/>
                </a:lnTo>
                <a:lnTo>
                  <a:pt x="6294" y="2308"/>
                </a:lnTo>
                <a:moveTo>
                  <a:pt x="5330" y="439"/>
                </a:moveTo>
                <a:lnTo>
                  <a:pt x="5349" y="432"/>
                </a:lnTo>
                <a:lnTo>
                  <a:pt x="5399" y="416"/>
                </a:lnTo>
                <a:lnTo>
                  <a:pt x="5412" y="412"/>
                </a:lnTo>
                <a:lnTo>
                  <a:pt x="5434" y="404"/>
                </a:lnTo>
                <a:lnTo>
                  <a:pt x="5443" y="400"/>
                </a:lnTo>
                <a:lnTo>
                  <a:pt x="5448" y="398"/>
                </a:lnTo>
                <a:moveTo>
                  <a:pt x="5330" y="439"/>
                </a:moveTo>
                <a:lnTo>
                  <a:pt x="5320" y="442"/>
                </a:lnTo>
                <a:lnTo>
                  <a:pt x="5307" y="446"/>
                </a:lnTo>
                <a:lnTo>
                  <a:pt x="5276" y="455"/>
                </a:lnTo>
                <a:moveTo>
                  <a:pt x="5276" y="455"/>
                </a:moveTo>
                <a:lnTo>
                  <a:pt x="5232" y="466"/>
                </a:lnTo>
                <a:lnTo>
                  <a:pt x="5223" y="468"/>
                </a:lnTo>
                <a:lnTo>
                  <a:pt x="5212" y="471"/>
                </a:lnTo>
                <a:lnTo>
                  <a:pt x="5203" y="473"/>
                </a:lnTo>
                <a:moveTo>
                  <a:pt x="5011" y="512"/>
                </a:moveTo>
                <a:lnTo>
                  <a:pt x="5037" y="509"/>
                </a:lnTo>
                <a:moveTo>
                  <a:pt x="1692" y="535"/>
                </a:moveTo>
                <a:lnTo>
                  <a:pt x="1569" y="576"/>
                </a:lnTo>
                <a:moveTo>
                  <a:pt x="2041" y="671"/>
                </a:moveTo>
                <a:lnTo>
                  <a:pt x="2039" y="640"/>
                </a:lnTo>
                <a:moveTo>
                  <a:pt x="5123" y="1032"/>
                </a:moveTo>
                <a:lnTo>
                  <a:pt x="5121" y="1007"/>
                </a:lnTo>
                <a:lnTo>
                  <a:pt x="5121" y="1000"/>
                </a:lnTo>
                <a:lnTo>
                  <a:pt x="5120" y="993"/>
                </a:lnTo>
                <a:lnTo>
                  <a:pt x="5119" y="984"/>
                </a:lnTo>
                <a:lnTo>
                  <a:pt x="5118" y="968"/>
                </a:lnTo>
                <a:moveTo>
                  <a:pt x="5114" y="868"/>
                </a:moveTo>
                <a:lnTo>
                  <a:pt x="5114" y="896"/>
                </a:lnTo>
                <a:lnTo>
                  <a:pt x="5115" y="908"/>
                </a:lnTo>
                <a:lnTo>
                  <a:pt x="5116" y="938"/>
                </a:lnTo>
                <a:lnTo>
                  <a:pt x="5118" y="968"/>
                </a:lnTo>
                <a:moveTo>
                  <a:pt x="5126" y="1275"/>
                </a:moveTo>
                <a:lnTo>
                  <a:pt x="5125" y="1295"/>
                </a:lnTo>
                <a:moveTo>
                  <a:pt x="2049" y="1048"/>
                </a:moveTo>
                <a:lnTo>
                  <a:pt x="2051" y="1074"/>
                </a:lnTo>
                <a:moveTo>
                  <a:pt x="1565" y="963"/>
                </a:moveTo>
                <a:lnTo>
                  <a:pt x="1579" y="1091"/>
                </a:lnTo>
                <a:lnTo>
                  <a:pt x="1588" y="1176"/>
                </a:lnTo>
                <a:lnTo>
                  <a:pt x="1593" y="1215"/>
                </a:lnTo>
                <a:lnTo>
                  <a:pt x="1595" y="1240"/>
                </a:lnTo>
                <a:moveTo>
                  <a:pt x="2732" y="107"/>
                </a:moveTo>
                <a:lnTo>
                  <a:pt x="2738" y="104"/>
                </a:lnTo>
                <a:moveTo>
                  <a:pt x="5126" y="1088"/>
                </a:moveTo>
                <a:lnTo>
                  <a:pt x="5126" y="1105"/>
                </a:lnTo>
                <a:lnTo>
                  <a:pt x="5125" y="1119"/>
                </a:lnTo>
                <a:moveTo>
                  <a:pt x="5853" y="1185"/>
                </a:moveTo>
                <a:lnTo>
                  <a:pt x="5845" y="1150"/>
                </a:lnTo>
                <a:lnTo>
                  <a:pt x="5845" y="1136"/>
                </a:lnTo>
                <a:lnTo>
                  <a:pt x="5845" y="1127"/>
                </a:lnTo>
                <a:moveTo>
                  <a:pt x="5845" y="1088"/>
                </a:moveTo>
                <a:lnTo>
                  <a:pt x="5844" y="1109"/>
                </a:lnTo>
                <a:lnTo>
                  <a:pt x="5845" y="1127"/>
                </a:lnTo>
                <a:moveTo>
                  <a:pt x="5861" y="932"/>
                </a:moveTo>
                <a:lnTo>
                  <a:pt x="5867" y="892"/>
                </a:lnTo>
                <a:lnTo>
                  <a:pt x="5873" y="870"/>
                </a:lnTo>
                <a:moveTo>
                  <a:pt x="5873" y="870"/>
                </a:moveTo>
                <a:lnTo>
                  <a:pt x="5881" y="837"/>
                </a:lnTo>
                <a:lnTo>
                  <a:pt x="5903" y="767"/>
                </a:lnTo>
                <a:moveTo>
                  <a:pt x="2042" y="777"/>
                </a:moveTo>
                <a:lnTo>
                  <a:pt x="2042" y="758"/>
                </a:lnTo>
                <a:lnTo>
                  <a:pt x="2042" y="753"/>
                </a:lnTo>
                <a:lnTo>
                  <a:pt x="2041" y="677"/>
                </a:lnTo>
                <a:lnTo>
                  <a:pt x="2041" y="671"/>
                </a:lnTo>
                <a:moveTo>
                  <a:pt x="5860" y="236"/>
                </a:moveTo>
                <a:lnTo>
                  <a:pt x="5923" y="210"/>
                </a:lnTo>
                <a:moveTo>
                  <a:pt x="1161" y="2008"/>
                </a:moveTo>
                <a:lnTo>
                  <a:pt x="1142" y="2027"/>
                </a:lnTo>
                <a:moveTo>
                  <a:pt x="5964" y="568"/>
                </a:moveTo>
                <a:lnTo>
                  <a:pt x="5969" y="548"/>
                </a:lnTo>
                <a:moveTo>
                  <a:pt x="5903" y="767"/>
                </a:moveTo>
                <a:lnTo>
                  <a:pt x="5923" y="700"/>
                </a:lnTo>
                <a:lnTo>
                  <a:pt x="5925" y="692"/>
                </a:lnTo>
                <a:moveTo>
                  <a:pt x="6423" y="452"/>
                </a:moveTo>
                <a:lnTo>
                  <a:pt x="6337" y="426"/>
                </a:lnTo>
                <a:lnTo>
                  <a:pt x="6329" y="424"/>
                </a:lnTo>
                <a:lnTo>
                  <a:pt x="6309" y="419"/>
                </a:lnTo>
                <a:lnTo>
                  <a:pt x="6300" y="416"/>
                </a:lnTo>
                <a:lnTo>
                  <a:pt x="6289" y="413"/>
                </a:lnTo>
                <a:lnTo>
                  <a:pt x="6277" y="409"/>
                </a:lnTo>
                <a:moveTo>
                  <a:pt x="5986" y="413"/>
                </a:moveTo>
                <a:lnTo>
                  <a:pt x="5988" y="393"/>
                </a:lnTo>
                <a:moveTo>
                  <a:pt x="5986" y="413"/>
                </a:moveTo>
                <a:lnTo>
                  <a:pt x="5975" y="491"/>
                </a:lnTo>
                <a:moveTo>
                  <a:pt x="1171" y="601"/>
                </a:moveTo>
                <a:lnTo>
                  <a:pt x="1178" y="598"/>
                </a:lnTo>
                <a:lnTo>
                  <a:pt x="1192" y="592"/>
                </a:lnTo>
                <a:moveTo>
                  <a:pt x="5969" y="548"/>
                </a:moveTo>
                <a:lnTo>
                  <a:pt x="5971" y="541"/>
                </a:lnTo>
                <a:lnTo>
                  <a:pt x="5973" y="512"/>
                </a:lnTo>
                <a:lnTo>
                  <a:pt x="5975" y="491"/>
                </a:lnTo>
                <a:moveTo>
                  <a:pt x="5925" y="692"/>
                </a:moveTo>
                <a:lnTo>
                  <a:pt x="5927" y="686"/>
                </a:lnTo>
                <a:moveTo>
                  <a:pt x="6052" y="1810"/>
                </a:moveTo>
                <a:lnTo>
                  <a:pt x="6050" y="1805"/>
                </a:lnTo>
                <a:lnTo>
                  <a:pt x="6050" y="1798"/>
                </a:lnTo>
                <a:lnTo>
                  <a:pt x="6050" y="1788"/>
                </a:lnTo>
                <a:lnTo>
                  <a:pt x="6054" y="1763"/>
                </a:lnTo>
                <a:lnTo>
                  <a:pt x="6057" y="1747"/>
                </a:lnTo>
                <a:moveTo>
                  <a:pt x="6052" y="1810"/>
                </a:moveTo>
                <a:lnTo>
                  <a:pt x="6058" y="1820"/>
                </a:lnTo>
                <a:lnTo>
                  <a:pt x="6069" y="1833"/>
                </a:lnTo>
                <a:lnTo>
                  <a:pt x="6075" y="1844"/>
                </a:lnTo>
                <a:lnTo>
                  <a:pt x="6078" y="1853"/>
                </a:lnTo>
                <a:lnTo>
                  <a:pt x="6079" y="1861"/>
                </a:lnTo>
                <a:lnTo>
                  <a:pt x="6081" y="1877"/>
                </a:lnTo>
                <a:lnTo>
                  <a:pt x="6081" y="1900"/>
                </a:lnTo>
                <a:moveTo>
                  <a:pt x="6064" y="2057"/>
                </a:moveTo>
                <a:lnTo>
                  <a:pt x="6062" y="2045"/>
                </a:lnTo>
                <a:lnTo>
                  <a:pt x="6064" y="2035"/>
                </a:lnTo>
                <a:lnTo>
                  <a:pt x="6075" y="2005"/>
                </a:lnTo>
                <a:lnTo>
                  <a:pt x="6077" y="1999"/>
                </a:lnTo>
                <a:lnTo>
                  <a:pt x="6078" y="1993"/>
                </a:lnTo>
                <a:moveTo>
                  <a:pt x="6081" y="1950"/>
                </a:moveTo>
                <a:lnTo>
                  <a:pt x="6081" y="1936"/>
                </a:lnTo>
                <a:moveTo>
                  <a:pt x="6081" y="1950"/>
                </a:moveTo>
                <a:lnTo>
                  <a:pt x="6078" y="1993"/>
                </a:lnTo>
                <a:moveTo>
                  <a:pt x="6081" y="1936"/>
                </a:moveTo>
                <a:lnTo>
                  <a:pt x="6081" y="1900"/>
                </a:lnTo>
                <a:moveTo>
                  <a:pt x="4462" y="1776"/>
                </a:moveTo>
                <a:lnTo>
                  <a:pt x="4537" y="1841"/>
                </a:lnTo>
                <a:moveTo>
                  <a:pt x="4188" y="1530"/>
                </a:moveTo>
                <a:lnTo>
                  <a:pt x="4216" y="1555"/>
                </a:lnTo>
                <a:lnTo>
                  <a:pt x="4253" y="1588"/>
                </a:lnTo>
                <a:lnTo>
                  <a:pt x="4419" y="1738"/>
                </a:lnTo>
                <a:lnTo>
                  <a:pt x="4436" y="1752"/>
                </a:lnTo>
                <a:lnTo>
                  <a:pt x="4462" y="1776"/>
                </a:lnTo>
                <a:moveTo>
                  <a:pt x="4123" y="1471"/>
                </a:moveTo>
                <a:lnTo>
                  <a:pt x="4142" y="1487"/>
                </a:lnTo>
                <a:lnTo>
                  <a:pt x="4188" y="1530"/>
                </a:lnTo>
                <a:moveTo>
                  <a:pt x="4123" y="1471"/>
                </a:moveTo>
                <a:lnTo>
                  <a:pt x="4120" y="1468"/>
                </a:lnTo>
                <a:lnTo>
                  <a:pt x="4106" y="1455"/>
                </a:lnTo>
                <a:lnTo>
                  <a:pt x="4093" y="1443"/>
                </a:lnTo>
                <a:lnTo>
                  <a:pt x="4055" y="1408"/>
                </a:lnTo>
                <a:lnTo>
                  <a:pt x="4040" y="1394"/>
                </a:lnTo>
                <a:lnTo>
                  <a:pt x="4026" y="1381"/>
                </a:lnTo>
                <a:lnTo>
                  <a:pt x="3942" y="1305"/>
                </a:lnTo>
                <a:moveTo>
                  <a:pt x="5079" y="1723"/>
                </a:moveTo>
                <a:lnTo>
                  <a:pt x="5092" y="1661"/>
                </a:lnTo>
                <a:moveTo>
                  <a:pt x="6173" y="1617"/>
                </a:moveTo>
                <a:lnTo>
                  <a:pt x="6214" y="1628"/>
                </a:lnTo>
                <a:moveTo>
                  <a:pt x="6097" y="1604"/>
                </a:moveTo>
                <a:lnTo>
                  <a:pt x="6173" y="1617"/>
                </a:lnTo>
                <a:moveTo>
                  <a:pt x="5999" y="1488"/>
                </a:moveTo>
                <a:lnTo>
                  <a:pt x="5984" y="1467"/>
                </a:lnTo>
                <a:lnTo>
                  <a:pt x="5969" y="1443"/>
                </a:lnTo>
                <a:moveTo>
                  <a:pt x="5999" y="1488"/>
                </a:moveTo>
                <a:lnTo>
                  <a:pt x="6030" y="1540"/>
                </a:lnTo>
                <a:lnTo>
                  <a:pt x="6042" y="1557"/>
                </a:lnTo>
                <a:lnTo>
                  <a:pt x="6055" y="1573"/>
                </a:lnTo>
                <a:lnTo>
                  <a:pt x="6066" y="1585"/>
                </a:lnTo>
                <a:lnTo>
                  <a:pt x="6084" y="1596"/>
                </a:lnTo>
                <a:lnTo>
                  <a:pt x="6090" y="1603"/>
                </a:lnTo>
                <a:moveTo>
                  <a:pt x="5907" y="1340"/>
                </a:moveTo>
                <a:lnTo>
                  <a:pt x="5942" y="1398"/>
                </a:lnTo>
                <a:lnTo>
                  <a:pt x="5950" y="1412"/>
                </a:lnTo>
                <a:lnTo>
                  <a:pt x="5969" y="1443"/>
                </a:lnTo>
                <a:moveTo>
                  <a:pt x="6323" y="1679"/>
                </a:moveTo>
                <a:lnTo>
                  <a:pt x="6302" y="1666"/>
                </a:lnTo>
                <a:moveTo>
                  <a:pt x="6294" y="1660"/>
                </a:moveTo>
                <a:lnTo>
                  <a:pt x="6302" y="1666"/>
                </a:lnTo>
                <a:moveTo>
                  <a:pt x="6385" y="1714"/>
                </a:moveTo>
                <a:lnTo>
                  <a:pt x="6412" y="1728"/>
                </a:lnTo>
                <a:lnTo>
                  <a:pt x="6413" y="1728"/>
                </a:lnTo>
                <a:moveTo>
                  <a:pt x="5037" y="509"/>
                </a:moveTo>
                <a:lnTo>
                  <a:pt x="5060" y="507"/>
                </a:lnTo>
                <a:lnTo>
                  <a:pt x="5075" y="504"/>
                </a:lnTo>
                <a:lnTo>
                  <a:pt x="5091" y="500"/>
                </a:lnTo>
                <a:lnTo>
                  <a:pt x="5190" y="476"/>
                </a:lnTo>
                <a:lnTo>
                  <a:pt x="5203" y="473"/>
                </a:lnTo>
                <a:moveTo>
                  <a:pt x="4658" y="1946"/>
                </a:moveTo>
                <a:lnTo>
                  <a:pt x="4684" y="1969"/>
                </a:lnTo>
                <a:lnTo>
                  <a:pt x="4691" y="1976"/>
                </a:lnTo>
                <a:moveTo>
                  <a:pt x="4658" y="1946"/>
                </a:moveTo>
                <a:lnTo>
                  <a:pt x="4574" y="1872"/>
                </a:lnTo>
                <a:moveTo>
                  <a:pt x="4999" y="2006"/>
                </a:moveTo>
                <a:lnTo>
                  <a:pt x="5000" y="2004"/>
                </a:lnTo>
                <a:moveTo>
                  <a:pt x="5018" y="1956"/>
                </a:moveTo>
                <a:lnTo>
                  <a:pt x="5007" y="1985"/>
                </a:lnTo>
                <a:lnTo>
                  <a:pt x="5000" y="2004"/>
                </a:lnTo>
                <a:moveTo>
                  <a:pt x="4979" y="2058"/>
                </a:moveTo>
                <a:lnTo>
                  <a:pt x="4963" y="2098"/>
                </a:lnTo>
                <a:lnTo>
                  <a:pt x="4959" y="2108"/>
                </a:lnTo>
                <a:moveTo>
                  <a:pt x="4999" y="2006"/>
                </a:moveTo>
                <a:lnTo>
                  <a:pt x="4992" y="2023"/>
                </a:lnTo>
                <a:moveTo>
                  <a:pt x="4991" y="2025"/>
                </a:moveTo>
                <a:lnTo>
                  <a:pt x="4992" y="2023"/>
                </a:lnTo>
                <a:moveTo>
                  <a:pt x="4985" y="2041"/>
                </a:moveTo>
                <a:lnTo>
                  <a:pt x="4979" y="2058"/>
                </a:lnTo>
                <a:moveTo>
                  <a:pt x="4991" y="2025"/>
                </a:moveTo>
                <a:lnTo>
                  <a:pt x="4985" y="2041"/>
                </a:lnTo>
                <a:moveTo>
                  <a:pt x="5065" y="1763"/>
                </a:moveTo>
                <a:lnTo>
                  <a:pt x="5079" y="1723"/>
                </a:lnTo>
                <a:moveTo>
                  <a:pt x="5083" y="729"/>
                </a:moveTo>
                <a:lnTo>
                  <a:pt x="5087" y="740"/>
                </a:lnTo>
                <a:moveTo>
                  <a:pt x="3990" y="2304"/>
                </a:moveTo>
                <a:lnTo>
                  <a:pt x="3951" y="2289"/>
                </a:lnTo>
                <a:moveTo>
                  <a:pt x="6057" y="338"/>
                </a:moveTo>
                <a:lnTo>
                  <a:pt x="6105" y="355"/>
                </a:lnTo>
                <a:moveTo>
                  <a:pt x="6345" y="1692"/>
                </a:moveTo>
                <a:lnTo>
                  <a:pt x="6335" y="1687"/>
                </a:lnTo>
                <a:lnTo>
                  <a:pt x="6323" y="1679"/>
                </a:lnTo>
                <a:moveTo>
                  <a:pt x="3990" y="2304"/>
                </a:moveTo>
                <a:lnTo>
                  <a:pt x="3994" y="2306"/>
                </a:lnTo>
                <a:moveTo>
                  <a:pt x="6285" y="1654"/>
                </a:moveTo>
                <a:lnTo>
                  <a:pt x="6294" y="1660"/>
                </a:lnTo>
                <a:moveTo>
                  <a:pt x="6132" y="2268"/>
                </a:moveTo>
                <a:lnTo>
                  <a:pt x="6153" y="2270"/>
                </a:lnTo>
                <a:moveTo>
                  <a:pt x="6185" y="2277"/>
                </a:moveTo>
                <a:lnTo>
                  <a:pt x="6153" y="2270"/>
                </a:lnTo>
                <a:moveTo>
                  <a:pt x="6127" y="2267"/>
                </a:moveTo>
                <a:lnTo>
                  <a:pt x="6132" y="2268"/>
                </a:lnTo>
                <a:moveTo>
                  <a:pt x="6057" y="1747"/>
                </a:moveTo>
                <a:lnTo>
                  <a:pt x="6079" y="1676"/>
                </a:lnTo>
                <a:moveTo>
                  <a:pt x="6044" y="2142"/>
                </a:moveTo>
                <a:lnTo>
                  <a:pt x="6030" y="2168"/>
                </a:lnTo>
                <a:moveTo>
                  <a:pt x="3990" y="1608"/>
                </a:moveTo>
                <a:lnTo>
                  <a:pt x="3996" y="1614"/>
                </a:lnTo>
                <a:lnTo>
                  <a:pt x="4002" y="1620"/>
                </a:lnTo>
                <a:lnTo>
                  <a:pt x="4011" y="1626"/>
                </a:lnTo>
                <a:lnTo>
                  <a:pt x="4022" y="1632"/>
                </a:lnTo>
                <a:moveTo>
                  <a:pt x="3746" y="1847"/>
                </a:moveTo>
                <a:lnTo>
                  <a:pt x="3746" y="1854"/>
                </a:lnTo>
                <a:moveTo>
                  <a:pt x="3745" y="1872"/>
                </a:moveTo>
                <a:lnTo>
                  <a:pt x="3746" y="1854"/>
                </a:lnTo>
                <a:moveTo>
                  <a:pt x="3751" y="1752"/>
                </a:moveTo>
                <a:lnTo>
                  <a:pt x="3751" y="1761"/>
                </a:lnTo>
                <a:moveTo>
                  <a:pt x="3750" y="1777"/>
                </a:moveTo>
                <a:lnTo>
                  <a:pt x="3751" y="1761"/>
                </a:lnTo>
                <a:moveTo>
                  <a:pt x="3751" y="1749"/>
                </a:moveTo>
                <a:lnTo>
                  <a:pt x="3751" y="1752"/>
                </a:lnTo>
                <a:moveTo>
                  <a:pt x="3751" y="1749"/>
                </a:moveTo>
                <a:lnTo>
                  <a:pt x="3752" y="1725"/>
                </a:lnTo>
                <a:moveTo>
                  <a:pt x="3748" y="1798"/>
                </a:moveTo>
                <a:lnTo>
                  <a:pt x="3750" y="1777"/>
                </a:lnTo>
                <a:moveTo>
                  <a:pt x="3747" y="1820"/>
                </a:moveTo>
                <a:lnTo>
                  <a:pt x="3746" y="1847"/>
                </a:lnTo>
                <a:moveTo>
                  <a:pt x="3745" y="1872"/>
                </a:moveTo>
                <a:lnTo>
                  <a:pt x="3744" y="1881"/>
                </a:lnTo>
                <a:moveTo>
                  <a:pt x="3743" y="1910"/>
                </a:moveTo>
                <a:lnTo>
                  <a:pt x="3744" y="1881"/>
                </a:lnTo>
                <a:moveTo>
                  <a:pt x="3743" y="1917"/>
                </a:moveTo>
                <a:lnTo>
                  <a:pt x="3740" y="1941"/>
                </a:lnTo>
                <a:moveTo>
                  <a:pt x="3739" y="1952"/>
                </a:moveTo>
                <a:lnTo>
                  <a:pt x="3740" y="1941"/>
                </a:lnTo>
                <a:moveTo>
                  <a:pt x="3743" y="1917"/>
                </a:moveTo>
                <a:lnTo>
                  <a:pt x="3743" y="1913"/>
                </a:lnTo>
                <a:lnTo>
                  <a:pt x="3743" y="1910"/>
                </a:lnTo>
                <a:moveTo>
                  <a:pt x="3734" y="2019"/>
                </a:moveTo>
                <a:lnTo>
                  <a:pt x="3736" y="1988"/>
                </a:lnTo>
                <a:moveTo>
                  <a:pt x="3739" y="1952"/>
                </a:moveTo>
                <a:lnTo>
                  <a:pt x="3739" y="1958"/>
                </a:lnTo>
                <a:lnTo>
                  <a:pt x="3736" y="1988"/>
                </a:lnTo>
                <a:moveTo>
                  <a:pt x="3748" y="1798"/>
                </a:moveTo>
                <a:lnTo>
                  <a:pt x="3748" y="1801"/>
                </a:lnTo>
                <a:moveTo>
                  <a:pt x="3747" y="1820"/>
                </a:moveTo>
                <a:lnTo>
                  <a:pt x="3748" y="1801"/>
                </a:lnTo>
                <a:moveTo>
                  <a:pt x="3755" y="1710"/>
                </a:moveTo>
                <a:lnTo>
                  <a:pt x="3757" y="1696"/>
                </a:lnTo>
                <a:moveTo>
                  <a:pt x="3885" y="1533"/>
                </a:moveTo>
                <a:lnTo>
                  <a:pt x="3863" y="1525"/>
                </a:lnTo>
                <a:moveTo>
                  <a:pt x="3857" y="1524"/>
                </a:moveTo>
                <a:lnTo>
                  <a:pt x="3863" y="1525"/>
                </a:lnTo>
                <a:moveTo>
                  <a:pt x="3857" y="1524"/>
                </a:moveTo>
                <a:lnTo>
                  <a:pt x="3855" y="1523"/>
                </a:lnTo>
                <a:moveTo>
                  <a:pt x="3842" y="1518"/>
                </a:moveTo>
                <a:lnTo>
                  <a:pt x="3855" y="1523"/>
                </a:lnTo>
                <a:moveTo>
                  <a:pt x="3817" y="1510"/>
                </a:moveTo>
                <a:lnTo>
                  <a:pt x="3842" y="1518"/>
                </a:lnTo>
                <a:moveTo>
                  <a:pt x="3792" y="1568"/>
                </a:moveTo>
                <a:lnTo>
                  <a:pt x="3796" y="1557"/>
                </a:lnTo>
                <a:lnTo>
                  <a:pt x="3799" y="1548"/>
                </a:lnTo>
                <a:moveTo>
                  <a:pt x="3963" y="1580"/>
                </a:moveTo>
                <a:lnTo>
                  <a:pt x="3950" y="1568"/>
                </a:lnTo>
                <a:moveTo>
                  <a:pt x="4067" y="1655"/>
                </a:moveTo>
                <a:lnTo>
                  <a:pt x="4043" y="1642"/>
                </a:lnTo>
                <a:moveTo>
                  <a:pt x="3963" y="1580"/>
                </a:moveTo>
                <a:lnTo>
                  <a:pt x="3968" y="1584"/>
                </a:lnTo>
                <a:moveTo>
                  <a:pt x="3974" y="1592"/>
                </a:moveTo>
                <a:lnTo>
                  <a:pt x="3970" y="1585"/>
                </a:lnTo>
                <a:lnTo>
                  <a:pt x="3968" y="1584"/>
                </a:lnTo>
                <a:moveTo>
                  <a:pt x="4429" y="1786"/>
                </a:moveTo>
                <a:lnTo>
                  <a:pt x="4433" y="1789"/>
                </a:lnTo>
                <a:lnTo>
                  <a:pt x="4451" y="1806"/>
                </a:lnTo>
                <a:moveTo>
                  <a:pt x="4389" y="1753"/>
                </a:moveTo>
                <a:lnTo>
                  <a:pt x="4396" y="1754"/>
                </a:lnTo>
                <a:lnTo>
                  <a:pt x="4429" y="1786"/>
                </a:lnTo>
                <a:moveTo>
                  <a:pt x="4364" y="1748"/>
                </a:moveTo>
                <a:lnTo>
                  <a:pt x="4374" y="1750"/>
                </a:lnTo>
                <a:lnTo>
                  <a:pt x="4389" y="1753"/>
                </a:lnTo>
                <a:moveTo>
                  <a:pt x="4346" y="1744"/>
                </a:moveTo>
                <a:lnTo>
                  <a:pt x="4364" y="1748"/>
                </a:lnTo>
                <a:moveTo>
                  <a:pt x="4309" y="1738"/>
                </a:moveTo>
                <a:lnTo>
                  <a:pt x="4335" y="1742"/>
                </a:lnTo>
                <a:lnTo>
                  <a:pt x="4346" y="1744"/>
                </a:lnTo>
                <a:moveTo>
                  <a:pt x="3974" y="1592"/>
                </a:moveTo>
                <a:lnTo>
                  <a:pt x="3990" y="1608"/>
                </a:lnTo>
                <a:moveTo>
                  <a:pt x="4093" y="1671"/>
                </a:moveTo>
                <a:lnTo>
                  <a:pt x="4078" y="1661"/>
                </a:lnTo>
                <a:lnTo>
                  <a:pt x="4067" y="1655"/>
                </a:lnTo>
                <a:moveTo>
                  <a:pt x="4098" y="1675"/>
                </a:moveTo>
                <a:lnTo>
                  <a:pt x="4093" y="1671"/>
                </a:lnTo>
                <a:moveTo>
                  <a:pt x="4126" y="1688"/>
                </a:moveTo>
                <a:lnTo>
                  <a:pt x="4119" y="1685"/>
                </a:lnTo>
                <a:lnTo>
                  <a:pt x="4098" y="1675"/>
                </a:lnTo>
                <a:moveTo>
                  <a:pt x="4154" y="1696"/>
                </a:moveTo>
                <a:lnTo>
                  <a:pt x="4144" y="1693"/>
                </a:lnTo>
                <a:lnTo>
                  <a:pt x="4126" y="1688"/>
                </a:lnTo>
                <a:moveTo>
                  <a:pt x="4195" y="1700"/>
                </a:moveTo>
                <a:lnTo>
                  <a:pt x="4187" y="1700"/>
                </a:lnTo>
                <a:lnTo>
                  <a:pt x="4154" y="1696"/>
                </a:lnTo>
                <a:moveTo>
                  <a:pt x="4220" y="1709"/>
                </a:moveTo>
                <a:lnTo>
                  <a:pt x="4213" y="1707"/>
                </a:lnTo>
                <a:lnTo>
                  <a:pt x="4195" y="1700"/>
                </a:lnTo>
                <a:moveTo>
                  <a:pt x="4225" y="1711"/>
                </a:moveTo>
                <a:lnTo>
                  <a:pt x="4220" y="1709"/>
                </a:lnTo>
                <a:moveTo>
                  <a:pt x="4239" y="1716"/>
                </a:moveTo>
                <a:lnTo>
                  <a:pt x="4225" y="1711"/>
                </a:lnTo>
                <a:moveTo>
                  <a:pt x="4242" y="1717"/>
                </a:moveTo>
                <a:lnTo>
                  <a:pt x="4239" y="1716"/>
                </a:lnTo>
                <a:moveTo>
                  <a:pt x="4286" y="1732"/>
                </a:moveTo>
                <a:lnTo>
                  <a:pt x="4297" y="1735"/>
                </a:lnTo>
                <a:lnTo>
                  <a:pt x="4305" y="1736"/>
                </a:lnTo>
                <a:lnTo>
                  <a:pt x="4309" y="1738"/>
                </a:lnTo>
                <a:moveTo>
                  <a:pt x="6345" y="1692"/>
                </a:moveTo>
                <a:lnTo>
                  <a:pt x="6385" y="1714"/>
                </a:lnTo>
                <a:moveTo>
                  <a:pt x="1254" y="787"/>
                </a:moveTo>
                <a:lnTo>
                  <a:pt x="1262" y="812"/>
                </a:lnTo>
                <a:moveTo>
                  <a:pt x="1303" y="938"/>
                </a:moveTo>
                <a:lnTo>
                  <a:pt x="1296" y="916"/>
                </a:lnTo>
                <a:lnTo>
                  <a:pt x="1279" y="866"/>
                </a:lnTo>
                <a:lnTo>
                  <a:pt x="1262" y="812"/>
                </a:lnTo>
                <a:moveTo>
                  <a:pt x="1148" y="610"/>
                </a:moveTo>
                <a:lnTo>
                  <a:pt x="1147" y="616"/>
                </a:lnTo>
                <a:moveTo>
                  <a:pt x="1221" y="684"/>
                </a:moveTo>
                <a:lnTo>
                  <a:pt x="1203" y="637"/>
                </a:lnTo>
                <a:lnTo>
                  <a:pt x="1200" y="634"/>
                </a:lnTo>
                <a:lnTo>
                  <a:pt x="1196" y="632"/>
                </a:lnTo>
                <a:lnTo>
                  <a:pt x="1192" y="632"/>
                </a:lnTo>
                <a:lnTo>
                  <a:pt x="1175" y="627"/>
                </a:lnTo>
                <a:lnTo>
                  <a:pt x="1158" y="621"/>
                </a:lnTo>
                <a:lnTo>
                  <a:pt x="1153" y="619"/>
                </a:lnTo>
                <a:lnTo>
                  <a:pt x="1152" y="618"/>
                </a:lnTo>
                <a:lnTo>
                  <a:pt x="1147" y="616"/>
                </a:lnTo>
                <a:moveTo>
                  <a:pt x="1147" y="616"/>
                </a:moveTo>
                <a:lnTo>
                  <a:pt x="1138" y="612"/>
                </a:lnTo>
                <a:lnTo>
                  <a:pt x="1117" y="607"/>
                </a:lnTo>
                <a:lnTo>
                  <a:pt x="1104" y="604"/>
                </a:lnTo>
                <a:lnTo>
                  <a:pt x="1086" y="598"/>
                </a:lnTo>
                <a:moveTo>
                  <a:pt x="1086" y="587"/>
                </a:moveTo>
                <a:lnTo>
                  <a:pt x="1084" y="586"/>
                </a:lnTo>
                <a:lnTo>
                  <a:pt x="1075" y="584"/>
                </a:lnTo>
                <a:lnTo>
                  <a:pt x="999" y="565"/>
                </a:lnTo>
                <a:moveTo>
                  <a:pt x="1086" y="593"/>
                </a:moveTo>
                <a:lnTo>
                  <a:pt x="1074" y="591"/>
                </a:lnTo>
                <a:lnTo>
                  <a:pt x="1059" y="587"/>
                </a:lnTo>
                <a:lnTo>
                  <a:pt x="998" y="572"/>
                </a:lnTo>
                <a:moveTo>
                  <a:pt x="1086" y="593"/>
                </a:moveTo>
                <a:lnTo>
                  <a:pt x="1094" y="596"/>
                </a:lnTo>
                <a:lnTo>
                  <a:pt x="1116" y="601"/>
                </a:lnTo>
                <a:lnTo>
                  <a:pt x="1119" y="602"/>
                </a:lnTo>
                <a:lnTo>
                  <a:pt x="1148" y="610"/>
                </a:lnTo>
                <a:moveTo>
                  <a:pt x="697" y="1996"/>
                </a:moveTo>
                <a:lnTo>
                  <a:pt x="699" y="1993"/>
                </a:lnTo>
                <a:lnTo>
                  <a:pt x="702" y="1991"/>
                </a:lnTo>
                <a:lnTo>
                  <a:pt x="705" y="1988"/>
                </a:lnTo>
                <a:lnTo>
                  <a:pt x="712" y="1983"/>
                </a:lnTo>
                <a:lnTo>
                  <a:pt x="742" y="1969"/>
                </a:lnTo>
                <a:moveTo>
                  <a:pt x="2255" y="1323"/>
                </a:moveTo>
                <a:lnTo>
                  <a:pt x="2242" y="1332"/>
                </a:lnTo>
                <a:moveTo>
                  <a:pt x="5448" y="398"/>
                </a:moveTo>
                <a:lnTo>
                  <a:pt x="5495" y="379"/>
                </a:lnTo>
                <a:moveTo>
                  <a:pt x="6185" y="2277"/>
                </a:moveTo>
                <a:lnTo>
                  <a:pt x="6213" y="2283"/>
                </a:lnTo>
                <a:moveTo>
                  <a:pt x="2581" y="2081"/>
                </a:moveTo>
                <a:lnTo>
                  <a:pt x="2584" y="2080"/>
                </a:lnTo>
                <a:lnTo>
                  <a:pt x="2633" y="2060"/>
                </a:lnTo>
                <a:moveTo>
                  <a:pt x="5888" y="1290"/>
                </a:moveTo>
                <a:lnTo>
                  <a:pt x="5892" y="1300"/>
                </a:lnTo>
                <a:lnTo>
                  <a:pt x="5897" y="1312"/>
                </a:lnTo>
                <a:lnTo>
                  <a:pt x="5937" y="1380"/>
                </a:lnTo>
                <a:lnTo>
                  <a:pt x="5943" y="1392"/>
                </a:lnTo>
                <a:lnTo>
                  <a:pt x="5946" y="1396"/>
                </a:lnTo>
                <a:lnTo>
                  <a:pt x="5956" y="1412"/>
                </a:lnTo>
                <a:moveTo>
                  <a:pt x="5888" y="1290"/>
                </a:moveTo>
                <a:lnTo>
                  <a:pt x="5869" y="1231"/>
                </a:lnTo>
                <a:lnTo>
                  <a:pt x="5853" y="1163"/>
                </a:lnTo>
                <a:lnTo>
                  <a:pt x="5850" y="1148"/>
                </a:lnTo>
                <a:moveTo>
                  <a:pt x="3466" y="2252"/>
                </a:moveTo>
                <a:lnTo>
                  <a:pt x="3466" y="2246"/>
                </a:lnTo>
                <a:lnTo>
                  <a:pt x="3466" y="2240"/>
                </a:lnTo>
                <a:moveTo>
                  <a:pt x="3466" y="2252"/>
                </a:moveTo>
                <a:lnTo>
                  <a:pt x="3464" y="2256"/>
                </a:lnTo>
                <a:lnTo>
                  <a:pt x="3463" y="2257"/>
                </a:lnTo>
                <a:lnTo>
                  <a:pt x="3462" y="2259"/>
                </a:lnTo>
                <a:lnTo>
                  <a:pt x="3461" y="2260"/>
                </a:lnTo>
                <a:lnTo>
                  <a:pt x="3459" y="2260"/>
                </a:lnTo>
                <a:lnTo>
                  <a:pt x="3455" y="2263"/>
                </a:lnTo>
                <a:moveTo>
                  <a:pt x="905" y="2310"/>
                </a:moveTo>
                <a:lnTo>
                  <a:pt x="909" y="2308"/>
                </a:lnTo>
                <a:lnTo>
                  <a:pt x="913" y="2306"/>
                </a:lnTo>
                <a:lnTo>
                  <a:pt x="917" y="2303"/>
                </a:lnTo>
                <a:lnTo>
                  <a:pt x="918" y="2300"/>
                </a:lnTo>
                <a:moveTo>
                  <a:pt x="917" y="2292"/>
                </a:moveTo>
                <a:lnTo>
                  <a:pt x="918" y="2300"/>
                </a:lnTo>
                <a:moveTo>
                  <a:pt x="917" y="2292"/>
                </a:moveTo>
                <a:lnTo>
                  <a:pt x="913" y="2289"/>
                </a:lnTo>
                <a:lnTo>
                  <a:pt x="910" y="2287"/>
                </a:lnTo>
                <a:lnTo>
                  <a:pt x="904" y="2284"/>
                </a:lnTo>
                <a:lnTo>
                  <a:pt x="899" y="2284"/>
                </a:lnTo>
                <a:lnTo>
                  <a:pt x="890" y="2288"/>
                </a:lnTo>
                <a:lnTo>
                  <a:pt x="878" y="2296"/>
                </a:lnTo>
                <a:lnTo>
                  <a:pt x="870" y="2298"/>
                </a:lnTo>
                <a:moveTo>
                  <a:pt x="917" y="2292"/>
                </a:moveTo>
                <a:lnTo>
                  <a:pt x="913" y="2278"/>
                </a:lnTo>
                <a:moveTo>
                  <a:pt x="903" y="2240"/>
                </a:moveTo>
                <a:lnTo>
                  <a:pt x="907" y="2253"/>
                </a:lnTo>
                <a:lnTo>
                  <a:pt x="910" y="2263"/>
                </a:lnTo>
                <a:moveTo>
                  <a:pt x="903" y="2240"/>
                </a:moveTo>
                <a:lnTo>
                  <a:pt x="907" y="2244"/>
                </a:lnTo>
                <a:lnTo>
                  <a:pt x="910" y="2246"/>
                </a:lnTo>
                <a:lnTo>
                  <a:pt x="915" y="2248"/>
                </a:lnTo>
                <a:lnTo>
                  <a:pt x="919" y="2247"/>
                </a:lnTo>
                <a:lnTo>
                  <a:pt x="923" y="2246"/>
                </a:lnTo>
                <a:lnTo>
                  <a:pt x="929" y="2243"/>
                </a:lnTo>
                <a:moveTo>
                  <a:pt x="2050" y="1668"/>
                </a:moveTo>
                <a:lnTo>
                  <a:pt x="2056" y="1670"/>
                </a:lnTo>
                <a:lnTo>
                  <a:pt x="2061" y="1676"/>
                </a:lnTo>
                <a:lnTo>
                  <a:pt x="2064" y="1680"/>
                </a:lnTo>
                <a:lnTo>
                  <a:pt x="2064" y="1685"/>
                </a:lnTo>
                <a:moveTo>
                  <a:pt x="2699" y="119"/>
                </a:moveTo>
                <a:lnTo>
                  <a:pt x="2732" y="107"/>
                </a:lnTo>
                <a:moveTo>
                  <a:pt x="1086" y="598"/>
                </a:moveTo>
                <a:lnTo>
                  <a:pt x="1078" y="596"/>
                </a:lnTo>
                <a:lnTo>
                  <a:pt x="1062" y="592"/>
                </a:lnTo>
                <a:moveTo>
                  <a:pt x="1062" y="592"/>
                </a:moveTo>
                <a:lnTo>
                  <a:pt x="1030" y="584"/>
                </a:lnTo>
                <a:lnTo>
                  <a:pt x="1000" y="577"/>
                </a:lnTo>
                <a:lnTo>
                  <a:pt x="998" y="576"/>
                </a:lnTo>
                <a:lnTo>
                  <a:pt x="998" y="575"/>
                </a:lnTo>
                <a:lnTo>
                  <a:pt x="998" y="572"/>
                </a:lnTo>
                <a:moveTo>
                  <a:pt x="1106" y="585"/>
                </a:moveTo>
                <a:lnTo>
                  <a:pt x="1129" y="592"/>
                </a:lnTo>
                <a:lnTo>
                  <a:pt x="1171" y="601"/>
                </a:lnTo>
                <a:moveTo>
                  <a:pt x="1106" y="585"/>
                </a:moveTo>
                <a:lnTo>
                  <a:pt x="1102" y="584"/>
                </a:lnTo>
                <a:lnTo>
                  <a:pt x="1086" y="580"/>
                </a:lnTo>
                <a:lnTo>
                  <a:pt x="1038" y="569"/>
                </a:lnTo>
                <a:lnTo>
                  <a:pt x="1021" y="565"/>
                </a:lnTo>
                <a:moveTo>
                  <a:pt x="1021" y="565"/>
                </a:moveTo>
                <a:lnTo>
                  <a:pt x="1012" y="564"/>
                </a:lnTo>
                <a:lnTo>
                  <a:pt x="1006" y="562"/>
                </a:lnTo>
                <a:lnTo>
                  <a:pt x="1003" y="562"/>
                </a:lnTo>
                <a:lnTo>
                  <a:pt x="1002" y="563"/>
                </a:lnTo>
                <a:lnTo>
                  <a:pt x="999" y="565"/>
                </a:lnTo>
                <a:moveTo>
                  <a:pt x="999" y="565"/>
                </a:moveTo>
                <a:lnTo>
                  <a:pt x="998" y="572"/>
                </a:lnTo>
                <a:moveTo>
                  <a:pt x="999" y="565"/>
                </a:moveTo>
                <a:lnTo>
                  <a:pt x="975" y="560"/>
                </a:lnTo>
                <a:lnTo>
                  <a:pt x="851" y="531"/>
                </a:lnTo>
                <a:lnTo>
                  <a:pt x="825" y="524"/>
                </a:lnTo>
                <a:lnTo>
                  <a:pt x="807" y="519"/>
                </a:lnTo>
                <a:lnTo>
                  <a:pt x="763" y="502"/>
                </a:lnTo>
                <a:lnTo>
                  <a:pt x="739" y="491"/>
                </a:lnTo>
                <a:lnTo>
                  <a:pt x="721" y="482"/>
                </a:lnTo>
                <a:lnTo>
                  <a:pt x="686" y="461"/>
                </a:lnTo>
                <a:lnTo>
                  <a:pt x="649" y="436"/>
                </a:lnTo>
                <a:lnTo>
                  <a:pt x="609" y="404"/>
                </a:lnTo>
                <a:lnTo>
                  <a:pt x="563" y="369"/>
                </a:lnTo>
                <a:lnTo>
                  <a:pt x="560" y="366"/>
                </a:lnTo>
                <a:lnTo>
                  <a:pt x="556" y="363"/>
                </a:lnTo>
                <a:lnTo>
                  <a:pt x="537" y="350"/>
                </a:lnTo>
                <a:lnTo>
                  <a:pt x="504" y="331"/>
                </a:lnTo>
                <a:lnTo>
                  <a:pt x="480" y="320"/>
                </a:lnTo>
                <a:lnTo>
                  <a:pt x="448" y="309"/>
                </a:lnTo>
                <a:lnTo>
                  <a:pt x="435" y="305"/>
                </a:lnTo>
                <a:lnTo>
                  <a:pt x="431" y="305"/>
                </a:lnTo>
                <a:lnTo>
                  <a:pt x="410" y="301"/>
                </a:lnTo>
                <a:lnTo>
                  <a:pt x="394" y="299"/>
                </a:lnTo>
                <a:lnTo>
                  <a:pt x="377" y="299"/>
                </a:lnTo>
                <a:lnTo>
                  <a:pt x="352" y="299"/>
                </a:lnTo>
                <a:lnTo>
                  <a:pt x="332" y="301"/>
                </a:lnTo>
                <a:lnTo>
                  <a:pt x="319" y="303"/>
                </a:lnTo>
                <a:lnTo>
                  <a:pt x="313" y="304"/>
                </a:lnTo>
                <a:lnTo>
                  <a:pt x="305" y="305"/>
                </a:lnTo>
                <a:lnTo>
                  <a:pt x="303" y="306"/>
                </a:lnTo>
                <a:lnTo>
                  <a:pt x="240" y="321"/>
                </a:lnTo>
                <a:lnTo>
                  <a:pt x="214" y="328"/>
                </a:lnTo>
                <a:lnTo>
                  <a:pt x="191" y="333"/>
                </a:lnTo>
                <a:lnTo>
                  <a:pt x="156" y="340"/>
                </a:lnTo>
                <a:lnTo>
                  <a:pt x="138" y="344"/>
                </a:lnTo>
                <a:lnTo>
                  <a:pt x="95" y="352"/>
                </a:lnTo>
                <a:lnTo>
                  <a:pt x="66" y="358"/>
                </a:lnTo>
                <a:moveTo>
                  <a:pt x="1538" y="1781"/>
                </a:moveTo>
                <a:lnTo>
                  <a:pt x="1515" y="1780"/>
                </a:lnTo>
                <a:lnTo>
                  <a:pt x="1510" y="1779"/>
                </a:lnTo>
                <a:lnTo>
                  <a:pt x="1503" y="1778"/>
                </a:lnTo>
                <a:lnTo>
                  <a:pt x="1450" y="1775"/>
                </a:lnTo>
                <a:moveTo>
                  <a:pt x="67" y="365"/>
                </a:moveTo>
                <a:lnTo>
                  <a:pt x="66" y="358"/>
                </a:lnTo>
                <a:moveTo>
                  <a:pt x="67" y="365"/>
                </a:moveTo>
                <a:lnTo>
                  <a:pt x="46" y="370"/>
                </a:lnTo>
                <a:moveTo>
                  <a:pt x="695" y="2000"/>
                </a:moveTo>
                <a:lnTo>
                  <a:pt x="692" y="1999"/>
                </a:lnTo>
                <a:moveTo>
                  <a:pt x="692" y="1999"/>
                </a:moveTo>
                <a:lnTo>
                  <a:pt x="697" y="1996"/>
                </a:lnTo>
                <a:moveTo>
                  <a:pt x="692" y="1999"/>
                </a:moveTo>
                <a:lnTo>
                  <a:pt x="686" y="2007"/>
                </a:lnTo>
                <a:lnTo>
                  <a:pt x="682" y="2012"/>
                </a:lnTo>
                <a:lnTo>
                  <a:pt x="681" y="2016"/>
                </a:lnTo>
                <a:lnTo>
                  <a:pt x="679" y="2019"/>
                </a:lnTo>
                <a:lnTo>
                  <a:pt x="676" y="2024"/>
                </a:lnTo>
                <a:lnTo>
                  <a:pt x="672" y="2030"/>
                </a:lnTo>
                <a:lnTo>
                  <a:pt x="670" y="2034"/>
                </a:lnTo>
                <a:lnTo>
                  <a:pt x="664" y="2044"/>
                </a:lnTo>
                <a:lnTo>
                  <a:pt x="661" y="2051"/>
                </a:lnTo>
                <a:moveTo>
                  <a:pt x="692" y="1999"/>
                </a:moveTo>
                <a:lnTo>
                  <a:pt x="684" y="1999"/>
                </a:lnTo>
                <a:lnTo>
                  <a:pt x="679" y="2000"/>
                </a:lnTo>
                <a:lnTo>
                  <a:pt x="629" y="2030"/>
                </a:lnTo>
                <a:moveTo>
                  <a:pt x="658" y="2056"/>
                </a:moveTo>
                <a:lnTo>
                  <a:pt x="661" y="2051"/>
                </a:lnTo>
                <a:moveTo>
                  <a:pt x="658" y="2056"/>
                </a:moveTo>
                <a:lnTo>
                  <a:pt x="658" y="2057"/>
                </a:lnTo>
                <a:lnTo>
                  <a:pt x="656" y="2062"/>
                </a:lnTo>
                <a:lnTo>
                  <a:pt x="655" y="2064"/>
                </a:lnTo>
                <a:lnTo>
                  <a:pt x="656" y="2067"/>
                </a:lnTo>
                <a:moveTo>
                  <a:pt x="592" y="1978"/>
                </a:moveTo>
                <a:lnTo>
                  <a:pt x="592" y="1973"/>
                </a:lnTo>
                <a:lnTo>
                  <a:pt x="592" y="1971"/>
                </a:lnTo>
                <a:moveTo>
                  <a:pt x="664" y="2052"/>
                </a:moveTo>
                <a:lnTo>
                  <a:pt x="661" y="2051"/>
                </a:lnTo>
                <a:moveTo>
                  <a:pt x="664" y="2052"/>
                </a:moveTo>
                <a:lnTo>
                  <a:pt x="671" y="2043"/>
                </a:lnTo>
                <a:lnTo>
                  <a:pt x="679" y="2028"/>
                </a:lnTo>
                <a:lnTo>
                  <a:pt x="681" y="2025"/>
                </a:lnTo>
                <a:lnTo>
                  <a:pt x="682" y="2023"/>
                </a:lnTo>
                <a:lnTo>
                  <a:pt x="683" y="2020"/>
                </a:lnTo>
                <a:lnTo>
                  <a:pt x="685" y="2018"/>
                </a:lnTo>
                <a:lnTo>
                  <a:pt x="686" y="2016"/>
                </a:lnTo>
                <a:lnTo>
                  <a:pt x="688" y="2012"/>
                </a:lnTo>
                <a:lnTo>
                  <a:pt x="690" y="2009"/>
                </a:lnTo>
                <a:lnTo>
                  <a:pt x="694" y="2004"/>
                </a:lnTo>
                <a:lnTo>
                  <a:pt x="695" y="2000"/>
                </a:lnTo>
                <a:moveTo>
                  <a:pt x="661" y="2051"/>
                </a:moveTo>
                <a:lnTo>
                  <a:pt x="649" y="2044"/>
                </a:lnTo>
                <a:lnTo>
                  <a:pt x="629" y="2030"/>
                </a:lnTo>
                <a:moveTo>
                  <a:pt x="697" y="1996"/>
                </a:moveTo>
                <a:lnTo>
                  <a:pt x="695" y="2000"/>
                </a:lnTo>
                <a:moveTo>
                  <a:pt x="2563" y="2088"/>
                </a:moveTo>
                <a:lnTo>
                  <a:pt x="2566" y="2087"/>
                </a:lnTo>
                <a:lnTo>
                  <a:pt x="2577" y="2083"/>
                </a:lnTo>
                <a:lnTo>
                  <a:pt x="2581" y="2081"/>
                </a:lnTo>
                <a:moveTo>
                  <a:pt x="1925" y="1286"/>
                </a:moveTo>
                <a:lnTo>
                  <a:pt x="1937" y="1280"/>
                </a:lnTo>
                <a:moveTo>
                  <a:pt x="1937" y="1280"/>
                </a:moveTo>
                <a:lnTo>
                  <a:pt x="1941" y="1276"/>
                </a:lnTo>
                <a:lnTo>
                  <a:pt x="1945" y="1272"/>
                </a:lnTo>
                <a:moveTo>
                  <a:pt x="1365" y="1229"/>
                </a:moveTo>
                <a:lnTo>
                  <a:pt x="1370" y="1224"/>
                </a:lnTo>
                <a:moveTo>
                  <a:pt x="1373" y="1218"/>
                </a:moveTo>
                <a:lnTo>
                  <a:pt x="1372" y="1221"/>
                </a:lnTo>
                <a:lnTo>
                  <a:pt x="1370" y="1224"/>
                </a:lnTo>
                <a:moveTo>
                  <a:pt x="5992" y="394"/>
                </a:moveTo>
                <a:lnTo>
                  <a:pt x="5988" y="393"/>
                </a:lnTo>
                <a:moveTo>
                  <a:pt x="5992" y="394"/>
                </a:moveTo>
                <a:lnTo>
                  <a:pt x="5989" y="412"/>
                </a:lnTo>
                <a:lnTo>
                  <a:pt x="5989" y="419"/>
                </a:lnTo>
                <a:moveTo>
                  <a:pt x="5992" y="394"/>
                </a:moveTo>
                <a:lnTo>
                  <a:pt x="6003" y="318"/>
                </a:lnTo>
                <a:moveTo>
                  <a:pt x="5975" y="544"/>
                </a:moveTo>
                <a:lnTo>
                  <a:pt x="5972" y="559"/>
                </a:lnTo>
                <a:lnTo>
                  <a:pt x="5962" y="589"/>
                </a:lnTo>
                <a:moveTo>
                  <a:pt x="5975" y="544"/>
                </a:moveTo>
                <a:lnTo>
                  <a:pt x="5976" y="536"/>
                </a:lnTo>
                <a:lnTo>
                  <a:pt x="5978" y="512"/>
                </a:lnTo>
                <a:lnTo>
                  <a:pt x="5980" y="492"/>
                </a:lnTo>
                <a:lnTo>
                  <a:pt x="5989" y="419"/>
                </a:lnTo>
                <a:moveTo>
                  <a:pt x="5962" y="589"/>
                </a:moveTo>
                <a:lnTo>
                  <a:pt x="5950" y="624"/>
                </a:lnTo>
                <a:lnTo>
                  <a:pt x="5931" y="687"/>
                </a:lnTo>
                <a:moveTo>
                  <a:pt x="6057" y="338"/>
                </a:moveTo>
                <a:lnTo>
                  <a:pt x="6003" y="318"/>
                </a:lnTo>
                <a:moveTo>
                  <a:pt x="5931" y="687"/>
                </a:moveTo>
                <a:lnTo>
                  <a:pt x="5927" y="686"/>
                </a:lnTo>
                <a:moveTo>
                  <a:pt x="5931" y="687"/>
                </a:moveTo>
                <a:lnTo>
                  <a:pt x="5927" y="701"/>
                </a:lnTo>
                <a:lnTo>
                  <a:pt x="5901" y="788"/>
                </a:lnTo>
                <a:moveTo>
                  <a:pt x="5901" y="788"/>
                </a:moveTo>
                <a:lnTo>
                  <a:pt x="5886" y="840"/>
                </a:lnTo>
                <a:moveTo>
                  <a:pt x="5886" y="840"/>
                </a:moveTo>
                <a:lnTo>
                  <a:pt x="5875" y="881"/>
                </a:lnTo>
                <a:lnTo>
                  <a:pt x="5865" y="936"/>
                </a:lnTo>
                <a:moveTo>
                  <a:pt x="5865" y="936"/>
                </a:moveTo>
                <a:lnTo>
                  <a:pt x="5855" y="1003"/>
                </a:lnTo>
                <a:lnTo>
                  <a:pt x="5850" y="1081"/>
                </a:lnTo>
                <a:moveTo>
                  <a:pt x="5850" y="1081"/>
                </a:moveTo>
                <a:lnTo>
                  <a:pt x="5849" y="1134"/>
                </a:lnTo>
                <a:lnTo>
                  <a:pt x="5850" y="1148"/>
                </a:lnTo>
                <a:moveTo>
                  <a:pt x="6097" y="1604"/>
                </a:moveTo>
                <a:lnTo>
                  <a:pt x="6090" y="1603"/>
                </a:lnTo>
                <a:moveTo>
                  <a:pt x="6090" y="1603"/>
                </a:moveTo>
                <a:lnTo>
                  <a:pt x="6094" y="1612"/>
                </a:lnTo>
                <a:lnTo>
                  <a:pt x="6094" y="1621"/>
                </a:lnTo>
                <a:lnTo>
                  <a:pt x="6079" y="1676"/>
                </a:lnTo>
                <a:moveTo>
                  <a:pt x="6056" y="1808"/>
                </a:moveTo>
                <a:lnTo>
                  <a:pt x="6059" y="1813"/>
                </a:lnTo>
                <a:lnTo>
                  <a:pt x="6074" y="1832"/>
                </a:lnTo>
                <a:lnTo>
                  <a:pt x="6079" y="1842"/>
                </a:lnTo>
                <a:lnTo>
                  <a:pt x="6083" y="1852"/>
                </a:lnTo>
                <a:lnTo>
                  <a:pt x="6084" y="1860"/>
                </a:lnTo>
                <a:lnTo>
                  <a:pt x="6086" y="1908"/>
                </a:lnTo>
                <a:lnTo>
                  <a:pt x="6086" y="1936"/>
                </a:lnTo>
                <a:moveTo>
                  <a:pt x="6056" y="1808"/>
                </a:moveTo>
                <a:lnTo>
                  <a:pt x="6054" y="1804"/>
                </a:lnTo>
                <a:lnTo>
                  <a:pt x="6054" y="1794"/>
                </a:lnTo>
                <a:lnTo>
                  <a:pt x="6056" y="1780"/>
                </a:lnTo>
                <a:moveTo>
                  <a:pt x="5980" y="1452"/>
                </a:moveTo>
                <a:lnTo>
                  <a:pt x="5988" y="1463"/>
                </a:lnTo>
                <a:lnTo>
                  <a:pt x="6034" y="1539"/>
                </a:lnTo>
                <a:lnTo>
                  <a:pt x="6046" y="1555"/>
                </a:lnTo>
                <a:lnTo>
                  <a:pt x="6058" y="1570"/>
                </a:lnTo>
                <a:lnTo>
                  <a:pt x="6068" y="1580"/>
                </a:lnTo>
                <a:lnTo>
                  <a:pt x="6084" y="1591"/>
                </a:lnTo>
                <a:lnTo>
                  <a:pt x="6097" y="1604"/>
                </a:lnTo>
                <a:moveTo>
                  <a:pt x="5980" y="1452"/>
                </a:moveTo>
                <a:lnTo>
                  <a:pt x="5956" y="1412"/>
                </a:lnTo>
                <a:moveTo>
                  <a:pt x="6097" y="1604"/>
                </a:moveTo>
                <a:lnTo>
                  <a:pt x="6098" y="1612"/>
                </a:lnTo>
                <a:lnTo>
                  <a:pt x="6099" y="1623"/>
                </a:lnTo>
                <a:lnTo>
                  <a:pt x="6092" y="1651"/>
                </a:lnTo>
                <a:moveTo>
                  <a:pt x="6092" y="1651"/>
                </a:moveTo>
                <a:lnTo>
                  <a:pt x="6079" y="1693"/>
                </a:lnTo>
                <a:moveTo>
                  <a:pt x="6079" y="1693"/>
                </a:moveTo>
                <a:lnTo>
                  <a:pt x="6065" y="1739"/>
                </a:lnTo>
                <a:moveTo>
                  <a:pt x="6065" y="1739"/>
                </a:moveTo>
                <a:lnTo>
                  <a:pt x="6057" y="1764"/>
                </a:lnTo>
                <a:lnTo>
                  <a:pt x="6056" y="1780"/>
                </a:lnTo>
                <a:moveTo>
                  <a:pt x="6086" y="1936"/>
                </a:moveTo>
                <a:lnTo>
                  <a:pt x="6083" y="1988"/>
                </a:lnTo>
                <a:lnTo>
                  <a:pt x="6083" y="1994"/>
                </a:lnTo>
                <a:moveTo>
                  <a:pt x="6083" y="1994"/>
                </a:moveTo>
                <a:lnTo>
                  <a:pt x="6081" y="2000"/>
                </a:lnTo>
                <a:lnTo>
                  <a:pt x="6080" y="2008"/>
                </a:lnTo>
                <a:lnTo>
                  <a:pt x="6071" y="2029"/>
                </a:lnTo>
                <a:lnTo>
                  <a:pt x="6069" y="2037"/>
                </a:lnTo>
                <a:lnTo>
                  <a:pt x="6067" y="2044"/>
                </a:lnTo>
                <a:lnTo>
                  <a:pt x="6069" y="2058"/>
                </a:lnTo>
                <a:moveTo>
                  <a:pt x="6069" y="2058"/>
                </a:moveTo>
                <a:lnTo>
                  <a:pt x="6072" y="2069"/>
                </a:lnTo>
                <a:lnTo>
                  <a:pt x="6073" y="2084"/>
                </a:lnTo>
                <a:lnTo>
                  <a:pt x="6073" y="2091"/>
                </a:lnTo>
                <a:moveTo>
                  <a:pt x="6070" y="2106"/>
                </a:moveTo>
                <a:lnTo>
                  <a:pt x="6066" y="2113"/>
                </a:lnTo>
                <a:moveTo>
                  <a:pt x="6070" y="2106"/>
                </a:moveTo>
                <a:lnTo>
                  <a:pt x="6072" y="2098"/>
                </a:lnTo>
                <a:lnTo>
                  <a:pt x="6073" y="2091"/>
                </a:lnTo>
                <a:moveTo>
                  <a:pt x="6052" y="2134"/>
                </a:moveTo>
                <a:lnTo>
                  <a:pt x="6049" y="2139"/>
                </a:lnTo>
                <a:lnTo>
                  <a:pt x="6044" y="2142"/>
                </a:lnTo>
                <a:moveTo>
                  <a:pt x="6052" y="2134"/>
                </a:moveTo>
                <a:lnTo>
                  <a:pt x="6066" y="2113"/>
                </a:lnTo>
                <a:moveTo>
                  <a:pt x="6066" y="2113"/>
                </a:moveTo>
                <a:lnTo>
                  <a:pt x="6061" y="2112"/>
                </a:lnTo>
                <a:moveTo>
                  <a:pt x="806" y="1985"/>
                </a:moveTo>
                <a:lnTo>
                  <a:pt x="810" y="1993"/>
                </a:lnTo>
                <a:lnTo>
                  <a:pt x="818" y="2006"/>
                </a:lnTo>
                <a:moveTo>
                  <a:pt x="1420" y="1769"/>
                </a:moveTo>
                <a:lnTo>
                  <a:pt x="1418" y="1768"/>
                </a:lnTo>
                <a:lnTo>
                  <a:pt x="1414" y="1764"/>
                </a:lnTo>
                <a:lnTo>
                  <a:pt x="1411" y="1761"/>
                </a:lnTo>
                <a:moveTo>
                  <a:pt x="1420" y="1769"/>
                </a:moveTo>
                <a:lnTo>
                  <a:pt x="1425" y="1771"/>
                </a:lnTo>
                <a:lnTo>
                  <a:pt x="1430" y="1772"/>
                </a:lnTo>
                <a:lnTo>
                  <a:pt x="1450" y="1775"/>
                </a:lnTo>
                <a:moveTo>
                  <a:pt x="1420" y="1769"/>
                </a:moveTo>
                <a:lnTo>
                  <a:pt x="1418" y="1754"/>
                </a:lnTo>
                <a:moveTo>
                  <a:pt x="6285" y="1654"/>
                </a:moveTo>
                <a:lnTo>
                  <a:pt x="6275" y="1648"/>
                </a:lnTo>
                <a:moveTo>
                  <a:pt x="1436" y="1764"/>
                </a:moveTo>
                <a:lnTo>
                  <a:pt x="1451" y="1767"/>
                </a:lnTo>
                <a:moveTo>
                  <a:pt x="1436" y="1764"/>
                </a:moveTo>
                <a:lnTo>
                  <a:pt x="1433" y="1757"/>
                </a:lnTo>
                <a:lnTo>
                  <a:pt x="1432" y="1752"/>
                </a:lnTo>
                <a:lnTo>
                  <a:pt x="1432" y="1745"/>
                </a:lnTo>
                <a:lnTo>
                  <a:pt x="1433" y="1739"/>
                </a:lnTo>
                <a:moveTo>
                  <a:pt x="1436" y="1764"/>
                </a:moveTo>
                <a:lnTo>
                  <a:pt x="1431" y="1762"/>
                </a:lnTo>
                <a:lnTo>
                  <a:pt x="1426" y="1760"/>
                </a:lnTo>
                <a:lnTo>
                  <a:pt x="1422" y="1757"/>
                </a:lnTo>
                <a:lnTo>
                  <a:pt x="1418" y="1754"/>
                </a:lnTo>
                <a:moveTo>
                  <a:pt x="1410" y="1748"/>
                </a:moveTo>
                <a:lnTo>
                  <a:pt x="1418" y="1754"/>
                </a:lnTo>
                <a:moveTo>
                  <a:pt x="4406" y="572"/>
                </a:moveTo>
                <a:lnTo>
                  <a:pt x="4406" y="577"/>
                </a:lnTo>
                <a:moveTo>
                  <a:pt x="5694" y="300"/>
                </a:moveTo>
                <a:lnTo>
                  <a:pt x="5672" y="308"/>
                </a:lnTo>
                <a:lnTo>
                  <a:pt x="5611" y="332"/>
                </a:lnTo>
                <a:lnTo>
                  <a:pt x="5495" y="379"/>
                </a:lnTo>
                <a:moveTo>
                  <a:pt x="1433" y="1739"/>
                </a:moveTo>
                <a:lnTo>
                  <a:pt x="1429" y="1743"/>
                </a:lnTo>
                <a:lnTo>
                  <a:pt x="1427" y="1745"/>
                </a:lnTo>
                <a:lnTo>
                  <a:pt x="1424" y="1748"/>
                </a:lnTo>
                <a:lnTo>
                  <a:pt x="1421" y="1751"/>
                </a:lnTo>
                <a:lnTo>
                  <a:pt x="1418" y="1754"/>
                </a:lnTo>
                <a:moveTo>
                  <a:pt x="802" y="1964"/>
                </a:moveTo>
                <a:lnTo>
                  <a:pt x="808" y="1980"/>
                </a:lnTo>
                <a:lnTo>
                  <a:pt x="806" y="1985"/>
                </a:lnTo>
                <a:moveTo>
                  <a:pt x="802" y="1964"/>
                </a:moveTo>
                <a:lnTo>
                  <a:pt x="802" y="1956"/>
                </a:lnTo>
                <a:lnTo>
                  <a:pt x="803" y="1951"/>
                </a:lnTo>
                <a:lnTo>
                  <a:pt x="805" y="1948"/>
                </a:lnTo>
                <a:lnTo>
                  <a:pt x="806" y="1945"/>
                </a:lnTo>
                <a:lnTo>
                  <a:pt x="809" y="1940"/>
                </a:lnTo>
                <a:moveTo>
                  <a:pt x="802" y="1964"/>
                </a:moveTo>
                <a:lnTo>
                  <a:pt x="794" y="1948"/>
                </a:lnTo>
                <a:moveTo>
                  <a:pt x="793" y="1944"/>
                </a:moveTo>
                <a:lnTo>
                  <a:pt x="794" y="1948"/>
                </a:lnTo>
                <a:moveTo>
                  <a:pt x="793" y="1944"/>
                </a:moveTo>
                <a:lnTo>
                  <a:pt x="806" y="1937"/>
                </a:lnTo>
                <a:lnTo>
                  <a:pt x="836" y="1923"/>
                </a:lnTo>
                <a:lnTo>
                  <a:pt x="852" y="1915"/>
                </a:lnTo>
                <a:lnTo>
                  <a:pt x="869" y="1908"/>
                </a:lnTo>
                <a:lnTo>
                  <a:pt x="881" y="1903"/>
                </a:lnTo>
                <a:lnTo>
                  <a:pt x="886" y="1903"/>
                </a:lnTo>
                <a:moveTo>
                  <a:pt x="806" y="1985"/>
                </a:moveTo>
                <a:lnTo>
                  <a:pt x="803" y="1983"/>
                </a:lnTo>
                <a:lnTo>
                  <a:pt x="788" y="1950"/>
                </a:lnTo>
                <a:moveTo>
                  <a:pt x="3064" y="1886"/>
                </a:moveTo>
                <a:lnTo>
                  <a:pt x="3055" y="1884"/>
                </a:lnTo>
                <a:moveTo>
                  <a:pt x="3404" y="707"/>
                </a:moveTo>
                <a:lnTo>
                  <a:pt x="3402" y="700"/>
                </a:lnTo>
                <a:moveTo>
                  <a:pt x="2951" y="1832"/>
                </a:moveTo>
                <a:lnTo>
                  <a:pt x="2949" y="1849"/>
                </a:lnTo>
                <a:moveTo>
                  <a:pt x="929" y="2243"/>
                </a:moveTo>
                <a:lnTo>
                  <a:pt x="910" y="2263"/>
                </a:lnTo>
                <a:moveTo>
                  <a:pt x="870" y="2298"/>
                </a:moveTo>
                <a:lnTo>
                  <a:pt x="903" y="2268"/>
                </a:lnTo>
                <a:lnTo>
                  <a:pt x="910" y="2263"/>
                </a:lnTo>
                <a:moveTo>
                  <a:pt x="454" y="1216"/>
                </a:moveTo>
                <a:lnTo>
                  <a:pt x="454" y="1216"/>
                </a:lnTo>
                <a:lnTo>
                  <a:pt x="455" y="1228"/>
                </a:lnTo>
                <a:lnTo>
                  <a:pt x="455" y="1230"/>
                </a:lnTo>
                <a:moveTo>
                  <a:pt x="1372" y="1802"/>
                </a:moveTo>
                <a:lnTo>
                  <a:pt x="1401" y="1772"/>
                </a:lnTo>
                <a:lnTo>
                  <a:pt x="1411" y="1761"/>
                </a:lnTo>
                <a:moveTo>
                  <a:pt x="1418" y="1754"/>
                </a:moveTo>
                <a:lnTo>
                  <a:pt x="1411" y="1761"/>
                </a:lnTo>
                <a:moveTo>
                  <a:pt x="809" y="1940"/>
                </a:moveTo>
                <a:lnTo>
                  <a:pt x="794" y="1948"/>
                </a:lnTo>
                <a:moveTo>
                  <a:pt x="809" y="1940"/>
                </a:moveTo>
                <a:lnTo>
                  <a:pt x="834" y="1929"/>
                </a:lnTo>
                <a:lnTo>
                  <a:pt x="849" y="1922"/>
                </a:lnTo>
                <a:lnTo>
                  <a:pt x="883" y="1905"/>
                </a:lnTo>
                <a:lnTo>
                  <a:pt x="886" y="1903"/>
                </a:lnTo>
                <a:moveTo>
                  <a:pt x="788" y="1950"/>
                </a:moveTo>
                <a:lnTo>
                  <a:pt x="794" y="1948"/>
                </a:lnTo>
                <a:moveTo>
                  <a:pt x="6387" y="34"/>
                </a:moveTo>
                <a:lnTo>
                  <a:pt x="6236" y="92"/>
                </a:lnTo>
                <a:lnTo>
                  <a:pt x="6180" y="114"/>
                </a:lnTo>
                <a:lnTo>
                  <a:pt x="6160" y="121"/>
                </a:lnTo>
                <a:lnTo>
                  <a:pt x="6063" y="156"/>
                </a:lnTo>
                <a:moveTo>
                  <a:pt x="5126" y="1088"/>
                </a:moveTo>
                <a:lnTo>
                  <a:pt x="5126" y="1078"/>
                </a:lnTo>
                <a:lnTo>
                  <a:pt x="5126" y="1072"/>
                </a:lnTo>
                <a:lnTo>
                  <a:pt x="5126" y="1066"/>
                </a:lnTo>
                <a:lnTo>
                  <a:pt x="5125" y="1052"/>
                </a:lnTo>
                <a:lnTo>
                  <a:pt x="5123" y="1036"/>
                </a:lnTo>
                <a:lnTo>
                  <a:pt x="5123" y="1032"/>
                </a:lnTo>
                <a:moveTo>
                  <a:pt x="1563" y="948"/>
                </a:moveTo>
                <a:lnTo>
                  <a:pt x="1565" y="963"/>
                </a:lnTo>
                <a:moveTo>
                  <a:pt x="1221" y="684"/>
                </a:moveTo>
                <a:lnTo>
                  <a:pt x="1228" y="700"/>
                </a:lnTo>
                <a:lnTo>
                  <a:pt x="1254" y="787"/>
                </a:lnTo>
                <a:moveTo>
                  <a:pt x="2071" y="1777"/>
                </a:moveTo>
                <a:lnTo>
                  <a:pt x="2071" y="1774"/>
                </a:lnTo>
                <a:moveTo>
                  <a:pt x="2071" y="1777"/>
                </a:moveTo>
                <a:lnTo>
                  <a:pt x="2072" y="1805"/>
                </a:lnTo>
                <a:moveTo>
                  <a:pt x="2297" y="1670"/>
                </a:moveTo>
                <a:lnTo>
                  <a:pt x="2292" y="1660"/>
                </a:lnTo>
                <a:lnTo>
                  <a:pt x="2288" y="1656"/>
                </a:lnTo>
                <a:lnTo>
                  <a:pt x="2284" y="1652"/>
                </a:lnTo>
                <a:lnTo>
                  <a:pt x="2280" y="1650"/>
                </a:lnTo>
                <a:lnTo>
                  <a:pt x="2272" y="1648"/>
                </a:lnTo>
                <a:lnTo>
                  <a:pt x="2258" y="1646"/>
                </a:lnTo>
                <a:moveTo>
                  <a:pt x="1212" y="2080"/>
                </a:moveTo>
                <a:lnTo>
                  <a:pt x="1195" y="1993"/>
                </a:lnTo>
                <a:moveTo>
                  <a:pt x="1595" y="2077"/>
                </a:moveTo>
                <a:lnTo>
                  <a:pt x="1594" y="2076"/>
                </a:lnTo>
                <a:lnTo>
                  <a:pt x="1591" y="2073"/>
                </a:lnTo>
                <a:lnTo>
                  <a:pt x="1590" y="2072"/>
                </a:lnTo>
                <a:lnTo>
                  <a:pt x="1587" y="2071"/>
                </a:lnTo>
                <a:lnTo>
                  <a:pt x="1585" y="2069"/>
                </a:lnTo>
                <a:lnTo>
                  <a:pt x="1582" y="2068"/>
                </a:lnTo>
                <a:moveTo>
                  <a:pt x="1187" y="1989"/>
                </a:moveTo>
                <a:lnTo>
                  <a:pt x="1164" y="2012"/>
                </a:lnTo>
                <a:lnTo>
                  <a:pt x="1157" y="2020"/>
                </a:lnTo>
                <a:lnTo>
                  <a:pt x="1145" y="2030"/>
                </a:lnTo>
                <a:moveTo>
                  <a:pt x="1187" y="1989"/>
                </a:moveTo>
                <a:lnTo>
                  <a:pt x="1190" y="1988"/>
                </a:lnTo>
                <a:lnTo>
                  <a:pt x="1191" y="1988"/>
                </a:lnTo>
                <a:lnTo>
                  <a:pt x="1193" y="1989"/>
                </a:lnTo>
                <a:lnTo>
                  <a:pt x="1195" y="1991"/>
                </a:lnTo>
                <a:lnTo>
                  <a:pt x="1195" y="1993"/>
                </a:lnTo>
                <a:moveTo>
                  <a:pt x="1187" y="1989"/>
                </a:moveTo>
                <a:lnTo>
                  <a:pt x="1194" y="1984"/>
                </a:lnTo>
                <a:moveTo>
                  <a:pt x="1195" y="1993"/>
                </a:moveTo>
                <a:lnTo>
                  <a:pt x="1194" y="1984"/>
                </a:lnTo>
                <a:moveTo>
                  <a:pt x="997" y="2184"/>
                </a:moveTo>
                <a:lnTo>
                  <a:pt x="990" y="2191"/>
                </a:lnTo>
                <a:lnTo>
                  <a:pt x="958" y="2224"/>
                </a:lnTo>
                <a:lnTo>
                  <a:pt x="939" y="2242"/>
                </a:lnTo>
                <a:lnTo>
                  <a:pt x="935" y="2247"/>
                </a:lnTo>
                <a:lnTo>
                  <a:pt x="925" y="2256"/>
                </a:lnTo>
                <a:lnTo>
                  <a:pt x="921" y="2261"/>
                </a:lnTo>
                <a:lnTo>
                  <a:pt x="918" y="2265"/>
                </a:lnTo>
                <a:lnTo>
                  <a:pt x="917" y="2268"/>
                </a:lnTo>
                <a:lnTo>
                  <a:pt x="915" y="2272"/>
                </a:lnTo>
                <a:lnTo>
                  <a:pt x="913" y="2278"/>
                </a:lnTo>
                <a:moveTo>
                  <a:pt x="997" y="2184"/>
                </a:moveTo>
                <a:lnTo>
                  <a:pt x="1010" y="2170"/>
                </a:lnTo>
                <a:lnTo>
                  <a:pt x="1014" y="2166"/>
                </a:lnTo>
                <a:lnTo>
                  <a:pt x="1017" y="2164"/>
                </a:lnTo>
                <a:lnTo>
                  <a:pt x="1021" y="2160"/>
                </a:lnTo>
                <a:lnTo>
                  <a:pt x="1031" y="2148"/>
                </a:lnTo>
                <a:lnTo>
                  <a:pt x="1037" y="2142"/>
                </a:lnTo>
                <a:lnTo>
                  <a:pt x="1048" y="2131"/>
                </a:lnTo>
                <a:lnTo>
                  <a:pt x="1050" y="2129"/>
                </a:lnTo>
                <a:lnTo>
                  <a:pt x="1056" y="2123"/>
                </a:lnTo>
                <a:lnTo>
                  <a:pt x="1062" y="2116"/>
                </a:lnTo>
                <a:lnTo>
                  <a:pt x="1076" y="2102"/>
                </a:lnTo>
                <a:lnTo>
                  <a:pt x="1082" y="2096"/>
                </a:lnTo>
                <a:lnTo>
                  <a:pt x="1087" y="2089"/>
                </a:lnTo>
                <a:lnTo>
                  <a:pt x="1095" y="2081"/>
                </a:lnTo>
                <a:lnTo>
                  <a:pt x="1110" y="2066"/>
                </a:lnTo>
                <a:lnTo>
                  <a:pt x="1111" y="2065"/>
                </a:lnTo>
                <a:lnTo>
                  <a:pt x="1127" y="2048"/>
                </a:lnTo>
                <a:lnTo>
                  <a:pt x="1145" y="2030"/>
                </a:lnTo>
                <a:moveTo>
                  <a:pt x="1164" y="613"/>
                </a:moveTo>
                <a:lnTo>
                  <a:pt x="1157" y="612"/>
                </a:lnTo>
                <a:lnTo>
                  <a:pt x="1148" y="610"/>
                </a:lnTo>
                <a:moveTo>
                  <a:pt x="1142" y="2027"/>
                </a:moveTo>
                <a:lnTo>
                  <a:pt x="1145" y="2030"/>
                </a:lnTo>
                <a:moveTo>
                  <a:pt x="913" y="2278"/>
                </a:moveTo>
                <a:lnTo>
                  <a:pt x="910" y="2263"/>
                </a:lnTo>
              </a:path>
            </a:pathLst>
          </a:custGeom>
          <a:noFill/>
          <a:ln w="8890">
            <a:solidFill>
              <a:srgbClr val="A0B5B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Freeform 8"/>
          <p:cNvSpPr/>
          <p:nvPr/>
        </p:nvSpPr>
        <p:spPr>
          <a:xfrm>
            <a:off x="5838444" y="1401775"/>
            <a:ext cx="3591763" cy="1487729"/>
          </a:xfrm>
          <a:custGeom>
            <a:avLst/>
            <a:gdLst/>
            <a:ahLst/>
            <a:cxnLst/>
            <a:rect l="l" t="t" r="r" b="b"/>
            <a:pathLst>
              <a:path w="3928" h="1627">
                <a:moveTo>
                  <a:pt x="1453" y="38"/>
                </a:moveTo>
                <a:lnTo>
                  <a:pt x="1445" y="356"/>
                </a:lnTo>
                <a:lnTo>
                  <a:pt x="1442" y="426"/>
                </a:lnTo>
                <a:lnTo>
                  <a:pt x="1443" y="493"/>
                </a:lnTo>
                <a:lnTo>
                  <a:pt x="1440" y="726"/>
                </a:lnTo>
                <a:lnTo>
                  <a:pt x="1437" y="909"/>
                </a:lnTo>
                <a:moveTo>
                  <a:pt x="1437" y="909"/>
                </a:moveTo>
                <a:lnTo>
                  <a:pt x="1455" y="928"/>
                </a:lnTo>
                <a:lnTo>
                  <a:pt x="1485" y="963"/>
                </a:lnTo>
                <a:lnTo>
                  <a:pt x="1507" y="988"/>
                </a:lnTo>
                <a:lnTo>
                  <a:pt x="1519" y="1001"/>
                </a:lnTo>
                <a:lnTo>
                  <a:pt x="1548" y="1034"/>
                </a:lnTo>
                <a:lnTo>
                  <a:pt x="1631" y="1130"/>
                </a:lnTo>
                <a:lnTo>
                  <a:pt x="1663" y="1166"/>
                </a:lnTo>
                <a:lnTo>
                  <a:pt x="1670" y="1174"/>
                </a:lnTo>
                <a:lnTo>
                  <a:pt x="1673" y="1174"/>
                </a:lnTo>
                <a:lnTo>
                  <a:pt x="1683" y="1166"/>
                </a:lnTo>
                <a:lnTo>
                  <a:pt x="1684" y="1165"/>
                </a:lnTo>
                <a:lnTo>
                  <a:pt x="1690" y="1171"/>
                </a:lnTo>
                <a:lnTo>
                  <a:pt x="1675" y="1186"/>
                </a:lnTo>
                <a:lnTo>
                  <a:pt x="1690" y="1203"/>
                </a:lnTo>
                <a:lnTo>
                  <a:pt x="1693" y="1201"/>
                </a:lnTo>
                <a:lnTo>
                  <a:pt x="1710" y="1220"/>
                </a:lnTo>
                <a:lnTo>
                  <a:pt x="1727" y="1206"/>
                </a:lnTo>
                <a:lnTo>
                  <a:pt x="1734" y="1212"/>
                </a:lnTo>
                <a:lnTo>
                  <a:pt x="1721" y="1236"/>
                </a:lnTo>
                <a:lnTo>
                  <a:pt x="1712" y="1253"/>
                </a:lnTo>
                <a:lnTo>
                  <a:pt x="1713" y="1255"/>
                </a:lnTo>
                <a:lnTo>
                  <a:pt x="1709" y="1263"/>
                </a:lnTo>
                <a:lnTo>
                  <a:pt x="1706" y="1264"/>
                </a:lnTo>
                <a:lnTo>
                  <a:pt x="1704" y="1267"/>
                </a:lnTo>
                <a:lnTo>
                  <a:pt x="1697" y="1264"/>
                </a:lnTo>
                <a:lnTo>
                  <a:pt x="1695" y="1268"/>
                </a:lnTo>
                <a:lnTo>
                  <a:pt x="1694" y="1267"/>
                </a:lnTo>
                <a:lnTo>
                  <a:pt x="1693" y="1266"/>
                </a:lnTo>
                <a:lnTo>
                  <a:pt x="1692" y="1265"/>
                </a:lnTo>
                <a:lnTo>
                  <a:pt x="1692" y="1263"/>
                </a:lnTo>
                <a:lnTo>
                  <a:pt x="1691" y="1261"/>
                </a:lnTo>
                <a:lnTo>
                  <a:pt x="1691" y="1259"/>
                </a:lnTo>
                <a:lnTo>
                  <a:pt x="1694" y="1255"/>
                </a:lnTo>
                <a:lnTo>
                  <a:pt x="1694" y="1255"/>
                </a:lnTo>
                <a:lnTo>
                  <a:pt x="1696" y="1252"/>
                </a:lnTo>
                <a:lnTo>
                  <a:pt x="1694" y="1251"/>
                </a:lnTo>
                <a:lnTo>
                  <a:pt x="1692" y="1254"/>
                </a:lnTo>
                <a:lnTo>
                  <a:pt x="1693" y="1254"/>
                </a:lnTo>
                <a:lnTo>
                  <a:pt x="1690" y="1259"/>
                </a:lnTo>
                <a:lnTo>
                  <a:pt x="1682" y="1272"/>
                </a:lnTo>
                <a:lnTo>
                  <a:pt x="1682" y="1273"/>
                </a:lnTo>
                <a:lnTo>
                  <a:pt x="1681" y="1276"/>
                </a:lnTo>
                <a:lnTo>
                  <a:pt x="1680" y="1276"/>
                </a:lnTo>
                <a:lnTo>
                  <a:pt x="1678" y="1278"/>
                </a:lnTo>
                <a:lnTo>
                  <a:pt x="1679" y="1279"/>
                </a:lnTo>
                <a:lnTo>
                  <a:pt x="1677" y="1283"/>
                </a:lnTo>
                <a:lnTo>
                  <a:pt x="1676" y="1282"/>
                </a:lnTo>
                <a:lnTo>
                  <a:pt x="1675" y="1285"/>
                </a:lnTo>
                <a:lnTo>
                  <a:pt x="1677" y="1286"/>
                </a:lnTo>
                <a:lnTo>
                  <a:pt x="1678" y="1283"/>
                </a:lnTo>
                <a:lnTo>
                  <a:pt x="1678" y="1283"/>
                </a:lnTo>
                <a:lnTo>
                  <a:pt x="1680" y="1279"/>
                </a:lnTo>
                <a:lnTo>
                  <a:pt x="1680" y="1280"/>
                </a:lnTo>
                <a:lnTo>
                  <a:pt x="1682" y="1277"/>
                </a:lnTo>
                <a:lnTo>
                  <a:pt x="1681" y="1277"/>
                </a:lnTo>
                <a:lnTo>
                  <a:pt x="1683" y="1273"/>
                </a:lnTo>
                <a:lnTo>
                  <a:pt x="1686" y="1274"/>
                </a:lnTo>
                <a:lnTo>
                  <a:pt x="1689" y="1271"/>
                </a:lnTo>
                <a:lnTo>
                  <a:pt x="1690" y="1270"/>
                </a:lnTo>
                <a:lnTo>
                  <a:pt x="1691" y="1270"/>
                </a:lnTo>
                <a:lnTo>
                  <a:pt x="1692" y="1271"/>
                </a:lnTo>
                <a:lnTo>
                  <a:pt x="1692" y="1271"/>
                </a:lnTo>
                <a:lnTo>
                  <a:pt x="1692" y="1273"/>
                </a:lnTo>
                <a:lnTo>
                  <a:pt x="1691" y="1275"/>
                </a:lnTo>
                <a:lnTo>
                  <a:pt x="1686" y="1284"/>
                </a:lnTo>
                <a:lnTo>
                  <a:pt x="1679" y="1297"/>
                </a:lnTo>
                <a:lnTo>
                  <a:pt x="1662" y="1322"/>
                </a:lnTo>
                <a:lnTo>
                  <a:pt x="1661" y="1323"/>
                </a:lnTo>
                <a:lnTo>
                  <a:pt x="1659" y="1324"/>
                </a:lnTo>
                <a:lnTo>
                  <a:pt x="1658" y="1324"/>
                </a:lnTo>
                <a:lnTo>
                  <a:pt x="1624" y="1306"/>
                </a:lnTo>
                <a:lnTo>
                  <a:pt x="1602" y="1292"/>
                </a:lnTo>
                <a:lnTo>
                  <a:pt x="1571" y="1275"/>
                </a:lnTo>
                <a:lnTo>
                  <a:pt x="1579" y="1263"/>
                </a:lnTo>
                <a:lnTo>
                  <a:pt x="1528" y="1235"/>
                </a:lnTo>
                <a:lnTo>
                  <a:pt x="1466" y="1200"/>
                </a:lnTo>
                <a:lnTo>
                  <a:pt x="1460" y="1211"/>
                </a:lnTo>
                <a:lnTo>
                  <a:pt x="1415" y="1187"/>
                </a:lnTo>
                <a:lnTo>
                  <a:pt x="1415" y="1186"/>
                </a:lnTo>
                <a:lnTo>
                  <a:pt x="1417" y="1186"/>
                </a:lnTo>
                <a:lnTo>
                  <a:pt x="1419" y="1183"/>
                </a:lnTo>
                <a:lnTo>
                  <a:pt x="1416" y="1180"/>
                </a:lnTo>
                <a:lnTo>
                  <a:pt x="1413" y="1184"/>
                </a:lnTo>
                <a:lnTo>
                  <a:pt x="1415" y="1185"/>
                </a:lnTo>
                <a:lnTo>
                  <a:pt x="1414" y="1186"/>
                </a:lnTo>
                <a:lnTo>
                  <a:pt x="1409" y="1183"/>
                </a:lnTo>
                <a:lnTo>
                  <a:pt x="1408" y="1175"/>
                </a:lnTo>
                <a:lnTo>
                  <a:pt x="1407" y="1174"/>
                </a:lnTo>
                <a:lnTo>
                  <a:pt x="1391" y="1163"/>
                </a:lnTo>
                <a:lnTo>
                  <a:pt x="1394" y="1160"/>
                </a:lnTo>
                <a:lnTo>
                  <a:pt x="1396" y="1161"/>
                </a:lnTo>
                <a:lnTo>
                  <a:pt x="1399" y="1158"/>
                </a:lnTo>
                <a:lnTo>
                  <a:pt x="1388" y="1151"/>
                </a:lnTo>
                <a:lnTo>
                  <a:pt x="1386" y="1154"/>
                </a:lnTo>
                <a:lnTo>
                  <a:pt x="1389" y="1156"/>
                </a:lnTo>
                <a:lnTo>
                  <a:pt x="1386" y="1164"/>
                </a:lnTo>
                <a:lnTo>
                  <a:pt x="1404" y="1178"/>
                </a:lnTo>
                <a:lnTo>
                  <a:pt x="1405" y="1184"/>
                </a:lnTo>
                <a:lnTo>
                  <a:pt x="1400" y="1188"/>
                </a:lnTo>
                <a:lnTo>
                  <a:pt x="1356" y="1160"/>
                </a:lnTo>
                <a:lnTo>
                  <a:pt x="1318" y="1134"/>
                </a:lnTo>
                <a:lnTo>
                  <a:pt x="1322" y="1128"/>
                </a:lnTo>
                <a:lnTo>
                  <a:pt x="1298" y="1103"/>
                </a:lnTo>
                <a:lnTo>
                  <a:pt x="1304" y="1096"/>
                </a:lnTo>
                <a:lnTo>
                  <a:pt x="1308" y="1100"/>
                </a:lnTo>
                <a:lnTo>
                  <a:pt x="1314" y="1094"/>
                </a:lnTo>
                <a:lnTo>
                  <a:pt x="1303" y="1085"/>
                </a:lnTo>
                <a:lnTo>
                  <a:pt x="1297" y="1089"/>
                </a:lnTo>
                <a:lnTo>
                  <a:pt x="1299" y="1092"/>
                </a:lnTo>
                <a:lnTo>
                  <a:pt x="1299" y="1096"/>
                </a:lnTo>
                <a:lnTo>
                  <a:pt x="1293" y="1101"/>
                </a:lnTo>
                <a:lnTo>
                  <a:pt x="1269" y="1081"/>
                </a:lnTo>
                <a:lnTo>
                  <a:pt x="1283" y="1066"/>
                </a:lnTo>
                <a:lnTo>
                  <a:pt x="1282" y="1065"/>
                </a:lnTo>
                <a:lnTo>
                  <a:pt x="1267" y="1079"/>
                </a:lnTo>
                <a:lnTo>
                  <a:pt x="1232" y="1050"/>
                </a:lnTo>
                <a:lnTo>
                  <a:pt x="1238" y="1042"/>
                </a:lnTo>
                <a:lnTo>
                  <a:pt x="1220" y="1024"/>
                </a:lnTo>
                <a:lnTo>
                  <a:pt x="1221" y="1022"/>
                </a:lnTo>
                <a:lnTo>
                  <a:pt x="1223" y="1020"/>
                </a:lnTo>
                <a:lnTo>
                  <a:pt x="1225" y="1018"/>
                </a:lnTo>
                <a:lnTo>
                  <a:pt x="1216" y="1009"/>
                </a:lnTo>
                <a:lnTo>
                  <a:pt x="1213" y="1011"/>
                </a:lnTo>
                <a:lnTo>
                  <a:pt x="1211" y="1013"/>
                </a:lnTo>
                <a:lnTo>
                  <a:pt x="1209" y="1015"/>
                </a:lnTo>
                <a:lnTo>
                  <a:pt x="1203" y="1010"/>
                </a:lnTo>
                <a:lnTo>
                  <a:pt x="1200" y="1013"/>
                </a:lnTo>
                <a:lnTo>
                  <a:pt x="1198" y="1012"/>
                </a:lnTo>
                <a:lnTo>
                  <a:pt x="1201" y="1008"/>
                </a:lnTo>
                <a:lnTo>
                  <a:pt x="1182" y="991"/>
                </a:lnTo>
                <a:lnTo>
                  <a:pt x="1184" y="988"/>
                </a:lnTo>
                <a:lnTo>
                  <a:pt x="1177" y="986"/>
                </a:lnTo>
                <a:lnTo>
                  <a:pt x="1177" y="988"/>
                </a:lnTo>
                <a:lnTo>
                  <a:pt x="1173" y="986"/>
                </a:lnTo>
                <a:lnTo>
                  <a:pt x="1169" y="985"/>
                </a:lnTo>
                <a:lnTo>
                  <a:pt x="1167" y="985"/>
                </a:lnTo>
                <a:lnTo>
                  <a:pt x="1164" y="985"/>
                </a:lnTo>
                <a:lnTo>
                  <a:pt x="1162" y="984"/>
                </a:lnTo>
                <a:lnTo>
                  <a:pt x="1161" y="985"/>
                </a:lnTo>
                <a:lnTo>
                  <a:pt x="1159" y="985"/>
                </a:lnTo>
                <a:lnTo>
                  <a:pt x="1156" y="986"/>
                </a:lnTo>
                <a:lnTo>
                  <a:pt x="1151" y="988"/>
                </a:lnTo>
                <a:lnTo>
                  <a:pt x="1145" y="992"/>
                </a:lnTo>
                <a:lnTo>
                  <a:pt x="1141" y="996"/>
                </a:lnTo>
                <a:lnTo>
                  <a:pt x="1138" y="1002"/>
                </a:lnTo>
                <a:lnTo>
                  <a:pt x="1138" y="1008"/>
                </a:lnTo>
                <a:lnTo>
                  <a:pt x="1138" y="1017"/>
                </a:lnTo>
                <a:lnTo>
                  <a:pt x="1136" y="1034"/>
                </a:lnTo>
                <a:lnTo>
                  <a:pt x="1134" y="1052"/>
                </a:lnTo>
                <a:lnTo>
                  <a:pt x="1132" y="1077"/>
                </a:lnTo>
                <a:lnTo>
                  <a:pt x="1131" y="1100"/>
                </a:lnTo>
                <a:lnTo>
                  <a:pt x="1132" y="1107"/>
                </a:lnTo>
                <a:lnTo>
                  <a:pt x="1149" y="1132"/>
                </a:lnTo>
                <a:lnTo>
                  <a:pt x="1159" y="1149"/>
                </a:lnTo>
                <a:lnTo>
                  <a:pt x="1167" y="1162"/>
                </a:lnTo>
                <a:lnTo>
                  <a:pt x="1172" y="1171"/>
                </a:lnTo>
                <a:lnTo>
                  <a:pt x="1176" y="1177"/>
                </a:lnTo>
                <a:lnTo>
                  <a:pt x="1181" y="1184"/>
                </a:lnTo>
                <a:lnTo>
                  <a:pt x="1187" y="1195"/>
                </a:lnTo>
                <a:lnTo>
                  <a:pt x="1189" y="1211"/>
                </a:lnTo>
                <a:lnTo>
                  <a:pt x="1192" y="1214"/>
                </a:lnTo>
                <a:lnTo>
                  <a:pt x="1193" y="1217"/>
                </a:lnTo>
                <a:lnTo>
                  <a:pt x="1197" y="1219"/>
                </a:lnTo>
                <a:lnTo>
                  <a:pt x="1238" y="1163"/>
                </a:lnTo>
                <a:lnTo>
                  <a:pt x="1256" y="1176"/>
                </a:lnTo>
                <a:lnTo>
                  <a:pt x="1214" y="1232"/>
                </a:lnTo>
                <a:lnTo>
                  <a:pt x="1217" y="1236"/>
                </a:lnTo>
                <a:lnTo>
                  <a:pt x="1258" y="1183"/>
                </a:lnTo>
                <a:lnTo>
                  <a:pt x="1269" y="1184"/>
                </a:lnTo>
                <a:lnTo>
                  <a:pt x="1274" y="1195"/>
                </a:lnTo>
                <a:lnTo>
                  <a:pt x="1238" y="1244"/>
                </a:lnTo>
                <a:lnTo>
                  <a:pt x="1236" y="1247"/>
                </a:lnTo>
                <a:lnTo>
                  <a:pt x="1237" y="1249"/>
                </a:lnTo>
                <a:lnTo>
                  <a:pt x="1239" y="1251"/>
                </a:lnTo>
                <a:lnTo>
                  <a:pt x="1242" y="1253"/>
                </a:lnTo>
                <a:lnTo>
                  <a:pt x="1244" y="1257"/>
                </a:lnTo>
                <a:lnTo>
                  <a:pt x="1244" y="1260"/>
                </a:lnTo>
                <a:lnTo>
                  <a:pt x="1241" y="1265"/>
                </a:lnTo>
                <a:lnTo>
                  <a:pt x="1239" y="1264"/>
                </a:lnTo>
                <a:lnTo>
                  <a:pt x="1238" y="1267"/>
                </a:lnTo>
                <a:lnTo>
                  <a:pt x="1243" y="1271"/>
                </a:lnTo>
                <a:lnTo>
                  <a:pt x="1245" y="1267"/>
                </a:lnTo>
                <a:lnTo>
                  <a:pt x="1244" y="1267"/>
                </a:lnTo>
                <a:lnTo>
                  <a:pt x="1245" y="1266"/>
                </a:lnTo>
                <a:lnTo>
                  <a:pt x="1247" y="1266"/>
                </a:lnTo>
                <a:lnTo>
                  <a:pt x="1249" y="1267"/>
                </a:lnTo>
                <a:lnTo>
                  <a:pt x="1251" y="1268"/>
                </a:lnTo>
                <a:lnTo>
                  <a:pt x="1252" y="1269"/>
                </a:lnTo>
                <a:lnTo>
                  <a:pt x="1252" y="1269"/>
                </a:lnTo>
                <a:lnTo>
                  <a:pt x="1253" y="1271"/>
                </a:lnTo>
                <a:lnTo>
                  <a:pt x="1253" y="1272"/>
                </a:lnTo>
                <a:lnTo>
                  <a:pt x="1251" y="1272"/>
                </a:lnTo>
                <a:lnTo>
                  <a:pt x="1250" y="1274"/>
                </a:lnTo>
                <a:lnTo>
                  <a:pt x="1256" y="1279"/>
                </a:lnTo>
                <a:lnTo>
                  <a:pt x="1257" y="1276"/>
                </a:lnTo>
                <a:lnTo>
                  <a:pt x="1256" y="1274"/>
                </a:lnTo>
                <a:lnTo>
                  <a:pt x="1261" y="1266"/>
                </a:lnTo>
                <a:lnTo>
                  <a:pt x="1269" y="1254"/>
                </a:lnTo>
                <a:lnTo>
                  <a:pt x="1271" y="1252"/>
                </a:lnTo>
                <a:lnTo>
                  <a:pt x="1274" y="1248"/>
                </a:lnTo>
                <a:lnTo>
                  <a:pt x="1287" y="1257"/>
                </a:lnTo>
                <a:lnTo>
                  <a:pt x="1272" y="1281"/>
                </a:lnTo>
                <a:lnTo>
                  <a:pt x="1323" y="1314"/>
                </a:lnTo>
                <a:lnTo>
                  <a:pt x="1334" y="1321"/>
                </a:lnTo>
                <a:lnTo>
                  <a:pt x="1338" y="1322"/>
                </a:lnTo>
                <a:lnTo>
                  <a:pt x="1357" y="1334"/>
                </a:lnTo>
                <a:lnTo>
                  <a:pt x="1356" y="1340"/>
                </a:lnTo>
                <a:lnTo>
                  <a:pt x="1358" y="1341"/>
                </a:lnTo>
                <a:lnTo>
                  <a:pt x="1361" y="1336"/>
                </a:lnTo>
                <a:lnTo>
                  <a:pt x="1363" y="1336"/>
                </a:lnTo>
                <a:lnTo>
                  <a:pt x="1376" y="1344"/>
                </a:lnTo>
                <a:lnTo>
                  <a:pt x="1381" y="1347"/>
                </a:lnTo>
                <a:lnTo>
                  <a:pt x="1380" y="1349"/>
                </a:lnTo>
                <a:lnTo>
                  <a:pt x="1385" y="1351"/>
                </a:lnTo>
                <a:lnTo>
                  <a:pt x="1376" y="1366"/>
                </a:lnTo>
                <a:lnTo>
                  <a:pt x="1490" y="1431"/>
                </a:lnTo>
                <a:lnTo>
                  <a:pt x="1509" y="1442"/>
                </a:lnTo>
                <a:lnTo>
                  <a:pt x="1557" y="1470"/>
                </a:lnTo>
                <a:lnTo>
                  <a:pt x="1562" y="1460"/>
                </a:lnTo>
                <a:lnTo>
                  <a:pt x="1579" y="1469"/>
                </a:lnTo>
                <a:lnTo>
                  <a:pt x="1597" y="1480"/>
                </a:lnTo>
                <a:lnTo>
                  <a:pt x="1674" y="1525"/>
                </a:lnTo>
                <a:lnTo>
                  <a:pt x="1651" y="1563"/>
                </a:lnTo>
                <a:lnTo>
                  <a:pt x="1648" y="1565"/>
                </a:lnTo>
                <a:lnTo>
                  <a:pt x="1584" y="1526"/>
                </a:lnTo>
                <a:lnTo>
                  <a:pt x="1566" y="1515"/>
                </a:lnTo>
                <a:lnTo>
                  <a:pt x="1563" y="1513"/>
                </a:lnTo>
                <a:lnTo>
                  <a:pt x="1502" y="1618"/>
                </a:lnTo>
                <a:lnTo>
                  <a:pt x="1496" y="1627"/>
                </a:lnTo>
                <a:lnTo>
                  <a:pt x="1339" y="1532"/>
                </a:lnTo>
                <a:lnTo>
                  <a:pt x="1340" y="1529"/>
                </a:lnTo>
                <a:lnTo>
                  <a:pt x="1325" y="1520"/>
                </a:lnTo>
                <a:lnTo>
                  <a:pt x="1324" y="1523"/>
                </a:lnTo>
                <a:lnTo>
                  <a:pt x="1322" y="1522"/>
                </a:lnTo>
                <a:lnTo>
                  <a:pt x="1286" y="1587"/>
                </a:lnTo>
                <a:lnTo>
                  <a:pt x="1280" y="1584"/>
                </a:lnTo>
                <a:lnTo>
                  <a:pt x="1259" y="1572"/>
                </a:lnTo>
                <a:lnTo>
                  <a:pt x="1256" y="1570"/>
                </a:lnTo>
                <a:lnTo>
                  <a:pt x="1254" y="1567"/>
                </a:lnTo>
                <a:lnTo>
                  <a:pt x="1266" y="1545"/>
                </a:lnTo>
                <a:lnTo>
                  <a:pt x="1267" y="1544"/>
                </a:lnTo>
                <a:lnTo>
                  <a:pt x="1274" y="1532"/>
                </a:lnTo>
                <a:lnTo>
                  <a:pt x="1275" y="1530"/>
                </a:lnTo>
                <a:lnTo>
                  <a:pt x="1279" y="1523"/>
                </a:lnTo>
                <a:lnTo>
                  <a:pt x="1280" y="1522"/>
                </a:lnTo>
                <a:lnTo>
                  <a:pt x="1284" y="1515"/>
                </a:lnTo>
                <a:lnTo>
                  <a:pt x="1285" y="1513"/>
                </a:lnTo>
                <a:lnTo>
                  <a:pt x="1288" y="1507"/>
                </a:lnTo>
                <a:lnTo>
                  <a:pt x="1289" y="1505"/>
                </a:lnTo>
                <a:lnTo>
                  <a:pt x="1291" y="1502"/>
                </a:lnTo>
                <a:lnTo>
                  <a:pt x="1291" y="1500"/>
                </a:lnTo>
                <a:lnTo>
                  <a:pt x="1291" y="1498"/>
                </a:lnTo>
                <a:lnTo>
                  <a:pt x="1289" y="1499"/>
                </a:lnTo>
                <a:lnTo>
                  <a:pt x="1286" y="1485"/>
                </a:lnTo>
                <a:lnTo>
                  <a:pt x="1285" y="1485"/>
                </a:lnTo>
                <a:lnTo>
                  <a:pt x="1283" y="1483"/>
                </a:lnTo>
                <a:lnTo>
                  <a:pt x="1269" y="1485"/>
                </a:lnTo>
                <a:lnTo>
                  <a:pt x="1268" y="1485"/>
                </a:lnTo>
                <a:lnTo>
                  <a:pt x="1254" y="1488"/>
                </a:lnTo>
                <a:lnTo>
                  <a:pt x="1254" y="1486"/>
                </a:lnTo>
                <a:lnTo>
                  <a:pt x="1252" y="1485"/>
                </a:lnTo>
                <a:lnTo>
                  <a:pt x="1251" y="1483"/>
                </a:lnTo>
                <a:lnTo>
                  <a:pt x="1253" y="1480"/>
                </a:lnTo>
                <a:lnTo>
                  <a:pt x="1253" y="1479"/>
                </a:lnTo>
                <a:lnTo>
                  <a:pt x="1255" y="1478"/>
                </a:lnTo>
                <a:lnTo>
                  <a:pt x="1255" y="1478"/>
                </a:lnTo>
                <a:lnTo>
                  <a:pt x="1264" y="1475"/>
                </a:lnTo>
                <a:lnTo>
                  <a:pt x="1252" y="1433"/>
                </a:lnTo>
                <a:lnTo>
                  <a:pt x="1266" y="1429"/>
                </a:lnTo>
                <a:lnTo>
                  <a:pt x="1262" y="1418"/>
                </a:lnTo>
                <a:lnTo>
                  <a:pt x="1261" y="1416"/>
                </a:lnTo>
                <a:lnTo>
                  <a:pt x="1238" y="1418"/>
                </a:lnTo>
                <a:lnTo>
                  <a:pt x="1219" y="1422"/>
                </a:lnTo>
                <a:lnTo>
                  <a:pt x="1216" y="1415"/>
                </a:lnTo>
                <a:lnTo>
                  <a:pt x="1245" y="1406"/>
                </a:lnTo>
                <a:lnTo>
                  <a:pt x="1244" y="1396"/>
                </a:lnTo>
                <a:lnTo>
                  <a:pt x="1243" y="1392"/>
                </a:lnTo>
                <a:lnTo>
                  <a:pt x="1242" y="1389"/>
                </a:lnTo>
                <a:lnTo>
                  <a:pt x="1240" y="1383"/>
                </a:lnTo>
                <a:lnTo>
                  <a:pt x="1237" y="1374"/>
                </a:lnTo>
                <a:lnTo>
                  <a:pt x="1232" y="1363"/>
                </a:lnTo>
                <a:lnTo>
                  <a:pt x="1227" y="1356"/>
                </a:lnTo>
                <a:lnTo>
                  <a:pt x="1219" y="1352"/>
                </a:lnTo>
                <a:lnTo>
                  <a:pt x="1212" y="1350"/>
                </a:lnTo>
                <a:lnTo>
                  <a:pt x="1206" y="1351"/>
                </a:lnTo>
                <a:lnTo>
                  <a:pt x="1203" y="1352"/>
                </a:lnTo>
                <a:lnTo>
                  <a:pt x="1201" y="1355"/>
                </a:lnTo>
                <a:lnTo>
                  <a:pt x="1201" y="1360"/>
                </a:lnTo>
                <a:lnTo>
                  <a:pt x="1199" y="1365"/>
                </a:lnTo>
                <a:lnTo>
                  <a:pt x="1197" y="1368"/>
                </a:lnTo>
                <a:lnTo>
                  <a:pt x="1195" y="1369"/>
                </a:lnTo>
                <a:lnTo>
                  <a:pt x="1193" y="1370"/>
                </a:lnTo>
                <a:lnTo>
                  <a:pt x="1191" y="1369"/>
                </a:lnTo>
                <a:lnTo>
                  <a:pt x="1189" y="1367"/>
                </a:lnTo>
                <a:lnTo>
                  <a:pt x="1187" y="1367"/>
                </a:lnTo>
                <a:lnTo>
                  <a:pt x="1194" y="1398"/>
                </a:lnTo>
                <a:lnTo>
                  <a:pt x="1193" y="1399"/>
                </a:lnTo>
                <a:lnTo>
                  <a:pt x="1198" y="1419"/>
                </a:lnTo>
                <a:lnTo>
                  <a:pt x="1190" y="1421"/>
                </a:lnTo>
                <a:lnTo>
                  <a:pt x="1191" y="1429"/>
                </a:lnTo>
                <a:lnTo>
                  <a:pt x="1189" y="1430"/>
                </a:lnTo>
                <a:lnTo>
                  <a:pt x="1189" y="1432"/>
                </a:lnTo>
                <a:lnTo>
                  <a:pt x="1187" y="1433"/>
                </a:lnTo>
                <a:lnTo>
                  <a:pt x="1177" y="1436"/>
                </a:lnTo>
                <a:lnTo>
                  <a:pt x="1172" y="1437"/>
                </a:lnTo>
                <a:lnTo>
                  <a:pt x="1158" y="1384"/>
                </a:lnTo>
                <a:lnTo>
                  <a:pt x="1149" y="1361"/>
                </a:lnTo>
                <a:lnTo>
                  <a:pt x="1137" y="1330"/>
                </a:lnTo>
                <a:lnTo>
                  <a:pt x="1136" y="1328"/>
                </a:lnTo>
                <a:lnTo>
                  <a:pt x="1141" y="1325"/>
                </a:lnTo>
                <a:lnTo>
                  <a:pt x="1142" y="1328"/>
                </a:lnTo>
                <a:lnTo>
                  <a:pt x="1147" y="1326"/>
                </a:lnTo>
                <a:lnTo>
                  <a:pt x="1143" y="1318"/>
                </a:lnTo>
                <a:lnTo>
                  <a:pt x="1139" y="1319"/>
                </a:lnTo>
                <a:lnTo>
                  <a:pt x="1140" y="1322"/>
                </a:lnTo>
                <a:lnTo>
                  <a:pt x="1137" y="1324"/>
                </a:lnTo>
                <a:lnTo>
                  <a:pt x="1130" y="1307"/>
                </a:lnTo>
                <a:lnTo>
                  <a:pt x="1128" y="1299"/>
                </a:lnTo>
                <a:lnTo>
                  <a:pt x="1131" y="1298"/>
                </a:lnTo>
                <a:lnTo>
                  <a:pt x="1132" y="1301"/>
                </a:lnTo>
                <a:lnTo>
                  <a:pt x="1137" y="1299"/>
                </a:lnTo>
                <a:lnTo>
                  <a:pt x="1133" y="1290"/>
                </a:lnTo>
                <a:lnTo>
                  <a:pt x="1129" y="1292"/>
                </a:lnTo>
                <a:lnTo>
                  <a:pt x="1130" y="1295"/>
                </a:lnTo>
                <a:lnTo>
                  <a:pt x="1127" y="1297"/>
                </a:lnTo>
                <a:lnTo>
                  <a:pt x="1125" y="1294"/>
                </a:lnTo>
                <a:lnTo>
                  <a:pt x="1109" y="1266"/>
                </a:lnTo>
                <a:lnTo>
                  <a:pt x="1108" y="1265"/>
                </a:lnTo>
                <a:lnTo>
                  <a:pt x="1104" y="1265"/>
                </a:lnTo>
                <a:lnTo>
                  <a:pt x="1101" y="1266"/>
                </a:lnTo>
                <a:lnTo>
                  <a:pt x="1099" y="1269"/>
                </a:lnTo>
                <a:lnTo>
                  <a:pt x="1096" y="1363"/>
                </a:lnTo>
                <a:lnTo>
                  <a:pt x="1071" y="1370"/>
                </a:lnTo>
                <a:lnTo>
                  <a:pt x="1054" y="1314"/>
                </a:lnTo>
                <a:lnTo>
                  <a:pt x="1056" y="1313"/>
                </a:lnTo>
                <a:lnTo>
                  <a:pt x="1062" y="1335"/>
                </a:lnTo>
                <a:lnTo>
                  <a:pt x="1066" y="1334"/>
                </a:lnTo>
                <a:lnTo>
                  <a:pt x="1054" y="1293"/>
                </a:lnTo>
                <a:lnTo>
                  <a:pt x="1050" y="1294"/>
                </a:lnTo>
                <a:lnTo>
                  <a:pt x="1054" y="1306"/>
                </a:lnTo>
                <a:lnTo>
                  <a:pt x="1051" y="1306"/>
                </a:lnTo>
                <a:lnTo>
                  <a:pt x="1049" y="1300"/>
                </a:lnTo>
                <a:lnTo>
                  <a:pt x="1049" y="1290"/>
                </a:lnTo>
                <a:lnTo>
                  <a:pt x="1055" y="1071"/>
                </a:lnTo>
                <a:lnTo>
                  <a:pt x="1056" y="1071"/>
                </a:lnTo>
                <a:lnTo>
                  <a:pt x="1056" y="1085"/>
                </a:lnTo>
                <a:lnTo>
                  <a:pt x="1061" y="1085"/>
                </a:lnTo>
                <a:lnTo>
                  <a:pt x="1061" y="1056"/>
                </a:lnTo>
                <a:lnTo>
                  <a:pt x="1057" y="1056"/>
                </a:lnTo>
                <a:lnTo>
                  <a:pt x="1057" y="1066"/>
                </a:lnTo>
                <a:lnTo>
                  <a:pt x="1055" y="1066"/>
                </a:lnTo>
                <a:lnTo>
                  <a:pt x="1056" y="1026"/>
                </a:lnTo>
                <a:lnTo>
                  <a:pt x="1053" y="1026"/>
                </a:lnTo>
                <a:lnTo>
                  <a:pt x="1052" y="1013"/>
                </a:lnTo>
                <a:lnTo>
                  <a:pt x="1051" y="998"/>
                </a:lnTo>
                <a:lnTo>
                  <a:pt x="1053" y="907"/>
                </a:lnTo>
                <a:lnTo>
                  <a:pt x="1026" y="906"/>
                </a:lnTo>
                <a:lnTo>
                  <a:pt x="1026" y="876"/>
                </a:lnTo>
                <a:lnTo>
                  <a:pt x="1050" y="876"/>
                </a:lnTo>
                <a:lnTo>
                  <a:pt x="1051" y="869"/>
                </a:lnTo>
                <a:lnTo>
                  <a:pt x="1044" y="869"/>
                </a:lnTo>
                <a:lnTo>
                  <a:pt x="1045" y="853"/>
                </a:lnTo>
                <a:lnTo>
                  <a:pt x="1045" y="849"/>
                </a:lnTo>
                <a:lnTo>
                  <a:pt x="1055" y="840"/>
                </a:lnTo>
                <a:lnTo>
                  <a:pt x="1055" y="834"/>
                </a:lnTo>
                <a:lnTo>
                  <a:pt x="1061" y="836"/>
                </a:lnTo>
                <a:lnTo>
                  <a:pt x="1061" y="831"/>
                </a:lnTo>
                <a:lnTo>
                  <a:pt x="1054" y="828"/>
                </a:lnTo>
                <a:lnTo>
                  <a:pt x="1055" y="807"/>
                </a:lnTo>
                <a:lnTo>
                  <a:pt x="1061" y="804"/>
                </a:lnTo>
                <a:lnTo>
                  <a:pt x="1061" y="793"/>
                </a:lnTo>
                <a:moveTo>
                  <a:pt x="1061" y="793"/>
                </a:moveTo>
                <a:lnTo>
                  <a:pt x="928" y="790"/>
                </a:lnTo>
                <a:lnTo>
                  <a:pt x="928" y="786"/>
                </a:lnTo>
                <a:lnTo>
                  <a:pt x="930" y="720"/>
                </a:lnTo>
                <a:lnTo>
                  <a:pt x="1063" y="723"/>
                </a:lnTo>
                <a:moveTo>
                  <a:pt x="1063" y="723"/>
                </a:moveTo>
                <a:lnTo>
                  <a:pt x="1064" y="710"/>
                </a:lnTo>
                <a:lnTo>
                  <a:pt x="1057" y="710"/>
                </a:lnTo>
                <a:lnTo>
                  <a:pt x="1044" y="710"/>
                </a:lnTo>
                <a:lnTo>
                  <a:pt x="1038" y="700"/>
                </a:lnTo>
                <a:lnTo>
                  <a:pt x="1031" y="685"/>
                </a:lnTo>
                <a:lnTo>
                  <a:pt x="1027" y="672"/>
                </a:lnTo>
                <a:lnTo>
                  <a:pt x="1024" y="660"/>
                </a:lnTo>
                <a:lnTo>
                  <a:pt x="1022" y="649"/>
                </a:lnTo>
                <a:lnTo>
                  <a:pt x="1022" y="639"/>
                </a:lnTo>
                <a:lnTo>
                  <a:pt x="1024" y="634"/>
                </a:lnTo>
                <a:lnTo>
                  <a:pt x="1029" y="626"/>
                </a:lnTo>
                <a:lnTo>
                  <a:pt x="1034" y="620"/>
                </a:lnTo>
                <a:lnTo>
                  <a:pt x="1040" y="617"/>
                </a:lnTo>
                <a:lnTo>
                  <a:pt x="1046" y="614"/>
                </a:lnTo>
                <a:lnTo>
                  <a:pt x="1049" y="613"/>
                </a:lnTo>
                <a:lnTo>
                  <a:pt x="1050" y="611"/>
                </a:lnTo>
                <a:lnTo>
                  <a:pt x="1051" y="607"/>
                </a:lnTo>
                <a:lnTo>
                  <a:pt x="1050" y="607"/>
                </a:lnTo>
                <a:lnTo>
                  <a:pt x="1049" y="606"/>
                </a:lnTo>
                <a:lnTo>
                  <a:pt x="1043" y="607"/>
                </a:lnTo>
                <a:lnTo>
                  <a:pt x="1033" y="610"/>
                </a:lnTo>
                <a:lnTo>
                  <a:pt x="1025" y="613"/>
                </a:lnTo>
                <a:lnTo>
                  <a:pt x="1011" y="615"/>
                </a:lnTo>
                <a:lnTo>
                  <a:pt x="998" y="615"/>
                </a:lnTo>
                <a:lnTo>
                  <a:pt x="981" y="614"/>
                </a:lnTo>
                <a:lnTo>
                  <a:pt x="956" y="612"/>
                </a:lnTo>
                <a:lnTo>
                  <a:pt x="954" y="612"/>
                </a:lnTo>
                <a:lnTo>
                  <a:pt x="954" y="625"/>
                </a:lnTo>
                <a:lnTo>
                  <a:pt x="952" y="654"/>
                </a:lnTo>
                <a:lnTo>
                  <a:pt x="950" y="664"/>
                </a:lnTo>
                <a:lnTo>
                  <a:pt x="946" y="672"/>
                </a:lnTo>
                <a:lnTo>
                  <a:pt x="939" y="678"/>
                </a:lnTo>
                <a:lnTo>
                  <a:pt x="929" y="680"/>
                </a:lnTo>
                <a:lnTo>
                  <a:pt x="916" y="681"/>
                </a:lnTo>
                <a:lnTo>
                  <a:pt x="902" y="682"/>
                </a:lnTo>
                <a:lnTo>
                  <a:pt x="893" y="685"/>
                </a:lnTo>
                <a:lnTo>
                  <a:pt x="892" y="687"/>
                </a:lnTo>
                <a:lnTo>
                  <a:pt x="890" y="692"/>
                </a:lnTo>
                <a:lnTo>
                  <a:pt x="887" y="719"/>
                </a:lnTo>
                <a:lnTo>
                  <a:pt x="887" y="734"/>
                </a:lnTo>
                <a:lnTo>
                  <a:pt x="886" y="755"/>
                </a:lnTo>
                <a:lnTo>
                  <a:pt x="885" y="767"/>
                </a:lnTo>
                <a:lnTo>
                  <a:pt x="884" y="778"/>
                </a:lnTo>
                <a:lnTo>
                  <a:pt x="883" y="784"/>
                </a:lnTo>
                <a:lnTo>
                  <a:pt x="884" y="789"/>
                </a:lnTo>
                <a:lnTo>
                  <a:pt x="886" y="793"/>
                </a:lnTo>
                <a:lnTo>
                  <a:pt x="886" y="796"/>
                </a:lnTo>
                <a:lnTo>
                  <a:pt x="886" y="800"/>
                </a:lnTo>
                <a:lnTo>
                  <a:pt x="885" y="819"/>
                </a:lnTo>
                <a:lnTo>
                  <a:pt x="884" y="829"/>
                </a:lnTo>
                <a:lnTo>
                  <a:pt x="883" y="832"/>
                </a:lnTo>
                <a:lnTo>
                  <a:pt x="880" y="836"/>
                </a:lnTo>
                <a:lnTo>
                  <a:pt x="868" y="840"/>
                </a:lnTo>
                <a:lnTo>
                  <a:pt x="850" y="843"/>
                </a:lnTo>
                <a:lnTo>
                  <a:pt x="804" y="849"/>
                </a:lnTo>
                <a:lnTo>
                  <a:pt x="774" y="852"/>
                </a:lnTo>
                <a:lnTo>
                  <a:pt x="736" y="858"/>
                </a:lnTo>
                <a:lnTo>
                  <a:pt x="696" y="865"/>
                </a:lnTo>
                <a:lnTo>
                  <a:pt x="650" y="868"/>
                </a:lnTo>
                <a:lnTo>
                  <a:pt x="638" y="868"/>
                </a:lnTo>
                <a:lnTo>
                  <a:pt x="620" y="864"/>
                </a:lnTo>
                <a:lnTo>
                  <a:pt x="601" y="861"/>
                </a:lnTo>
                <a:lnTo>
                  <a:pt x="589" y="859"/>
                </a:lnTo>
                <a:lnTo>
                  <a:pt x="582" y="856"/>
                </a:lnTo>
                <a:lnTo>
                  <a:pt x="579" y="852"/>
                </a:lnTo>
                <a:lnTo>
                  <a:pt x="577" y="842"/>
                </a:lnTo>
                <a:lnTo>
                  <a:pt x="576" y="822"/>
                </a:lnTo>
                <a:lnTo>
                  <a:pt x="574" y="795"/>
                </a:lnTo>
                <a:lnTo>
                  <a:pt x="571" y="762"/>
                </a:lnTo>
                <a:lnTo>
                  <a:pt x="570" y="735"/>
                </a:lnTo>
                <a:lnTo>
                  <a:pt x="567" y="698"/>
                </a:lnTo>
                <a:lnTo>
                  <a:pt x="567" y="684"/>
                </a:lnTo>
                <a:lnTo>
                  <a:pt x="567" y="674"/>
                </a:lnTo>
                <a:lnTo>
                  <a:pt x="568" y="670"/>
                </a:lnTo>
                <a:lnTo>
                  <a:pt x="571" y="668"/>
                </a:lnTo>
                <a:lnTo>
                  <a:pt x="583" y="668"/>
                </a:lnTo>
                <a:lnTo>
                  <a:pt x="598" y="668"/>
                </a:lnTo>
                <a:lnTo>
                  <a:pt x="610" y="668"/>
                </a:lnTo>
                <a:lnTo>
                  <a:pt x="621" y="668"/>
                </a:lnTo>
                <a:lnTo>
                  <a:pt x="632" y="670"/>
                </a:lnTo>
                <a:lnTo>
                  <a:pt x="641" y="671"/>
                </a:lnTo>
                <a:lnTo>
                  <a:pt x="649" y="671"/>
                </a:lnTo>
                <a:lnTo>
                  <a:pt x="657" y="670"/>
                </a:lnTo>
                <a:lnTo>
                  <a:pt x="666" y="666"/>
                </a:lnTo>
                <a:lnTo>
                  <a:pt x="672" y="665"/>
                </a:lnTo>
                <a:lnTo>
                  <a:pt x="678" y="663"/>
                </a:lnTo>
                <a:lnTo>
                  <a:pt x="682" y="660"/>
                </a:lnTo>
                <a:lnTo>
                  <a:pt x="685" y="657"/>
                </a:lnTo>
                <a:lnTo>
                  <a:pt x="688" y="652"/>
                </a:lnTo>
                <a:lnTo>
                  <a:pt x="691" y="650"/>
                </a:lnTo>
                <a:lnTo>
                  <a:pt x="697" y="647"/>
                </a:lnTo>
                <a:lnTo>
                  <a:pt x="701" y="647"/>
                </a:lnTo>
                <a:lnTo>
                  <a:pt x="723" y="651"/>
                </a:lnTo>
                <a:lnTo>
                  <a:pt x="731" y="651"/>
                </a:lnTo>
                <a:lnTo>
                  <a:pt x="735" y="650"/>
                </a:lnTo>
                <a:lnTo>
                  <a:pt x="736" y="649"/>
                </a:lnTo>
                <a:lnTo>
                  <a:pt x="736" y="647"/>
                </a:lnTo>
                <a:lnTo>
                  <a:pt x="736" y="644"/>
                </a:lnTo>
                <a:lnTo>
                  <a:pt x="733" y="643"/>
                </a:lnTo>
                <a:lnTo>
                  <a:pt x="726" y="640"/>
                </a:lnTo>
                <a:lnTo>
                  <a:pt x="717" y="639"/>
                </a:lnTo>
                <a:lnTo>
                  <a:pt x="712" y="639"/>
                </a:lnTo>
                <a:lnTo>
                  <a:pt x="702" y="637"/>
                </a:lnTo>
                <a:lnTo>
                  <a:pt x="694" y="634"/>
                </a:lnTo>
                <a:lnTo>
                  <a:pt x="682" y="632"/>
                </a:lnTo>
                <a:lnTo>
                  <a:pt x="669" y="632"/>
                </a:lnTo>
                <a:lnTo>
                  <a:pt x="650" y="634"/>
                </a:lnTo>
                <a:lnTo>
                  <a:pt x="633" y="635"/>
                </a:lnTo>
                <a:lnTo>
                  <a:pt x="614" y="636"/>
                </a:lnTo>
                <a:lnTo>
                  <a:pt x="606" y="635"/>
                </a:lnTo>
                <a:lnTo>
                  <a:pt x="597" y="632"/>
                </a:lnTo>
                <a:lnTo>
                  <a:pt x="590" y="627"/>
                </a:lnTo>
                <a:lnTo>
                  <a:pt x="583" y="618"/>
                </a:lnTo>
                <a:lnTo>
                  <a:pt x="579" y="612"/>
                </a:lnTo>
                <a:lnTo>
                  <a:pt x="577" y="605"/>
                </a:lnTo>
                <a:lnTo>
                  <a:pt x="577" y="590"/>
                </a:lnTo>
                <a:lnTo>
                  <a:pt x="576" y="580"/>
                </a:lnTo>
                <a:lnTo>
                  <a:pt x="575" y="570"/>
                </a:lnTo>
                <a:lnTo>
                  <a:pt x="571" y="561"/>
                </a:lnTo>
                <a:lnTo>
                  <a:pt x="567" y="552"/>
                </a:lnTo>
                <a:lnTo>
                  <a:pt x="563" y="546"/>
                </a:lnTo>
                <a:lnTo>
                  <a:pt x="560" y="541"/>
                </a:lnTo>
                <a:lnTo>
                  <a:pt x="555" y="536"/>
                </a:lnTo>
                <a:lnTo>
                  <a:pt x="552" y="534"/>
                </a:lnTo>
                <a:lnTo>
                  <a:pt x="550" y="532"/>
                </a:lnTo>
                <a:lnTo>
                  <a:pt x="547" y="531"/>
                </a:lnTo>
                <a:lnTo>
                  <a:pt x="545" y="532"/>
                </a:lnTo>
                <a:lnTo>
                  <a:pt x="542" y="533"/>
                </a:lnTo>
                <a:lnTo>
                  <a:pt x="538" y="533"/>
                </a:lnTo>
                <a:lnTo>
                  <a:pt x="537" y="532"/>
                </a:lnTo>
                <a:lnTo>
                  <a:pt x="536" y="531"/>
                </a:lnTo>
                <a:lnTo>
                  <a:pt x="536" y="530"/>
                </a:lnTo>
                <a:lnTo>
                  <a:pt x="536" y="525"/>
                </a:lnTo>
                <a:lnTo>
                  <a:pt x="535" y="518"/>
                </a:lnTo>
                <a:lnTo>
                  <a:pt x="537" y="509"/>
                </a:lnTo>
                <a:lnTo>
                  <a:pt x="539" y="504"/>
                </a:lnTo>
                <a:lnTo>
                  <a:pt x="543" y="499"/>
                </a:lnTo>
                <a:lnTo>
                  <a:pt x="550" y="494"/>
                </a:lnTo>
                <a:lnTo>
                  <a:pt x="558" y="490"/>
                </a:lnTo>
                <a:lnTo>
                  <a:pt x="564" y="487"/>
                </a:lnTo>
                <a:lnTo>
                  <a:pt x="571" y="485"/>
                </a:lnTo>
                <a:lnTo>
                  <a:pt x="574" y="483"/>
                </a:lnTo>
                <a:lnTo>
                  <a:pt x="575" y="482"/>
                </a:lnTo>
                <a:lnTo>
                  <a:pt x="574" y="480"/>
                </a:lnTo>
                <a:lnTo>
                  <a:pt x="574" y="479"/>
                </a:lnTo>
                <a:lnTo>
                  <a:pt x="572" y="479"/>
                </a:lnTo>
                <a:lnTo>
                  <a:pt x="570" y="479"/>
                </a:lnTo>
                <a:lnTo>
                  <a:pt x="563" y="480"/>
                </a:lnTo>
                <a:lnTo>
                  <a:pt x="553" y="481"/>
                </a:lnTo>
                <a:lnTo>
                  <a:pt x="544" y="483"/>
                </a:lnTo>
                <a:lnTo>
                  <a:pt x="538" y="485"/>
                </a:lnTo>
                <a:lnTo>
                  <a:pt x="534" y="489"/>
                </a:lnTo>
                <a:lnTo>
                  <a:pt x="529" y="495"/>
                </a:lnTo>
                <a:lnTo>
                  <a:pt x="527" y="501"/>
                </a:lnTo>
                <a:lnTo>
                  <a:pt x="526" y="506"/>
                </a:lnTo>
                <a:lnTo>
                  <a:pt x="526" y="511"/>
                </a:lnTo>
                <a:lnTo>
                  <a:pt x="527" y="516"/>
                </a:lnTo>
                <a:lnTo>
                  <a:pt x="529" y="522"/>
                </a:lnTo>
                <a:lnTo>
                  <a:pt x="529" y="526"/>
                </a:lnTo>
                <a:lnTo>
                  <a:pt x="529" y="532"/>
                </a:lnTo>
                <a:lnTo>
                  <a:pt x="529" y="538"/>
                </a:lnTo>
                <a:lnTo>
                  <a:pt x="529" y="546"/>
                </a:lnTo>
                <a:lnTo>
                  <a:pt x="529" y="558"/>
                </a:lnTo>
                <a:lnTo>
                  <a:pt x="527" y="577"/>
                </a:lnTo>
                <a:lnTo>
                  <a:pt x="528" y="598"/>
                </a:lnTo>
                <a:lnTo>
                  <a:pt x="529" y="611"/>
                </a:lnTo>
                <a:lnTo>
                  <a:pt x="529" y="623"/>
                </a:lnTo>
                <a:lnTo>
                  <a:pt x="528" y="634"/>
                </a:lnTo>
                <a:lnTo>
                  <a:pt x="527" y="642"/>
                </a:lnTo>
                <a:lnTo>
                  <a:pt x="524" y="650"/>
                </a:lnTo>
                <a:lnTo>
                  <a:pt x="522" y="657"/>
                </a:lnTo>
                <a:lnTo>
                  <a:pt x="522" y="663"/>
                </a:lnTo>
                <a:lnTo>
                  <a:pt x="523" y="679"/>
                </a:lnTo>
                <a:lnTo>
                  <a:pt x="526" y="702"/>
                </a:lnTo>
                <a:lnTo>
                  <a:pt x="528" y="728"/>
                </a:lnTo>
                <a:lnTo>
                  <a:pt x="529" y="749"/>
                </a:lnTo>
                <a:lnTo>
                  <a:pt x="530" y="763"/>
                </a:lnTo>
                <a:lnTo>
                  <a:pt x="530" y="791"/>
                </a:lnTo>
                <a:lnTo>
                  <a:pt x="531" y="805"/>
                </a:lnTo>
                <a:lnTo>
                  <a:pt x="532" y="823"/>
                </a:lnTo>
                <a:lnTo>
                  <a:pt x="529" y="834"/>
                </a:lnTo>
                <a:lnTo>
                  <a:pt x="527" y="839"/>
                </a:lnTo>
                <a:lnTo>
                  <a:pt x="522" y="845"/>
                </a:lnTo>
                <a:lnTo>
                  <a:pt x="515" y="850"/>
                </a:lnTo>
                <a:lnTo>
                  <a:pt x="501" y="858"/>
                </a:lnTo>
                <a:lnTo>
                  <a:pt x="491" y="863"/>
                </a:lnTo>
                <a:lnTo>
                  <a:pt x="477" y="869"/>
                </a:lnTo>
                <a:lnTo>
                  <a:pt x="460" y="878"/>
                </a:lnTo>
                <a:lnTo>
                  <a:pt x="449" y="882"/>
                </a:lnTo>
                <a:lnTo>
                  <a:pt x="430" y="892"/>
                </a:lnTo>
                <a:lnTo>
                  <a:pt x="408" y="904"/>
                </a:lnTo>
                <a:lnTo>
                  <a:pt x="390" y="922"/>
                </a:lnTo>
                <a:lnTo>
                  <a:pt x="378" y="930"/>
                </a:lnTo>
                <a:lnTo>
                  <a:pt x="375" y="936"/>
                </a:lnTo>
                <a:lnTo>
                  <a:pt x="370" y="947"/>
                </a:lnTo>
                <a:lnTo>
                  <a:pt x="370" y="953"/>
                </a:lnTo>
                <a:lnTo>
                  <a:pt x="370" y="965"/>
                </a:lnTo>
                <a:lnTo>
                  <a:pt x="366" y="976"/>
                </a:lnTo>
                <a:lnTo>
                  <a:pt x="349" y="986"/>
                </a:lnTo>
                <a:lnTo>
                  <a:pt x="344" y="995"/>
                </a:lnTo>
                <a:lnTo>
                  <a:pt x="336" y="1000"/>
                </a:lnTo>
                <a:lnTo>
                  <a:pt x="323" y="1004"/>
                </a:lnTo>
                <a:lnTo>
                  <a:pt x="314" y="1006"/>
                </a:lnTo>
                <a:lnTo>
                  <a:pt x="298" y="1009"/>
                </a:lnTo>
                <a:lnTo>
                  <a:pt x="285" y="1016"/>
                </a:lnTo>
                <a:lnTo>
                  <a:pt x="279" y="1023"/>
                </a:lnTo>
                <a:lnTo>
                  <a:pt x="269" y="1030"/>
                </a:lnTo>
                <a:lnTo>
                  <a:pt x="254" y="1037"/>
                </a:lnTo>
                <a:lnTo>
                  <a:pt x="231" y="1047"/>
                </a:lnTo>
                <a:lnTo>
                  <a:pt x="212" y="1055"/>
                </a:lnTo>
                <a:lnTo>
                  <a:pt x="200" y="1062"/>
                </a:lnTo>
                <a:lnTo>
                  <a:pt x="187" y="1073"/>
                </a:lnTo>
                <a:lnTo>
                  <a:pt x="180" y="1078"/>
                </a:lnTo>
                <a:lnTo>
                  <a:pt x="146" y="1082"/>
                </a:lnTo>
                <a:lnTo>
                  <a:pt x="110" y="1083"/>
                </a:lnTo>
                <a:lnTo>
                  <a:pt x="74" y="1087"/>
                </a:lnTo>
                <a:lnTo>
                  <a:pt x="34" y="1100"/>
                </a:lnTo>
                <a:lnTo>
                  <a:pt x="17" y="1095"/>
                </a:lnTo>
                <a:lnTo>
                  <a:pt x="0" y="1096"/>
                </a:lnTo>
                <a:moveTo>
                  <a:pt x="3147" y="292"/>
                </a:moveTo>
                <a:lnTo>
                  <a:pt x="3139" y="241"/>
                </a:lnTo>
                <a:lnTo>
                  <a:pt x="3104" y="246"/>
                </a:lnTo>
                <a:moveTo>
                  <a:pt x="3104" y="246"/>
                </a:moveTo>
                <a:lnTo>
                  <a:pt x="3104" y="231"/>
                </a:lnTo>
                <a:lnTo>
                  <a:pt x="3103" y="231"/>
                </a:lnTo>
                <a:lnTo>
                  <a:pt x="3102" y="231"/>
                </a:lnTo>
                <a:lnTo>
                  <a:pt x="3099" y="244"/>
                </a:lnTo>
                <a:lnTo>
                  <a:pt x="3088" y="240"/>
                </a:lnTo>
                <a:lnTo>
                  <a:pt x="3083" y="237"/>
                </a:lnTo>
                <a:lnTo>
                  <a:pt x="3078" y="233"/>
                </a:lnTo>
                <a:lnTo>
                  <a:pt x="3083" y="219"/>
                </a:lnTo>
                <a:lnTo>
                  <a:pt x="3088" y="206"/>
                </a:lnTo>
                <a:lnTo>
                  <a:pt x="3086" y="196"/>
                </a:lnTo>
                <a:lnTo>
                  <a:pt x="3072" y="211"/>
                </a:lnTo>
                <a:lnTo>
                  <a:pt x="3061" y="230"/>
                </a:lnTo>
                <a:lnTo>
                  <a:pt x="3045" y="228"/>
                </a:lnTo>
                <a:lnTo>
                  <a:pt x="3032" y="236"/>
                </a:lnTo>
                <a:lnTo>
                  <a:pt x="3021" y="245"/>
                </a:lnTo>
                <a:lnTo>
                  <a:pt x="3018" y="238"/>
                </a:lnTo>
                <a:lnTo>
                  <a:pt x="3003" y="250"/>
                </a:lnTo>
                <a:lnTo>
                  <a:pt x="3007" y="284"/>
                </a:lnTo>
                <a:lnTo>
                  <a:pt x="3007" y="298"/>
                </a:lnTo>
                <a:lnTo>
                  <a:pt x="3010" y="317"/>
                </a:lnTo>
                <a:lnTo>
                  <a:pt x="3021" y="328"/>
                </a:lnTo>
                <a:lnTo>
                  <a:pt x="3024" y="333"/>
                </a:lnTo>
                <a:lnTo>
                  <a:pt x="3024" y="340"/>
                </a:lnTo>
                <a:lnTo>
                  <a:pt x="3020" y="350"/>
                </a:lnTo>
                <a:lnTo>
                  <a:pt x="3019" y="354"/>
                </a:lnTo>
                <a:lnTo>
                  <a:pt x="3021" y="357"/>
                </a:lnTo>
                <a:lnTo>
                  <a:pt x="3023" y="360"/>
                </a:lnTo>
                <a:lnTo>
                  <a:pt x="3024" y="364"/>
                </a:lnTo>
                <a:lnTo>
                  <a:pt x="3028" y="381"/>
                </a:lnTo>
                <a:lnTo>
                  <a:pt x="2961" y="577"/>
                </a:lnTo>
                <a:lnTo>
                  <a:pt x="2954" y="599"/>
                </a:lnTo>
                <a:lnTo>
                  <a:pt x="2951" y="605"/>
                </a:lnTo>
                <a:lnTo>
                  <a:pt x="2892" y="785"/>
                </a:lnTo>
                <a:lnTo>
                  <a:pt x="2890" y="793"/>
                </a:lnTo>
                <a:lnTo>
                  <a:pt x="2844" y="793"/>
                </a:lnTo>
                <a:lnTo>
                  <a:pt x="2702" y="796"/>
                </a:lnTo>
                <a:lnTo>
                  <a:pt x="2637" y="554"/>
                </a:lnTo>
                <a:lnTo>
                  <a:pt x="2632" y="538"/>
                </a:lnTo>
                <a:lnTo>
                  <a:pt x="2618" y="542"/>
                </a:lnTo>
                <a:lnTo>
                  <a:pt x="2613" y="532"/>
                </a:lnTo>
                <a:lnTo>
                  <a:pt x="2620" y="528"/>
                </a:lnTo>
                <a:lnTo>
                  <a:pt x="2616" y="520"/>
                </a:lnTo>
                <a:lnTo>
                  <a:pt x="2623" y="516"/>
                </a:lnTo>
                <a:lnTo>
                  <a:pt x="2620" y="510"/>
                </a:lnTo>
                <a:lnTo>
                  <a:pt x="2541" y="551"/>
                </a:lnTo>
                <a:lnTo>
                  <a:pt x="2601" y="757"/>
                </a:lnTo>
                <a:lnTo>
                  <a:pt x="2658" y="960"/>
                </a:lnTo>
                <a:lnTo>
                  <a:pt x="2661" y="974"/>
                </a:lnTo>
                <a:lnTo>
                  <a:pt x="2663" y="978"/>
                </a:lnTo>
                <a:lnTo>
                  <a:pt x="2665" y="981"/>
                </a:lnTo>
                <a:lnTo>
                  <a:pt x="2667" y="986"/>
                </a:lnTo>
                <a:lnTo>
                  <a:pt x="2668" y="993"/>
                </a:lnTo>
                <a:lnTo>
                  <a:pt x="2670" y="998"/>
                </a:lnTo>
                <a:lnTo>
                  <a:pt x="2671" y="1000"/>
                </a:lnTo>
                <a:lnTo>
                  <a:pt x="2671" y="1002"/>
                </a:lnTo>
                <a:lnTo>
                  <a:pt x="2672" y="1004"/>
                </a:lnTo>
                <a:lnTo>
                  <a:pt x="2673" y="1007"/>
                </a:lnTo>
                <a:lnTo>
                  <a:pt x="2675" y="1014"/>
                </a:lnTo>
                <a:lnTo>
                  <a:pt x="2679" y="1024"/>
                </a:lnTo>
                <a:lnTo>
                  <a:pt x="2655" y="1032"/>
                </a:lnTo>
                <a:lnTo>
                  <a:pt x="2489" y="583"/>
                </a:lnTo>
                <a:lnTo>
                  <a:pt x="2463" y="592"/>
                </a:lnTo>
                <a:lnTo>
                  <a:pt x="2465" y="597"/>
                </a:lnTo>
                <a:lnTo>
                  <a:pt x="2485" y="590"/>
                </a:lnTo>
                <a:lnTo>
                  <a:pt x="2493" y="610"/>
                </a:lnTo>
                <a:lnTo>
                  <a:pt x="2466" y="619"/>
                </a:lnTo>
                <a:lnTo>
                  <a:pt x="2264" y="677"/>
                </a:lnTo>
                <a:lnTo>
                  <a:pt x="2258" y="679"/>
                </a:lnTo>
                <a:lnTo>
                  <a:pt x="2254" y="684"/>
                </a:lnTo>
                <a:lnTo>
                  <a:pt x="2251" y="688"/>
                </a:lnTo>
                <a:lnTo>
                  <a:pt x="2250" y="693"/>
                </a:lnTo>
                <a:lnTo>
                  <a:pt x="2276" y="919"/>
                </a:lnTo>
                <a:lnTo>
                  <a:pt x="2278" y="932"/>
                </a:lnTo>
                <a:lnTo>
                  <a:pt x="2282" y="941"/>
                </a:lnTo>
                <a:lnTo>
                  <a:pt x="2286" y="950"/>
                </a:lnTo>
                <a:lnTo>
                  <a:pt x="2290" y="956"/>
                </a:lnTo>
                <a:lnTo>
                  <a:pt x="2296" y="961"/>
                </a:lnTo>
                <a:lnTo>
                  <a:pt x="2370" y="1012"/>
                </a:lnTo>
                <a:lnTo>
                  <a:pt x="2375" y="1009"/>
                </a:lnTo>
                <a:lnTo>
                  <a:pt x="2378" y="1012"/>
                </a:lnTo>
                <a:lnTo>
                  <a:pt x="2380" y="1010"/>
                </a:lnTo>
                <a:lnTo>
                  <a:pt x="2387" y="1017"/>
                </a:lnTo>
                <a:lnTo>
                  <a:pt x="2384" y="1022"/>
                </a:lnTo>
                <a:lnTo>
                  <a:pt x="2471" y="1093"/>
                </a:lnTo>
                <a:lnTo>
                  <a:pt x="2482" y="1104"/>
                </a:lnTo>
                <a:lnTo>
                  <a:pt x="2489" y="1112"/>
                </a:lnTo>
                <a:lnTo>
                  <a:pt x="2496" y="1123"/>
                </a:lnTo>
                <a:lnTo>
                  <a:pt x="2504" y="1137"/>
                </a:lnTo>
                <a:lnTo>
                  <a:pt x="2509" y="1149"/>
                </a:lnTo>
                <a:lnTo>
                  <a:pt x="2511" y="1160"/>
                </a:lnTo>
                <a:lnTo>
                  <a:pt x="2512" y="1171"/>
                </a:lnTo>
                <a:lnTo>
                  <a:pt x="2511" y="1181"/>
                </a:lnTo>
                <a:lnTo>
                  <a:pt x="2508" y="1189"/>
                </a:lnTo>
                <a:lnTo>
                  <a:pt x="2480" y="1241"/>
                </a:lnTo>
                <a:lnTo>
                  <a:pt x="2478" y="1247"/>
                </a:lnTo>
                <a:lnTo>
                  <a:pt x="2473" y="1275"/>
                </a:lnTo>
                <a:lnTo>
                  <a:pt x="2474" y="1278"/>
                </a:lnTo>
                <a:lnTo>
                  <a:pt x="2467" y="1283"/>
                </a:lnTo>
                <a:lnTo>
                  <a:pt x="2466" y="1280"/>
                </a:lnTo>
                <a:lnTo>
                  <a:pt x="2463" y="1281"/>
                </a:lnTo>
                <a:lnTo>
                  <a:pt x="2324" y="1103"/>
                </a:lnTo>
                <a:lnTo>
                  <a:pt x="2325" y="1100"/>
                </a:lnTo>
                <a:lnTo>
                  <a:pt x="2279" y="1043"/>
                </a:lnTo>
                <a:lnTo>
                  <a:pt x="2277" y="1036"/>
                </a:lnTo>
                <a:lnTo>
                  <a:pt x="2275" y="1033"/>
                </a:lnTo>
                <a:lnTo>
                  <a:pt x="2277" y="1017"/>
                </a:lnTo>
                <a:lnTo>
                  <a:pt x="2278" y="1009"/>
                </a:lnTo>
                <a:lnTo>
                  <a:pt x="2277" y="997"/>
                </a:lnTo>
                <a:lnTo>
                  <a:pt x="2273" y="997"/>
                </a:lnTo>
                <a:lnTo>
                  <a:pt x="2273" y="1011"/>
                </a:lnTo>
                <a:lnTo>
                  <a:pt x="2271" y="1030"/>
                </a:lnTo>
                <a:lnTo>
                  <a:pt x="2266" y="1055"/>
                </a:lnTo>
                <a:lnTo>
                  <a:pt x="2260" y="1071"/>
                </a:lnTo>
                <a:lnTo>
                  <a:pt x="2256" y="1065"/>
                </a:lnTo>
                <a:lnTo>
                  <a:pt x="2241" y="1072"/>
                </a:lnTo>
                <a:lnTo>
                  <a:pt x="2245" y="1082"/>
                </a:lnTo>
                <a:lnTo>
                  <a:pt x="2235" y="1099"/>
                </a:lnTo>
                <a:lnTo>
                  <a:pt x="2232" y="1101"/>
                </a:lnTo>
                <a:lnTo>
                  <a:pt x="2228" y="1102"/>
                </a:lnTo>
                <a:lnTo>
                  <a:pt x="2224" y="1101"/>
                </a:lnTo>
                <a:lnTo>
                  <a:pt x="2222" y="1100"/>
                </a:lnTo>
                <a:lnTo>
                  <a:pt x="2210" y="1088"/>
                </a:lnTo>
                <a:lnTo>
                  <a:pt x="2207" y="1082"/>
                </a:lnTo>
                <a:lnTo>
                  <a:pt x="2218" y="1068"/>
                </a:lnTo>
                <a:lnTo>
                  <a:pt x="2224" y="1058"/>
                </a:lnTo>
                <a:lnTo>
                  <a:pt x="2228" y="1044"/>
                </a:lnTo>
                <a:lnTo>
                  <a:pt x="2232" y="1022"/>
                </a:lnTo>
                <a:lnTo>
                  <a:pt x="2232" y="1009"/>
                </a:lnTo>
                <a:lnTo>
                  <a:pt x="2231" y="994"/>
                </a:lnTo>
                <a:lnTo>
                  <a:pt x="2228" y="977"/>
                </a:lnTo>
                <a:lnTo>
                  <a:pt x="2224" y="957"/>
                </a:lnTo>
                <a:lnTo>
                  <a:pt x="2215" y="922"/>
                </a:lnTo>
                <a:lnTo>
                  <a:pt x="2198" y="860"/>
                </a:lnTo>
                <a:lnTo>
                  <a:pt x="2163" y="771"/>
                </a:lnTo>
                <a:lnTo>
                  <a:pt x="2142" y="695"/>
                </a:lnTo>
                <a:lnTo>
                  <a:pt x="2134" y="699"/>
                </a:lnTo>
                <a:lnTo>
                  <a:pt x="2130" y="679"/>
                </a:lnTo>
                <a:lnTo>
                  <a:pt x="2124" y="666"/>
                </a:lnTo>
                <a:lnTo>
                  <a:pt x="2113" y="643"/>
                </a:lnTo>
                <a:lnTo>
                  <a:pt x="2108" y="636"/>
                </a:lnTo>
                <a:lnTo>
                  <a:pt x="2102" y="632"/>
                </a:lnTo>
                <a:lnTo>
                  <a:pt x="2097" y="631"/>
                </a:lnTo>
                <a:lnTo>
                  <a:pt x="2084" y="630"/>
                </a:lnTo>
                <a:lnTo>
                  <a:pt x="2062" y="635"/>
                </a:lnTo>
                <a:lnTo>
                  <a:pt x="2026" y="648"/>
                </a:lnTo>
                <a:lnTo>
                  <a:pt x="2006" y="653"/>
                </a:lnTo>
                <a:lnTo>
                  <a:pt x="1995" y="658"/>
                </a:lnTo>
                <a:lnTo>
                  <a:pt x="1989" y="664"/>
                </a:lnTo>
                <a:lnTo>
                  <a:pt x="1982" y="672"/>
                </a:lnTo>
                <a:lnTo>
                  <a:pt x="1828" y="723"/>
                </a:lnTo>
                <a:lnTo>
                  <a:pt x="1760" y="525"/>
                </a:lnTo>
                <a:lnTo>
                  <a:pt x="1765" y="524"/>
                </a:lnTo>
                <a:lnTo>
                  <a:pt x="1763" y="518"/>
                </a:lnTo>
                <a:lnTo>
                  <a:pt x="1696" y="541"/>
                </a:lnTo>
                <a:lnTo>
                  <a:pt x="1685" y="544"/>
                </a:lnTo>
                <a:lnTo>
                  <a:pt x="1653" y="449"/>
                </a:lnTo>
                <a:lnTo>
                  <a:pt x="1651" y="435"/>
                </a:lnTo>
                <a:lnTo>
                  <a:pt x="1654" y="228"/>
                </a:lnTo>
                <a:lnTo>
                  <a:pt x="1658" y="43"/>
                </a:lnTo>
                <a:lnTo>
                  <a:pt x="1600" y="42"/>
                </a:lnTo>
                <a:lnTo>
                  <a:pt x="1567" y="42"/>
                </a:lnTo>
                <a:lnTo>
                  <a:pt x="1522" y="39"/>
                </a:lnTo>
                <a:lnTo>
                  <a:pt x="1500" y="39"/>
                </a:lnTo>
                <a:lnTo>
                  <a:pt x="1478" y="39"/>
                </a:lnTo>
                <a:lnTo>
                  <a:pt x="1453" y="38"/>
                </a:lnTo>
                <a:moveTo>
                  <a:pt x="3928" y="0"/>
                </a:moveTo>
                <a:lnTo>
                  <a:pt x="3812" y="31"/>
                </a:lnTo>
                <a:lnTo>
                  <a:pt x="3666" y="80"/>
                </a:lnTo>
                <a:lnTo>
                  <a:pt x="3592" y="110"/>
                </a:lnTo>
                <a:lnTo>
                  <a:pt x="3540" y="141"/>
                </a:lnTo>
                <a:lnTo>
                  <a:pt x="3490" y="172"/>
                </a:lnTo>
                <a:lnTo>
                  <a:pt x="3469" y="190"/>
                </a:lnTo>
                <a:lnTo>
                  <a:pt x="3449" y="186"/>
                </a:lnTo>
                <a:lnTo>
                  <a:pt x="3440" y="189"/>
                </a:lnTo>
                <a:lnTo>
                  <a:pt x="3373" y="260"/>
                </a:lnTo>
                <a:lnTo>
                  <a:pt x="3341" y="306"/>
                </a:lnTo>
                <a:lnTo>
                  <a:pt x="3320" y="322"/>
                </a:lnTo>
                <a:lnTo>
                  <a:pt x="3301" y="325"/>
                </a:lnTo>
                <a:lnTo>
                  <a:pt x="3247" y="321"/>
                </a:lnTo>
                <a:lnTo>
                  <a:pt x="3237" y="315"/>
                </a:lnTo>
                <a:lnTo>
                  <a:pt x="3236" y="301"/>
                </a:lnTo>
                <a:lnTo>
                  <a:pt x="3215" y="312"/>
                </a:lnTo>
                <a:lnTo>
                  <a:pt x="3188" y="365"/>
                </a:lnTo>
                <a:lnTo>
                  <a:pt x="3152" y="311"/>
                </a:lnTo>
                <a:lnTo>
                  <a:pt x="3166" y="303"/>
                </a:lnTo>
                <a:lnTo>
                  <a:pt x="3202" y="282"/>
                </a:lnTo>
                <a:lnTo>
                  <a:pt x="3209" y="283"/>
                </a:lnTo>
                <a:lnTo>
                  <a:pt x="3198" y="294"/>
                </a:lnTo>
                <a:lnTo>
                  <a:pt x="3206" y="300"/>
                </a:lnTo>
                <a:lnTo>
                  <a:pt x="3224" y="269"/>
                </a:lnTo>
                <a:lnTo>
                  <a:pt x="3218" y="264"/>
                </a:lnTo>
                <a:lnTo>
                  <a:pt x="3214" y="263"/>
                </a:lnTo>
                <a:lnTo>
                  <a:pt x="3209" y="266"/>
                </a:lnTo>
                <a:lnTo>
                  <a:pt x="3193" y="277"/>
                </a:lnTo>
                <a:lnTo>
                  <a:pt x="3173" y="286"/>
                </a:lnTo>
                <a:lnTo>
                  <a:pt x="3147" y="292"/>
                </a:lnTo>
              </a:path>
            </a:pathLst>
          </a:custGeom>
          <a:noFill/>
          <a:ln w="19050">
            <a:solidFill>
              <a:srgbClr val="1C7F9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980176" y="1508760"/>
            <a:ext cx="1828800" cy="274320"/>
          </a:xfrm>
          <a:prstGeom prst="rect">
            <a:avLst/>
          </a:prstGeom>
          <a:noFill/>
          <a:effectLst/>
        </p:spPr>
        <p:txBody>
          <a:bodyPr wrap="square" lIns="0" rIns="0" tIns="0" bIns="0">
            <a:spAutoFit/>
          </a:bodyPr>
          <a:lstStyle/>
          <a:p>
            <a:pPr>
              <a:lnSpc>
                <a:spcPct val="104000"/>
              </a:lnSpc>
              <a:spcBef>
                <a:spcPts val="0"/>
              </a:spcBef>
              <a:spcAft>
                <a:spcPts val="500"/>
              </a:spcAft>
            </a:pPr>
            <a:r>
              <a:rPr sz="1300" b="1" lang="id-ID">
                <a:solidFill>
                  <a:srgbClr val="1C7F9E"/>
                </a:solidFill>
                <a:latin typeface="Arial"/>
              </a:rPr>
              <a:t>LAUT JAWA</a:t>
            </a:r>
          </a:p>
        </p:txBody>
      </p:sp>
      <p:sp>
        <p:nvSpPr>
          <p:cNvPr id="11" name="Oval 10"/>
          <p:cNvSpPr/>
          <p:nvPr/>
        </p:nvSpPr>
        <p:spPr>
          <a:xfrm>
            <a:off x="7394156" y="3423696"/>
            <a:ext cx="100584" cy="100584"/>
          </a:xfrm>
          <a:prstGeom prst="ellipse">
            <a:avLst/>
          </a:prstGeom>
          <a:solidFill>
            <a:srgbClr val="0B1F2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151840" y="3620292"/>
            <a:ext cx="1737360" cy="256032"/>
          </a:xfrm>
          <a:prstGeom prst="rect">
            <a:avLst/>
          </a:prstGeom>
          <a:noFill/>
          <a:effectLst/>
        </p:spPr>
        <p:txBody>
          <a:bodyPr wrap="square" lIns="0" rIns="0" tIns="0" bIns="0">
            <a:spAutoFit/>
          </a:bodyPr>
          <a:lstStyle/>
          <a:p>
            <a:pPr>
              <a:lnSpc>
                <a:spcPct val="104000"/>
              </a:lnSpc>
              <a:spcBef>
                <a:spcPts val="0"/>
              </a:spcBef>
              <a:spcAft>
                <a:spcPts val="500"/>
              </a:spcAft>
            </a:pPr>
            <a:r>
              <a:rPr sz="1300" b="1" lang="id-ID">
                <a:solidFill>
                  <a:srgbClr val="0B1F2A"/>
                </a:solidFill>
                <a:latin typeface="Arial"/>
              </a:rPr>
              <a:t>TAWANG</a:t>
            </a:r>
          </a:p>
        </p:txBody>
      </p:sp>
      <p:sp>
        <p:nvSpPr>
          <p:cNvPr id="13" name="Oval 12"/>
          <p:cNvSpPr/>
          <p:nvPr/>
        </p:nvSpPr>
        <p:spPr>
          <a:xfrm>
            <a:off x="10435575" y="2290572"/>
            <a:ext cx="100584" cy="100584"/>
          </a:xfrm>
          <a:prstGeom prst="ellipse">
            <a:avLst/>
          </a:prstGeom>
          <a:solidFill>
            <a:srgbClr val="0B1F2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9973803" y="1938528"/>
            <a:ext cx="1737360" cy="256032"/>
          </a:xfrm>
          <a:prstGeom prst="rect">
            <a:avLst/>
          </a:prstGeom>
          <a:noFill/>
          <a:effectLst/>
        </p:spPr>
        <p:txBody>
          <a:bodyPr wrap="square" lIns="0" rIns="0" tIns="0" bIns="0">
            <a:spAutoFit/>
          </a:bodyPr>
          <a:lstStyle/>
          <a:p>
            <a:pPr>
              <a:lnSpc>
                <a:spcPct val="104000"/>
              </a:lnSpc>
              <a:spcBef>
                <a:spcPts val="0"/>
              </a:spcBef>
              <a:spcAft>
                <a:spcPts val="500"/>
              </a:spcAft>
            </a:pPr>
            <a:r>
              <a:rPr sz="1300" b="1" lang="id-ID">
                <a:solidFill>
                  <a:srgbClr val="0B1F2A"/>
                </a:solidFill>
                <a:latin typeface="Arial"/>
              </a:rPr>
              <a:t>TERBOYO</a:t>
            </a:r>
          </a:p>
        </p:txBody>
      </p:sp>
      <p:sp>
        <p:nvSpPr>
          <p:cNvPr id="15" name="Oval 14"/>
          <p:cNvSpPr/>
          <p:nvPr/>
        </p:nvSpPr>
        <p:spPr>
          <a:xfrm>
            <a:off x="6747401" y="2388595"/>
            <a:ext cx="100584" cy="100584"/>
          </a:xfrm>
          <a:prstGeom prst="ellipse">
            <a:avLst/>
          </a:prstGeom>
          <a:solidFill>
            <a:srgbClr val="0B1F2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267341" y="2054839"/>
            <a:ext cx="1737360" cy="256032"/>
          </a:xfrm>
          <a:prstGeom prst="rect">
            <a:avLst/>
          </a:prstGeom>
          <a:noFill/>
          <a:effectLst/>
        </p:spPr>
        <p:txBody>
          <a:bodyPr wrap="square" lIns="0" rIns="0" tIns="0" bIns="0">
            <a:spAutoFit/>
          </a:bodyPr>
          <a:lstStyle/>
          <a:p>
            <a:pPr>
              <a:lnSpc>
                <a:spcPct val="104000"/>
              </a:lnSpc>
              <a:spcBef>
                <a:spcPts val="0"/>
              </a:spcBef>
              <a:spcAft>
                <a:spcPts val="500"/>
              </a:spcAft>
            </a:pPr>
            <a:r>
              <a:rPr sz="1300" b="1" lang="id-ID">
                <a:solidFill>
                  <a:srgbClr val="0B1F2A"/>
                </a:solidFill>
                <a:latin typeface="Arial"/>
              </a:rPr>
              <a:t>TANJUNG EMAS</a:t>
            </a:r>
          </a:p>
        </p:txBody>
      </p:sp>
      <p:sp>
        <p:nvSpPr>
          <p:cNvPr id="17" name="TextBox 16"/>
          <p:cNvSpPr txBox="1"/>
          <p:nvPr/>
        </p:nvSpPr>
        <p:spPr>
          <a:xfrm>
            <a:off x="7644383" y="4078223"/>
            <a:ext cx="2560320" cy="320040"/>
          </a:xfrm>
          <a:prstGeom prst="rect">
            <a:avLst/>
          </a:prstGeom>
          <a:noFill/>
          <a:effectLst/>
        </p:spPr>
        <p:txBody>
          <a:bodyPr wrap="square" lIns="0" rIns="0" tIns="0" bIns="0">
            <a:spAutoFit/>
          </a:bodyPr>
          <a:lstStyle/>
          <a:p>
            <a:pPr>
              <a:lnSpc>
                <a:spcPct val="104000"/>
              </a:lnSpc>
              <a:spcBef>
                <a:spcPts val="0"/>
              </a:spcBef>
              <a:spcAft>
                <a:spcPts val="500"/>
              </a:spcAft>
            </a:pPr>
            <a:r>
              <a:rPr sz="1800" b="1" lang="id-ID">
                <a:solidFill>
                  <a:srgbClr val="1C7F9E"/>
                </a:solidFill>
                <a:latin typeface="Arial"/>
              </a:rPr>
              <a:t>SEMARANG</a:t>
            </a:r>
          </a:p>
        </p:txBody>
      </p:sp>
      <p:sp>
        <p:nvSpPr>
          <p:cNvPr id="18" name="TextBox 17"/>
          <p:cNvSpPr txBox="1"/>
          <p:nvPr/>
        </p:nvSpPr>
        <p:spPr>
          <a:xfrm>
            <a:off x="11256263" y="1508760"/>
            <a:ext cx="384048" cy="274320"/>
          </a:xfrm>
          <a:prstGeom prst="rect">
            <a:avLst/>
          </a:prstGeom>
          <a:noFill/>
          <a:effectLst/>
        </p:spPr>
        <p:txBody>
          <a:bodyPr wrap="square" lIns="0" rIns="0" tIns="0" bIns="0">
            <a:spAutoFit/>
          </a:bodyPr>
          <a:lstStyle/>
          <a:p>
            <a:pPr>
              <a:lnSpc>
                <a:spcPct val="104000"/>
              </a:lnSpc>
              <a:spcBef>
                <a:spcPts val="0"/>
              </a:spcBef>
              <a:spcAft>
                <a:spcPts val="500"/>
              </a:spcAft>
            </a:pPr>
            <a:r>
              <a:rPr sz="1300" b="0" lang="id-ID">
                <a:solidFill>
                  <a:srgbClr val="0B1F2A"/>
                </a:solidFill>
                <a:latin typeface="Arial"/>
              </a:rPr>
              <a:t>U ↑</a:t>
            </a:r>
          </a:p>
        </p:txBody>
      </p:sp>
      <p:sp>
        <p:nvSpPr>
          <p:cNvPr id="19" name="TextBox 18"/>
          <p:cNvSpPr txBox="1"/>
          <p:nvPr/>
        </p:nvSpPr>
        <p:spPr>
          <a:xfrm>
            <a:off x="5852160" y="5532120"/>
            <a:ext cx="5669280" cy="365760"/>
          </a:xfrm>
          <a:prstGeom prst="rect">
            <a:avLst/>
          </a:prstGeom>
          <a:noFill/>
          <a:effectLst/>
        </p:spPr>
        <p:txBody>
          <a:bodyPr wrap="square" lIns="0" rIns="0" tIns="0" bIns="0">
            <a:spAutoFit/>
          </a:bodyPr>
          <a:lstStyle/>
          <a:p>
            <a:pPr>
              <a:lnSpc>
                <a:spcPct val="104000"/>
              </a:lnSpc>
              <a:spcBef>
                <a:spcPts val="0"/>
              </a:spcBef>
              <a:spcAft>
                <a:spcPts val="500"/>
              </a:spcAft>
            </a:pPr>
            <a:r>
              <a:rPr sz="1600" b="0" lang="id-ID">
                <a:solidFill>
                  <a:srgbClr val="E8F1F4"/>
                </a:solidFill>
                <a:latin typeface="Arial"/>
              </a:rPr>
              <a:t>Contoh perjalanan: akses Tawang → akses Terboyo</a:t>
            </a:r>
          </a:p>
        </p:txBody>
      </p:sp>
      <p:sp>
        <p:nvSpPr>
          <p:cNvPr id="20" name="TextBox 19"/>
          <p:cNvSpPr txBox="1"/>
          <p:nvPr/>
        </p:nvSpPr>
        <p:spPr>
          <a:xfrm>
            <a:off x="548640" y="5394960"/>
            <a:ext cx="4983480" cy="301752"/>
          </a:xfrm>
          <a:prstGeom prst="rect">
            <a:avLst/>
          </a:prstGeom>
          <a:noFill/>
          <a:effectLst/>
        </p:spPr>
        <p:txBody>
          <a:bodyPr wrap="square" lIns="0" rIns="0" tIns="0" bIns="0">
            <a:spAutoFit/>
          </a:bodyPr>
          <a:lstStyle/>
          <a:p>
            <a:pPr>
              <a:lnSpc>
                <a:spcPct val="104000"/>
              </a:lnSpc>
              <a:spcBef>
                <a:spcPts val="0"/>
              </a:spcBef>
              <a:spcAft>
                <a:spcPts val="500"/>
              </a:spcAft>
            </a:pPr>
            <a:r>
              <a:rPr sz="1700" b="1" lang="id-ID">
                <a:solidFill>
                  <a:srgbClr val="E8F1F4"/>
                </a:solidFill>
                <a:latin typeface="Arial"/>
              </a:rPr>
              <a:t>trio la albiceleste  •  ITS Surabaya</a:t>
            </a:r>
          </a:p>
        </p:txBody>
      </p:sp>
      <p:sp>
        <p:nvSpPr>
          <p:cNvPr id="21" name="TextBox 20"/>
          <p:cNvSpPr txBox="1"/>
          <p:nvPr/>
        </p:nvSpPr>
        <p:spPr>
          <a:xfrm>
            <a:off x="548640" y="5797296"/>
            <a:ext cx="5029200" cy="484632"/>
          </a:xfrm>
          <a:prstGeom prst="rect">
            <a:avLst/>
          </a:prstGeom>
          <a:noFill/>
          <a:effectLst/>
        </p:spPr>
        <p:txBody>
          <a:bodyPr wrap="square" lIns="0" rIns="0" tIns="0" bIns="0">
            <a:spAutoFit/>
          </a:bodyPr>
          <a:lstStyle/>
          <a:p>
            <a:pPr>
              <a:lnSpc>
                <a:spcPct val="104000"/>
              </a:lnSpc>
              <a:spcBef>
                <a:spcPts val="0"/>
              </a:spcBef>
              <a:spcAft>
                <a:spcPts val="500"/>
              </a:spcAft>
            </a:pPr>
            <a:r>
              <a:rPr sz="1200" b="0" lang="id-ID">
                <a:solidFill>
                  <a:srgbClr val="ABC0CA"/>
                </a:solidFill>
                <a:latin typeface="Arial"/>
              </a:rPr>
              <a:t>Muhammad Dzaky Ahnaf  /  Daffa Rajendra Priyatama</a:t>
            </a:r>
          </a:p>
          <a:p>
            <a:pPr>
              <a:lnSpc>
                <a:spcPct val="104000"/>
              </a:lnSpc>
              <a:spcBef>
                <a:spcPts val="0"/>
              </a:spcBef>
              <a:spcAft>
                <a:spcPts val="500"/>
              </a:spcAft>
            </a:pPr>
            <a:r>
              <a:rPr sz="1200" b="0" lang="id-ID">
                <a:solidFill>
                  <a:srgbClr val="ABC0CA"/>
                </a:solidFill>
                <a:latin typeface="Arial"/>
              </a:rPr>
              <a:t>Naufal Syafi’ Hakim</a:t>
            </a:r>
          </a:p>
        </p:txBody>
      </p:sp>
      <p:sp>
        <p:nvSpPr>
          <p:cNvPr id="22" name="Rectangle 21"/>
          <p:cNvSpPr/>
          <p:nvPr/>
        </p:nvSpPr>
        <p:spPr>
          <a:xfrm>
            <a:off x="502920" y="6446520"/>
            <a:ext cx="11183112" cy="13716"/>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a:hlinkClick r:id="rId2"/>
          </p:cNvPr>
          <p:cNvSpPr txBox="1"/>
          <p:nvPr/>
        </p:nvSpPr>
        <p:spPr>
          <a:xfrm>
            <a:off x="502920" y="6537960"/>
            <a:ext cx="10698480" cy="182880"/>
          </a:xfrm>
          <a:prstGeom prst="rect">
            <a:avLst/>
          </a:prstGeom>
          <a:noFill/>
          <a:effectLst/>
        </p:spPr>
        <p:txBody>
          <a:bodyPr wrap="square" lIns="0" rIns="0" tIns="0" bIns="0">
            <a:spAutoFit/>
          </a:bodyPr>
          <a:lstStyle/>
          <a:p>
            <a:pPr>
              <a:lnSpc>
                <a:spcPct val="104000"/>
              </a:lnSpc>
              <a:spcBef>
                <a:spcPts val="0"/>
              </a:spcBef>
              <a:spcAft>
                <a:spcPts val="500"/>
              </a:spcAft>
            </a:pPr>
            <a:r>
              <a:rPr sz="1000" b="0" lang="id-ID">
                <a:solidFill>
                  <a:srgbClr val="ABC0CA"/>
                </a:solidFill>
                <a:latin typeface="Arial"/>
              </a:rPr>
              <a:t>Peta konteks: ekstrak OpenStreetMap tersimpan; penanda menunjukkan titik akses.</a:t>
            </a:r>
          </a:p>
        </p:txBody>
      </p:sp>
      <p:sp>
        <p:nvSpPr>
          <p:cNvPr id="24" name="TextBox 23"/>
          <p:cNvSpPr txBox="1"/>
          <p:nvPr/>
        </p:nvSpPr>
        <p:spPr>
          <a:xfrm>
            <a:off x="11292840" y="6501384"/>
            <a:ext cx="384048" cy="246888"/>
          </a:xfrm>
          <a:prstGeom prst="rect">
            <a:avLst/>
          </a:prstGeom>
          <a:noFill/>
          <a:effectLst/>
        </p:spPr>
        <p:txBody>
          <a:bodyPr wrap="square" lIns="0" rIns="0" tIns="0" bIns="0">
            <a:spAutoFit/>
          </a:bodyPr>
          <a:lstStyle/>
          <a:p>
            <a:pPr algn="r">
              <a:lnSpc>
                <a:spcPct val="104000"/>
              </a:lnSpc>
              <a:spcBef>
                <a:spcPts val="0"/>
              </a:spcBef>
              <a:spcAft>
                <a:spcPts val="500"/>
              </a:spcAft>
            </a:pPr>
            <a:r>
              <a:rPr sz="1400" b="1" lang="id-ID">
                <a:solidFill>
                  <a:srgbClr val="ABC0CA"/>
                </a:solidFill>
                <a:latin typeface="Arial"/>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2F5F6"/>
        </a:solidFill>
        <a:effectLst/>
      </p:bgPr>
    </p:bg>
    <p:spTree>
      <p:nvGrpSpPr>
        <p:cNvPr id="1" name=""/>
        <p:cNvGrpSpPr/>
        <p:nvPr/>
      </p:nvGrpSpPr>
      <p:grpSpPr/>
      <p:sp>
        <p:nvSpPr>
          <p:cNvPr id="2" name="TextBox 1"/>
          <p:cNvSpPr txBox="1"/>
          <p:nvPr/>
        </p:nvSpPr>
        <p:spPr>
          <a:xfrm>
            <a:off x="502920" y="320040"/>
            <a:ext cx="9144000" cy="274320"/>
          </a:xfrm>
          <a:prstGeom prst="rect">
            <a:avLst/>
          </a:prstGeom>
          <a:noFill/>
          <a:effectLst/>
        </p:spPr>
        <p:txBody>
          <a:bodyPr wrap="square" lIns="0" rIns="0" tIns="0" bIns="0">
            <a:spAutoFit/>
          </a:bodyPr>
          <a:lstStyle/>
          <a:p>
            <a:pPr>
              <a:lnSpc>
                <a:spcPct val="104000"/>
              </a:lnSpc>
              <a:spcBef>
                <a:spcPts val="0"/>
              </a:spcBef>
              <a:spcAft>
                <a:spcPts val="500"/>
              </a:spcAft>
            </a:pPr>
            <a:r>
              <a:rPr sz="1200" b="1" lang="id-ID">
                <a:solidFill>
                  <a:srgbClr val="1C7F9E"/>
                </a:solidFill>
                <a:latin typeface="Arial"/>
              </a:rPr>
              <a:t>01 / MASALAH PENGGUNA → KEPUTUSAN</a:t>
            </a:r>
          </a:p>
        </p:txBody>
      </p:sp>
      <p:sp>
        <p:nvSpPr>
          <p:cNvPr id="3" name="TextBox 2"/>
          <p:cNvSpPr txBox="1"/>
          <p:nvPr/>
        </p:nvSpPr>
        <p:spPr>
          <a:xfrm>
            <a:off x="502920" y="777240"/>
            <a:ext cx="11201400" cy="576072"/>
          </a:xfrm>
          <a:prstGeom prst="rect">
            <a:avLst/>
          </a:prstGeom>
          <a:noFill/>
          <a:effectLst/>
        </p:spPr>
        <p:txBody>
          <a:bodyPr wrap="square" lIns="0" rIns="0" tIns="0" bIns="0">
            <a:spAutoFit/>
          </a:bodyPr>
          <a:lstStyle/>
          <a:p>
            <a:pPr>
              <a:lnSpc>
                <a:spcPct val="104000"/>
              </a:lnSpc>
              <a:spcBef>
                <a:spcPts val="0"/>
              </a:spcBef>
              <a:spcAft>
                <a:spcPts val="500"/>
              </a:spcAft>
            </a:pPr>
            <a:r>
              <a:rPr sz="3400" b="1" lang="id-ID">
                <a:solidFill>
                  <a:srgbClr val="0B1F2A"/>
                </a:solidFill>
                <a:latin typeface="Arial Narrow"/>
              </a:rPr>
              <a:t>Satu perjalanan, tiga informasi</a:t>
            </a:r>
          </a:p>
        </p:txBody>
      </p:sp>
      <p:sp>
        <p:nvSpPr>
          <p:cNvPr id="4" name="TextBox 3"/>
          <p:cNvSpPr txBox="1"/>
          <p:nvPr/>
        </p:nvSpPr>
        <p:spPr>
          <a:xfrm>
            <a:off x="521207" y="1426464"/>
            <a:ext cx="10972800" cy="475488"/>
          </a:xfrm>
          <a:prstGeom prst="rect">
            <a:avLst/>
          </a:prstGeom>
          <a:noFill/>
          <a:effectLst/>
        </p:spPr>
        <p:txBody>
          <a:bodyPr wrap="square" lIns="0" rIns="0" tIns="0" bIns="0">
            <a:spAutoFit/>
          </a:bodyPr>
          <a:lstStyle/>
          <a:p>
            <a:pPr>
              <a:lnSpc>
                <a:spcPct val="104000"/>
              </a:lnSpc>
              <a:spcBef>
                <a:spcPts val="0"/>
              </a:spcBef>
              <a:spcAft>
                <a:spcPts val="500"/>
              </a:spcAft>
            </a:pPr>
            <a:r>
              <a:rPr sz="1700" b="0" lang="id-ID">
                <a:solidFill>
                  <a:srgbClr val="46626F"/>
                </a:solidFill>
                <a:latin typeface="Arial"/>
              </a:rPr>
              <a:t>Pengendara di pesisir Semarang membandingkan pilihan sebelum berangkat.</a:t>
            </a:r>
          </a:p>
        </p:txBody>
      </p:sp>
      <p:sp>
        <p:nvSpPr>
          <p:cNvPr id="5" name="Rectangle 4"/>
          <p:cNvSpPr/>
          <p:nvPr/>
        </p:nvSpPr>
        <p:spPr>
          <a:xfrm>
            <a:off x="502920" y="6446520"/>
            <a:ext cx="11183112" cy="13716"/>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02920" y="6537960"/>
            <a:ext cx="10698480" cy="182880"/>
          </a:xfrm>
          <a:prstGeom prst="rect">
            <a:avLst/>
          </a:prstGeom>
          <a:noFill/>
          <a:effectLst/>
        </p:spPr>
        <p:txBody>
          <a:bodyPr wrap="square" lIns="0" rIns="0" tIns="0" bIns="0">
            <a:spAutoFit/>
          </a:bodyPr>
          <a:lstStyle/>
          <a:p>
            <a:pPr>
              <a:lnSpc>
                <a:spcPct val="104000"/>
              </a:lnSpc>
              <a:spcBef>
                <a:spcPts val="0"/>
              </a:spcBef>
              <a:spcAft>
                <a:spcPts val="500"/>
              </a:spcAft>
            </a:pPr>
            <a:r>
              <a:rPr sz="1000" b="0" lang="id-ID">
                <a:solidFill>
                  <a:srgbClr val="46626F"/>
                </a:solidFill>
                <a:latin typeface="Arial"/>
              </a:rPr>
              <a:t>trio la albiceleste  /  ITS Surabaya  /  ANFORCOM 2026</a:t>
            </a:r>
          </a:p>
        </p:txBody>
      </p:sp>
      <p:sp>
        <p:nvSpPr>
          <p:cNvPr id="7" name="TextBox 6"/>
          <p:cNvSpPr txBox="1"/>
          <p:nvPr/>
        </p:nvSpPr>
        <p:spPr>
          <a:xfrm>
            <a:off x="11292840" y="6501384"/>
            <a:ext cx="384048" cy="246888"/>
          </a:xfrm>
          <a:prstGeom prst="rect">
            <a:avLst/>
          </a:prstGeom>
          <a:noFill/>
          <a:effectLst/>
        </p:spPr>
        <p:txBody>
          <a:bodyPr wrap="square" lIns="0" rIns="0" tIns="0" bIns="0">
            <a:spAutoFit/>
          </a:bodyPr>
          <a:lstStyle/>
          <a:p>
            <a:pPr algn="r">
              <a:lnSpc>
                <a:spcPct val="104000"/>
              </a:lnSpc>
              <a:spcBef>
                <a:spcPts val="0"/>
              </a:spcBef>
              <a:spcAft>
                <a:spcPts val="500"/>
              </a:spcAft>
            </a:pPr>
            <a:r>
              <a:rPr sz="1400" b="1" lang="id-ID">
                <a:solidFill>
                  <a:srgbClr val="46626F"/>
                </a:solidFill>
                <a:latin typeface="Arial"/>
              </a:rPr>
              <a:t>02</a:t>
            </a:r>
          </a:p>
        </p:txBody>
      </p:sp>
      <p:sp>
        <p:nvSpPr>
          <p:cNvPr id="8" name="Rectangle 7"/>
          <p:cNvSpPr/>
          <p:nvPr/>
        </p:nvSpPr>
        <p:spPr>
          <a:xfrm>
            <a:off x="548640" y="2286000"/>
            <a:ext cx="3337560" cy="13716"/>
          </a:xfrm>
          <a:prstGeom prst="rect">
            <a:avLst/>
          </a:prstGeom>
          <a:solidFill>
            <a:srgbClr val="1C7F9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48640" y="2542032"/>
            <a:ext cx="914400" cy="548640"/>
          </a:xfrm>
          <a:prstGeom prst="rect">
            <a:avLst/>
          </a:prstGeom>
          <a:noFill/>
          <a:effectLst/>
        </p:spPr>
        <p:txBody>
          <a:bodyPr wrap="square" lIns="0" rIns="0" tIns="0" bIns="0">
            <a:spAutoFit/>
          </a:bodyPr>
          <a:lstStyle/>
          <a:p>
            <a:pPr>
              <a:lnSpc>
                <a:spcPct val="104000"/>
              </a:lnSpc>
              <a:spcBef>
                <a:spcPts val="0"/>
              </a:spcBef>
              <a:spcAft>
                <a:spcPts val="500"/>
              </a:spcAft>
            </a:pPr>
            <a:r>
              <a:rPr sz="3000" b="1" lang="id-ID">
                <a:solidFill>
                  <a:srgbClr val="1C7F9E"/>
                </a:solidFill>
                <a:latin typeface="Arial Narrow"/>
              </a:rPr>
              <a:t>01</a:t>
            </a:r>
          </a:p>
        </p:txBody>
      </p:sp>
      <p:sp>
        <p:nvSpPr>
          <p:cNvPr id="10" name="TextBox 9"/>
          <p:cNvSpPr txBox="1"/>
          <p:nvPr/>
        </p:nvSpPr>
        <p:spPr>
          <a:xfrm>
            <a:off x="548640" y="3337560"/>
            <a:ext cx="3291840" cy="457200"/>
          </a:xfrm>
          <a:prstGeom prst="rect">
            <a:avLst/>
          </a:prstGeom>
          <a:noFill/>
          <a:effectLst/>
        </p:spPr>
        <p:txBody>
          <a:bodyPr wrap="square" lIns="0" rIns="0" tIns="0" bIns="0">
            <a:spAutoFit/>
          </a:bodyPr>
          <a:lstStyle/>
          <a:p>
            <a:pPr>
              <a:lnSpc>
                <a:spcPct val="104000"/>
              </a:lnSpc>
              <a:spcBef>
                <a:spcPts val="0"/>
              </a:spcBef>
              <a:spcAft>
                <a:spcPts val="500"/>
              </a:spcAft>
            </a:pPr>
            <a:r>
              <a:rPr sz="2500" b="1" lang="id-ID">
                <a:solidFill>
                  <a:srgbClr val="0B1F2A"/>
                </a:solidFill>
                <a:latin typeface="Arial Narrow"/>
              </a:rPr>
              <a:t>Pilih perjalanan</a:t>
            </a:r>
          </a:p>
        </p:txBody>
      </p:sp>
      <p:sp>
        <p:nvSpPr>
          <p:cNvPr id="11" name="TextBox 10"/>
          <p:cNvSpPr txBox="1"/>
          <p:nvPr/>
        </p:nvSpPr>
        <p:spPr>
          <a:xfrm>
            <a:off x="548640" y="4005072"/>
            <a:ext cx="3337560" cy="1143000"/>
          </a:xfrm>
          <a:prstGeom prst="rect">
            <a:avLst/>
          </a:prstGeom>
          <a:noFill/>
          <a:effectLst/>
        </p:spPr>
        <p:txBody>
          <a:bodyPr wrap="square" lIns="0" rIns="0" tIns="0" bIns="0">
            <a:spAutoFit/>
          </a:bodyPr>
          <a:lstStyle/>
          <a:p>
            <a:pPr>
              <a:lnSpc>
                <a:spcPct val="104000"/>
              </a:lnSpc>
              <a:spcBef>
                <a:spcPts val="0"/>
              </a:spcBef>
              <a:spcAft>
                <a:spcPts val="500"/>
              </a:spcAft>
            </a:pPr>
            <a:r>
              <a:rPr sz="2200" b="0" lang="id-ID">
                <a:solidFill>
                  <a:srgbClr val="46626F"/>
                </a:solidFill>
                <a:latin typeface="Arial"/>
              </a:rPr>
              <a:t>Asal–tujuan bernama</a:t>
            </a:r>
          </a:p>
          <a:p>
            <a:pPr>
              <a:lnSpc>
                <a:spcPct val="104000"/>
              </a:lnSpc>
              <a:spcBef>
                <a:spcPts val="0"/>
              </a:spcBef>
              <a:spcAft>
                <a:spcPts val="500"/>
              </a:spcAft>
            </a:pPr>
            <a:r>
              <a:rPr sz="2200" b="0" lang="id-ID">
                <a:solidFill>
                  <a:srgbClr val="46626F"/>
                </a:solidFill>
                <a:latin typeface="Arial"/>
              </a:rPr>
              <a:t>dan moda kendaraan.</a:t>
            </a:r>
          </a:p>
        </p:txBody>
      </p:sp>
      <p:sp>
        <p:nvSpPr>
          <p:cNvPr id="12" name="Rectangle 11"/>
          <p:cNvSpPr/>
          <p:nvPr/>
        </p:nvSpPr>
        <p:spPr>
          <a:xfrm>
            <a:off x="4425696" y="2286000"/>
            <a:ext cx="3337560" cy="13716"/>
          </a:xfrm>
          <a:prstGeom prst="rect">
            <a:avLst/>
          </a:prstGeom>
          <a:solidFill>
            <a:srgbClr val="1C7F9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4425696" y="2542032"/>
            <a:ext cx="914400" cy="548640"/>
          </a:xfrm>
          <a:prstGeom prst="rect">
            <a:avLst/>
          </a:prstGeom>
          <a:noFill/>
          <a:effectLst/>
        </p:spPr>
        <p:txBody>
          <a:bodyPr wrap="square" lIns="0" rIns="0" tIns="0" bIns="0">
            <a:spAutoFit/>
          </a:bodyPr>
          <a:lstStyle/>
          <a:p>
            <a:pPr>
              <a:lnSpc>
                <a:spcPct val="104000"/>
              </a:lnSpc>
              <a:spcBef>
                <a:spcPts val="0"/>
              </a:spcBef>
              <a:spcAft>
                <a:spcPts val="500"/>
              </a:spcAft>
            </a:pPr>
            <a:r>
              <a:rPr sz="3000" b="1" lang="id-ID">
                <a:solidFill>
                  <a:srgbClr val="1C7F9E"/>
                </a:solidFill>
                <a:latin typeface="Arial Narrow"/>
              </a:rPr>
              <a:t>02</a:t>
            </a:r>
          </a:p>
        </p:txBody>
      </p:sp>
      <p:sp>
        <p:nvSpPr>
          <p:cNvPr id="14" name="TextBox 13"/>
          <p:cNvSpPr txBox="1"/>
          <p:nvPr/>
        </p:nvSpPr>
        <p:spPr>
          <a:xfrm>
            <a:off x="4425696" y="3337560"/>
            <a:ext cx="3291840" cy="457200"/>
          </a:xfrm>
          <a:prstGeom prst="rect">
            <a:avLst/>
          </a:prstGeom>
          <a:noFill/>
          <a:effectLst/>
        </p:spPr>
        <p:txBody>
          <a:bodyPr wrap="square" lIns="0" rIns="0" tIns="0" bIns="0">
            <a:spAutoFit/>
          </a:bodyPr>
          <a:lstStyle/>
          <a:p>
            <a:pPr>
              <a:lnSpc>
                <a:spcPct val="104000"/>
              </a:lnSpc>
              <a:spcBef>
                <a:spcPts val="0"/>
              </a:spcBef>
              <a:spcAft>
                <a:spcPts val="500"/>
              </a:spcAft>
            </a:pPr>
            <a:r>
              <a:rPr sz="2500" b="1" lang="id-ID">
                <a:solidFill>
                  <a:srgbClr val="0B1F2A"/>
                </a:solidFill>
                <a:latin typeface="Arial Narrow"/>
              </a:rPr>
              <a:t>Bandingkan waktu</a:t>
            </a:r>
          </a:p>
        </p:txBody>
      </p:sp>
      <p:sp>
        <p:nvSpPr>
          <p:cNvPr id="15" name="TextBox 14"/>
          <p:cNvSpPr txBox="1"/>
          <p:nvPr/>
        </p:nvSpPr>
        <p:spPr>
          <a:xfrm>
            <a:off x="4425696" y="4005072"/>
            <a:ext cx="3337560" cy="1143000"/>
          </a:xfrm>
          <a:prstGeom prst="rect">
            <a:avLst/>
          </a:prstGeom>
          <a:noFill/>
          <a:effectLst/>
        </p:spPr>
        <p:txBody>
          <a:bodyPr wrap="square" lIns="0" rIns="0" tIns="0" bIns="0">
            <a:spAutoFit/>
          </a:bodyPr>
          <a:lstStyle/>
          <a:p>
            <a:pPr>
              <a:lnSpc>
                <a:spcPct val="104000"/>
              </a:lnSpc>
              <a:spcBef>
                <a:spcPts val="0"/>
              </a:spcBef>
              <a:spcAft>
                <a:spcPts val="500"/>
              </a:spcAft>
            </a:pPr>
            <a:r>
              <a:rPr sz="2200" b="0" lang="id-ID">
                <a:solidFill>
                  <a:srgbClr val="46626F"/>
                </a:solidFill>
                <a:latin typeface="Arial"/>
              </a:rPr>
              <a:t>Geser jam dan lihat</a:t>
            </a:r>
          </a:p>
          <a:p>
            <a:pPr>
              <a:lnSpc>
                <a:spcPct val="104000"/>
              </a:lnSpc>
              <a:spcBef>
                <a:spcPts val="0"/>
              </a:spcBef>
              <a:spcAft>
                <a:spcPts val="500"/>
              </a:spcAft>
            </a:pPr>
            <a:r>
              <a:rPr sz="2200" b="0" lang="id-ID">
                <a:solidFill>
                  <a:srgbClr val="46626F"/>
                </a:solidFill>
                <a:latin typeface="Arial"/>
              </a:rPr>
              <a:t>perubahan pilihan rute.</a:t>
            </a:r>
          </a:p>
        </p:txBody>
      </p:sp>
      <p:sp>
        <p:nvSpPr>
          <p:cNvPr id="16" name="Rectangle 15"/>
          <p:cNvSpPr/>
          <p:nvPr/>
        </p:nvSpPr>
        <p:spPr>
          <a:xfrm>
            <a:off x="8302752" y="2286000"/>
            <a:ext cx="3337560" cy="13716"/>
          </a:xfrm>
          <a:prstGeom prst="rect">
            <a:avLst/>
          </a:prstGeom>
          <a:solidFill>
            <a:srgbClr val="1C7F9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8302752" y="2542032"/>
            <a:ext cx="914400" cy="548640"/>
          </a:xfrm>
          <a:prstGeom prst="rect">
            <a:avLst/>
          </a:prstGeom>
          <a:noFill/>
          <a:effectLst/>
        </p:spPr>
        <p:txBody>
          <a:bodyPr wrap="square" lIns="0" rIns="0" tIns="0" bIns="0">
            <a:spAutoFit/>
          </a:bodyPr>
          <a:lstStyle/>
          <a:p>
            <a:pPr>
              <a:lnSpc>
                <a:spcPct val="104000"/>
              </a:lnSpc>
              <a:spcBef>
                <a:spcPts val="0"/>
              </a:spcBef>
              <a:spcAft>
                <a:spcPts val="500"/>
              </a:spcAft>
            </a:pPr>
            <a:r>
              <a:rPr sz="3000" b="1" lang="id-ID">
                <a:solidFill>
                  <a:srgbClr val="1C7F9E"/>
                </a:solidFill>
                <a:latin typeface="Arial Narrow"/>
              </a:rPr>
              <a:t>03</a:t>
            </a:r>
          </a:p>
        </p:txBody>
      </p:sp>
      <p:sp>
        <p:nvSpPr>
          <p:cNvPr id="18" name="TextBox 17"/>
          <p:cNvSpPr txBox="1"/>
          <p:nvPr/>
        </p:nvSpPr>
        <p:spPr>
          <a:xfrm>
            <a:off x="8302752" y="3337560"/>
            <a:ext cx="3291840" cy="457200"/>
          </a:xfrm>
          <a:prstGeom prst="rect">
            <a:avLst/>
          </a:prstGeom>
          <a:noFill/>
          <a:effectLst/>
        </p:spPr>
        <p:txBody>
          <a:bodyPr wrap="square" lIns="0" rIns="0" tIns="0" bIns="0">
            <a:spAutoFit/>
          </a:bodyPr>
          <a:lstStyle/>
          <a:p>
            <a:pPr>
              <a:lnSpc>
                <a:spcPct val="104000"/>
              </a:lnSpc>
              <a:spcBef>
                <a:spcPts val="0"/>
              </a:spcBef>
              <a:spcAft>
                <a:spcPts val="500"/>
              </a:spcAft>
            </a:pPr>
            <a:r>
              <a:rPr sz="2500" b="1" lang="id-ID">
                <a:solidFill>
                  <a:srgbClr val="0B1F2A"/>
                </a:solidFill>
                <a:latin typeface="Arial Narrow"/>
              </a:rPr>
              <a:t>Baca konsekuensi</a:t>
            </a:r>
          </a:p>
        </p:txBody>
      </p:sp>
      <p:sp>
        <p:nvSpPr>
          <p:cNvPr id="19" name="TextBox 18"/>
          <p:cNvSpPr txBox="1"/>
          <p:nvPr/>
        </p:nvSpPr>
        <p:spPr>
          <a:xfrm>
            <a:off x="8302752" y="4005072"/>
            <a:ext cx="3337560" cy="1143000"/>
          </a:xfrm>
          <a:prstGeom prst="rect">
            <a:avLst/>
          </a:prstGeom>
          <a:noFill/>
          <a:effectLst/>
        </p:spPr>
        <p:txBody>
          <a:bodyPr wrap="square" lIns="0" rIns="0" tIns="0" bIns="0">
            <a:spAutoFit/>
          </a:bodyPr>
          <a:lstStyle/>
          <a:p>
            <a:pPr>
              <a:lnSpc>
                <a:spcPct val="104000"/>
              </a:lnSpc>
              <a:spcBef>
                <a:spcPts val="0"/>
              </a:spcBef>
              <a:spcAft>
                <a:spcPts val="500"/>
              </a:spcAft>
            </a:pPr>
            <a:r>
              <a:rPr sz="2200" b="0" lang="id-ID">
                <a:solidFill>
                  <a:srgbClr val="46626F"/>
                </a:solidFill>
                <a:latin typeface="Arial"/>
              </a:rPr>
              <a:t>Waktu, jarak, paparan,</a:t>
            </a:r>
          </a:p>
          <a:p>
            <a:pPr>
              <a:lnSpc>
                <a:spcPct val="104000"/>
              </a:lnSpc>
              <a:spcBef>
                <a:spcPts val="0"/>
              </a:spcBef>
              <a:spcAft>
                <a:spcPts val="500"/>
              </a:spcAft>
            </a:pPr>
            <a:r>
              <a:rPr sz="2200" b="0" lang="id-ID">
                <a:solidFill>
                  <a:srgbClr val="46626F"/>
                </a:solidFill>
                <a:latin typeface="Arial"/>
              </a:rPr>
              <a:t>serta estimasi BBM/CO₂.</a:t>
            </a:r>
          </a:p>
        </p:txBody>
      </p:sp>
      <p:sp>
        <p:nvSpPr>
          <p:cNvPr id="20" name="Rectangle 19"/>
          <p:cNvSpPr/>
          <p:nvPr/>
        </p:nvSpPr>
        <p:spPr>
          <a:xfrm>
            <a:off x="548640" y="5559552"/>
            <a:ext cx="11064240" cy="548640"/>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749808" y="5715000"/>
            <a:ext cx="10698480" cy="256032"/>
          </a:xfrm>
          <a:prstGeom prst="rect">
            <a:avLst/>
          </a:prstGeom>
          <a:noFill/>
          <a:effectLst/>
        </p:spPr>
        <p:txBody>
          <a:bodyPr wrap="square" lIns="0" rIns="0" tIns="0" bIns="0">
            <a:spAutoFit/>
          </a:bodyPr>
          <a:lstStyle/>
          <a:p>
            <a:pPr>
              <a:lnSpc>
                <a:spcPct val="104000"/>
              </a:lnSpc>
              <a:spcBef>
                <a:spcPts val="0"/>
              </a:spcBef>
              <a:spcAft>
                <a:spcPts val="500"/>
              </a:spcAft>
            </a:pPr>
            <a:r>
              <a:rPr sz="1600" b="0" lang="id-ID">
                <a:solidFill>
                  <a:srgbClr val="0B1F2A"/>
                </a:solidFill>
                <a:latin typeface="Arial"/>
              </a:rPr>
              <a:t>Indeks kerentanan memberi konteks perencanaan. Kondisi lapangan tetap perlu diperiksa.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2F5F6"/>
        </a:solidFill>
        <a:effectLst/>
      </p:bgPr>
    </p:bg>
    <p:spTree>
      <p:nvGrpSpPr>
        <p:cNvPr id="1" name=""/>
        <p:cNvGrpSpPr/>
        <p:nvPr/>
      </p:nvGrpSpPr>
      <p:grpSpPr/>
      <p:sp>
        <p:nvSpPr>
          <p:cNvPr id="2" name="TextBox 1"/>
          <p:cNvSpPr txBox="1"/>
          <p:nvPr/>
        </p:nvSpPr>
        <p:spPr>
          <a:xfrm>
            <a:off x="502920" y="320040"/>
            <a:ext cx="9144000" cy="274320"/>
          </a:xfrm>
          <a:prstGeom prst="rect">
            <a:avLst/>
          </a:prstGeom>
          <a:noFill/>
          <a:effectLst/>
        </p:spPr>
        <p:txBody>
          <a:bodyPr wrap="square" lIns="0" rIns="0" tIns="0" bIns="0">
            <a:spAutoFit/>
          </a:bodyPr>
          <a:lstStyle/>
          <a:p>
            <a:pPr>
              <a:lnSpc>
                <a:spcPct val="104000"/>
              </a:lnSpc>
              <a:spcBef>
                <a:spcPts val="0"/>
              </a:spcBef>
              <a:spcAft>
                <a:spcPts val="500"/>
              </a:spcAft>
            </a:pPr>
            <a:r>
              <a:rPr sz="1200" b="1" lang="id-ID">
                <a:solidFill>
                  <a:srgbClr val="1C7F9E"/>
                </a:solidFill>
                <a:latin typeface="Arial"/>
              </a:rPr>
              <a:t>02 / DEMO</a:t>
            </a:r>
          </a:p>
        </p:txBody>
      </p:sp>
      <p:sp>
        <p:nvSpPr>
          <p:cNvPr id="3" name="TextBox 2"/>
          <p:cNvSpPr txBox="1"/>
          <p:nvPr/>
        </p:nvSpPr>
        <p:spPr>
          <a:xfrm>
            <a:off x="502920" y="777240"/>
            <a:ext cx="11201400" cy="576072"/>
          </a:xfrm>
          <a:prstGeom prst="rect">
            <a:avLst/>
          </a:prstGeom>
          <a:noFill/>
          <a:effectLst/>
        </p:spPr>
        <p:txBody>
          <a:bodyPr wrap="square" lIns="0" rIns="0" tIns="0" bIns="0">
            <a:spAutoFit/>
          </a:bodyPr>
          <a:lstStyle/>
          <a:p>
            <a:pPr>
              <a:lnSpc>
                <a:spcPct val="104000"/>
              </a:lnSpc>
              <a:spcBef>
                <a:spcPts val="0"/>
              </a:spcBef>
              <a:spcAft>
                <a:spcPts val="500"/>
              </a:spcAft>
            </a:pPr>
            <a:r>
              <a:rPr sz="3400" b="1" lang="id-ID">
                <a:solidFill>
                  <a:srgbClr val="0B1F2A"/>
                </a:solidFill>
                <a:latin typeface="Arial Narrow"/>
              </a:rPr>
              <a:t>Tawang → Terboyo, pada dua waktu</a:t>
            </a:r>
          </a:p>
        </p:txBody>
      </p:sp>
      <p:sp>
        <p:nvSpPr>
          <p:cNvPr id="4" name="TextBox 3"/>
          <p:cNvSpPr txBox="1"/>
          <p:nvPr/>
        </p:nvSpPr>
        <p:spPr>
          <a:xfrm>
            <a:off x="521207" y="1426464"/>
            <a:ext cx="10972800" cy="475488"/>
          </a:xfrm>
          <a:prstGeom prst="rect">
            <a:avLst/>
          </a:prstGeom>
          <a:noFill/>
          <a:effectLst/>
        </p:spPr>
        <p:txBody>
          <a:bodyPr wrap="square" lIns="0" rIns="0" tIns="0" bIns="0">
            <a:spAutoFit/>
          </a:bodyPr>
          <a:lstStyle/>
          <a:p>
            <a:pPr>
              <a:lnSpc>
                <a:spcPct val="104000"/>
              </a:lnSpc>
              <a:spcBef>
                <a:spcPts val="0"/>
              </a:spcBef>
              <a:spcAft>
                <a:spcPts val="500"/>
              </a:spcAft>
            </a:pPr>
            <a:r>
              <a:rPr sz="1700" b="0" lang="id-ID">
                <a:solidFill>
                  <a:srgbClr val="46626F"/>
                </a:solidFill>
                <a:latin typeface="Arial"/>
              </a:rPr>
              <a:t>Motor • potret 26 September 2026 • 08.00 dan 13.00 WIB • sumber kerentanan_v1</a:t>
            </a:r>
          </a:p>
        </p:txBody>
      </p:sp>
      <p:sp>
        <p:nvSpPr>
          <p:cNvPr id="5" name="Rectangle 4"/>
          <p:cNvSpPr/>
          <p:nvPr/>
        </p:nvSpPr>
        <p:spPr>
          <a:xfrm>
            <a:off x="502920" y="6446520"/>
            <a:ext cx="11183112" cy="13716"/>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02920" y="6537960"/>
            <a:ext cx="10698480" cy="182880"/>
          </a:xfrm>
          <a:prstGeom prst="rect">
            <a:avLst/>
          </a:prstGeom>
          <a:noFill/>
          <a:effectLst/>
        </p:spPr>
        <p:txBody>
          <a:bodyPr wrap="square" lIns="0" rIns="0" tIns="0" bIns="0">
            <a:spAutoFit/>
          </a:bodyPr>
          <a:lstStyle/>
          <a:p>
            <a:pPr>
              <a:lnSpc>
                <a:spcPct val="104000"/>
              </a:lnSpc>
              <a:spcBef>
                <a:spcPts val="0"/>
              </a:spcBef>
              <a:spcAft>
                <a:spcPts val="500"/>
              </a:spcAft>
            </a:pPr>
            <a:r>
              <a:rPr sz="1000" b="0" lang="id-ID">
                <a:solidFill>
                  <a:srgbClr val="46626F"/>
                </a:solidFill>
                <a:latin typeface="Arial"/>
              </a:rPr>
              <a:t>Skenario tersimpan 919aa345…; hasil API lengkap: aset/skenario.json</a:t>
            </a:r>
          </a:p>
        </p:txBody>
      </p:sp>
      <p:sp>
        <p:nvSpPr>
          <p:cNvPr id="7" name="TextBox 6"/>
          <p:cNvSpPr txBox="1"/>
          <p:nvPr/>
        </p:nvSpPr>
        <p:spPr>
          <a:xfrm>
            <a:off x="11292840" y="6501384"/>
            <a:ext cx="384048" cy="246888"/>
          </a:xfrm>
          <a:prstGeom prst="rect">
            <a:avLst/>
          </a:prstGeom>
          <a:noFill/>
          <a:effectLst/>
        </p:spPr>
        <p:txBody>
          <a:bodyPr wrap="square" lIns="0" rIns="0" tIns="0" bIns="0">
            <a:spAutoFit/>
          </a:bodyPr>
          <a:lstStyle/>
          <a:p>
            <a:pPr algn="r">
              <a:lnSpc>
                <a:spcPct val="104000"/>
              </a:lnSpc>
              <a:spcBef>
                <a:spcPts val="0"/>
              </a:spcBef>
              <a:spcAft>
                <a:spcPts val="500"/>
              </a:spcAft>
            </a:pPr>
            <a:r>
              <a:rPr sz="1400" b="1" lang="id-ID">
                <a:solidFill>
                  <a:srgbClr val="46626F"/>
                </a:solidFill>
                <a:latin typeface="Arial"/>
              </a:rPr>
              <a:t>03</a:t>
            </a:r>
          </a:p>
        </p:txBody>
      </p:sp>
      <p:pic>
        <p:nvPicPr>
          <p:cNvPr id="8" name="Picture 7" descr="demo_08.png"/>
          <p:cNvPicPr>
            <a:picLocks noChangeAspect="1"/>
          </p:cNvPicPr>
          <p:nvPr/>
        </p:nvPicPr>
        <p:blipFill>
          <a:blip r:embed="rId2"/>
          <a:stretch>
            <a:fillRect/>
          </a:stretch>
        </p:blipFill>
        <p:spPr>
          <a:xfrm>
            <a:off x="548640" y="1975104"/>
            <a:ext cx="7315200" cy="4389120"/>
          </a:xfrm>
          <a:prstGeom prst="rect">
            <a:avLst/>
          </a:prstGeom>
          <a:effectLst/>
        </p:spPr>
      </p:pic>
      <p:sp>
        <p:nvSpPr>
          <p:cNvPr id="9" name="TextBox 8"/>
          <p:cNvSpPr txBox="1"/>
          <p:nvPr/>
        </p:nvSpPr>
        <p:spPr>
          <a:xfrm>
            <a:off x="8412480" y="2103120"/>
            <a:ext cx="411480" cy="402336"/>
          </a:xfrm>
          <a:prstGeom prst="rect">
            <a:avLst/>
          </a:prstGeom>
          <a:noFill/>
          <a:effectLst/>
        </p:spPr>
        <p:txBody>
          <a:bodyPr wrap="square" lIns="0" rIns="0" tIns="0" bIns="0">
            <a:spAutoFit/>
          </a:bodyPr>
          <a:lstStyle/>
          <a:p>
            <a:pPr>
              <a:lnSpc>
                <a:spcPct val="104000"/>
              </a:lnSpc>
              <a:spcBef>
                <a:spcPts val="0"/>
              </a:spcBef>
              <a:spcAft>
                <a:spcPts val="500"/>
              </a:spcAft>
            </a:pPr>
            <a:r>
              <a:rPr sz="2300" b="1" lang="id-ID">
                <a:solidFill>
                  <a:srgbClr val="1C7F9E"/>
                </a:solidFill>
                <a:latin typeface="Arial"/>
              </a:rPr>
              <a:t>1</a:t>
            </a:r>
          </a:p>
        </p:txBody>
      </p:sp>
      <p:sp>
        <p:nvSpPr>
          <p:cNvPr id="10" name="TextBox 9"/>
          <p:cNvSpPr txBox="1"/>
          <p:nvPr/>
        </p:nvSpPr>
        <p:spPr>
          <a:xfrm>
            <a:off x="8942832" y="2103120"/>
            <a:ext cx="2560320" cy="384048"/>
          </a:xfrm>
          <a:prstGeom prst="rect">
            <a:avLst/>
          </a:prstGeom>
          <a:noFill/>
          <a:effectLst/>
        </p:spPr>
        <p:txBody>
          <a:bodyPr wrap="square" lIns="0" rIns="0" tIns="0" bIns="0">
            <a:spAutoFit/>
          </a:bodyPr>
          <a:lstStyle/>
          <a:p>
            <a:pPr>
              <a:lnSpc>
                <a:spcPct val="104000"/>
              </a:lnSpc>
              <a:spcBef>
                <a:spcPts val="0"/>
              </a:spcBef>
              <a:spcAft>
                <a:spcPts val="500"/>
              </a:spcAft>
            </a:pPr>
            <a:r>
              <a:rPr sz="2300" b="1" lang="id-ID">
                <a:solidFill>
                  <a:srgbClr val="0B1F2A"/>
                </a:solidFill>
                <a:latin typeface="Arial Narrow"/>
              </a:rPr>
              <a:t>Kenali lokasi</a:t>
            </a:r>
          </a:p>
        </p:txBody>
      </p:sp>
      <p:sp>
        <p:nvSpPr>
          <p:cNvPr id="11" name="TextBox 10"/>
          <p:cNvSpPr txBox="1"/>
          <p:nvPr/>
        </p:nvSpPr>
        <p:spPr>
          <a:xfrm>
            <a:off x="8942832" y="2569463"/>
            <a:ext cx="2697480" cy="722376"/>
          </a:xfrm>
          <a:prstGeom prst="rect">
            <a:avLst/>
          </a:prstGeom>
          <a:noFill/>
          <a:effectLst/>
        </p:spPr>
        <p:txBody>
          <a:bodyPr wrap="square" lIns="0" rIns="0" tIns="0" bIns="0">
            <a:spAutoFit/>
          </a:bodyPr>
          <a:lstStyle/>
          <a:p>
            <a:pPr>
              <a:lnSpc>
                <a:spcPct val="104000"/>
              </a:lnSpc>
              <a:spcBef>
                <a:spcPts val="0"/>
              </a:spcBef>
              <a:spcAft>
                <a:spcPts val="500"/>
              </a:spcAft>
            </a:pPr>
            <a:r>
              <a:rPr sz="1800" b="0" lang="id-ID">
                <a:solidFill>
                  <a:srgbClr val="46626F"/>
                </a:solidFill>
                <a:latin typeface="Arial"/>
              </a:rPr>
              <a:t>Tawang dan Terboyo</a:t>
            </a:r>
          </a:p>
          <a:p>
            <a:pPr>
              <a:lnSpc>
                <a:spcPct val="104000"/>
              </a:lnSpc>
              <a:spcBef>
                <a:spcPts val="0"/>
              </a:spcBef>
              <a:spcAft>
                <a:spcPts val="500"/>
              </a:spcAft>
            </a:pPr>
            <a:r>
              <a:rPr sz="1800" b="0" lang="id-ID">
                <a:solidFill>
                  <a:srgbClr val="46626F"/>
                </a:solidFill>
                <a:latin typeface="Arial"/>
              </a:rPr>
              <a:t>terlihat pada peta.</a:t>
            </a:r>
          </a:p>
        </p:txBody>
      </p:sp>
      <p:sp>
        <p:nvSpPr>
          <p:cNvPr id="12" name="TextBox 11"/>
          <p:cNvSpPr txBox="1"/>
          <p:nvPr/>
        </p:nvSpPr>
        <p:spPr>
          <a:xfrm>
            <a:off x="8412480" y="3319272"/>
            <a:ext cx="411480" cy="402336"/>
          </a:xfrm>
          <a:prstGeom prst="rect">
            <a:avLst/>
          </a:prstGeom>
          <a:noFill/>
          <a:effectLst/>
        </p:spPr>
        <p:txBody>
          <a:bodyPr wrap="square" lIns="0" rIns="0" tIns="0" bIns="0">
            <a:spAutoFit/>
          </a:bodyPr>
          <a:lstStyle/>
          <a:p>
            <a:pPr>
              <a:lnSpc>
                <a:spcPct val="104000"/>
              </a:lnSpc>
              <a:spcBef>
                <a:spcPts val="0"/>
              </a:spcBef>
              <a:spcAft>
                <a:spcPts val="500"/>
              </a:spcAft>
            </a:pPr>
            <a:r>
              <a:rPr sz="2300" b="1" lang="id-ID">
                <a:solidFill>
                  <a:srgbClr val="1C7F9E"/>
                </a:solidFill>
                <a:latin typeface="Arial"/>
              </a:rPr>
              <a:t>2</a:t>
            </a:r>
          </a:p>
        </p:txBody>
      </p:sp>
      <p:sp>
        <p:nvSpPr>
          <p:cNvPr id="13" name="TextBox 12"/>
          <p:cNvSpPr txBox="1"/>
          <p:nvPr/>
        </p:nvSpPr>
        <p:spPr>
          <a:xfrm>
            <a:off x="8942832" y="3319272"/>
            <a:ext cx="2560320" cy="384048"/>
          </a:xfrm>
          <a:prstGeom prst="rect">
            <a:avLst/>
          </a:prstGeom>
          <a:noFill/>
          <a:effectLst/>
        </p:spPr>
        <p:txBody>
          <a:bodyPr wrap="square" lIns="0" rIns="0" tIns="0" bIns="0">
            <a:spAutoFit/>
          </a:bodyPr>
          <a:lstStyle/>
          <a:p>
            <a:pPr>
              <a:lnSpc>
                <a:spcPct val="104000"/>
              </a:lnSpc>
              <a:spcBef>
                <a:spcPts val="0"/>
              </a:spcBef>
              <a:spcAft>
                <a:spcPts val="500"/>
              </a:spcAft>
            </a:pPr>
            <a:r>
              <a:rPr sz="2300" b="1" lang="id-ID">
                <a:solidFill>
                  <a:srgbClr val="0B1F2A"/>
                </a:solidFill>
                <a:latin typeface="Arial Narrow"/>
              </a:rPr>
              <a:t>Baca peringatan</a:t>
            </a:r>
          </a:p>
        </p:txBody>
      </p:sp>
      <p:sp>
        <p:nvSpPr>
          <p:cNvPr id="14" name="TextBox 13"/>
          <p:cNvSpPr txBox="1"/>
          <p:nvPr/>
        </p:nvSpPr>
        <p:spPr>
          <a:xfrm>
            <a:off x="8942832" y="3785615"/>
            <a:ext cx="2697480" cy="722376"/>
          </a:xfrm>
          <a:prstGeom prst="rect">
            <a:avLst/>
          </a:prstGeom>
          <a:noFill/>
          <a:effectLst/>
        </p:spPr>
        <p:txBody>
          <a:bodyPr wrap="square" lIns="0" rIns="0" tIns="0" bIns="0">
            <a:spAutoFit/>
          </a:bodyPr>
          <a:lstStyle/>
          <a:p>
            <a:pPr>
              <a:lnSpc>
                <a:spcPct val="104000"/>
              </a:lnSpc>
              <a:spcBef>
                <a:spcPts val="0"/>
              </a:spcBef>
              <a:spcAft>
                <a:spcPts val="500"/>
              </a:spcAft>
            </a:pPr>
            <a:r>
              <a:rPr sz="1800" b="0" lang="id-ID">
                <a:solidFill>
                  <a:srgbClr val="46626F"/>
                </a:solidFill>
                <a:latin typeface="Arial"/>
              </a:rPr>
              <a:t>08.00: memutar, tetapi</a:t>
            </a:r>
          </a:p>
          <a:p>
            <a:pPr>
              <a:lnSpc>
                <a:spcPct val="104000"/>
              </a:lnSpc>
              <a:spcBef>
                <a:spcPts val="0"/>
              </a:spcBef>
              <a:spcAft>
                <a:spcPts val="500"/>
              </a:spcAft>
            </a:pPr>
            <a:r>
              <a:rPr sz="1800" b="0" lang="id-ID">
                <a:solidFill>
                  <a:srgbClr val="46626F"/>
                </a:solidFill>
                <a:latin typeface="Arial"/>
              </a:rPr>
              <a:t>masih ada paparan.</a:t>
            </a:r>
          </a:p>
        </p:txBody>
      </p:sp>
      <p:sp>
        <p:nvSpPr>
          <p:cNvPr id="15" name="TextBox 14"/>
          <p:cNvSpPr txBox="1"/>
          <p:nvPr/>
        </p:nvSpPr>
        <p:spPr>
          <a:xfrm>
            <a:off x="8412480" y="4535424"/>
            <a:ext cx="411480" cy="402336"/>
          </a:xfrm>
          <a:prstGeom prst="rect">
            <a:avLst/>
          </a:prstGeom>
          <a:noFill/>
          <a:effectLst/>
        </p:spPr>
        <p:txBody>
          <a:bodyPr wrap="square" lIns="0" rIns="0" tIns="0" bIns="0">
            <a:spAutoFit/>
          </a:bodyPr>
          <a:lstStyle/>
          <a:p>
            <a:pPr>
              <a:lnSpc>
                <a:spcPct val="104000"/>
              </a:lnSpc>
              <a:spcBef>
                <a:spcPts val="0"/>
              </a:spcBef>
              <a:spcAft>
                <a:spcPts val="500"/>
              </a:spcAft>
            </a:pPr>
            <a:r>
              <a:rPr sz="2300" b="1" lang="id-ID">
                <a:solidFill>
                  <a:srgbClr val="1C7F9E"/>
                </a:solidFill>
                <a:latin typeface="Arial"/>
              </a:rPr>
              <a:t>3</a:t>
            </a:r>
          </a:p>
        </p:txBody>
      </p:sp>
      <p:sp>
        <p:nvSpPr>
          <p:cNvPr id="16" name="TextBox 15"/>
          <p:cNvSpPr txBox="1"/>
          <p:nvPr/>
        </p:nvSpPr>
        <p:spPr>
          <a:xfrm>
            <a:off x="8942832" y="4535424"/>
            <a:ext cx="2560320" cy="384048"/>
          </a:xfrm>
          <a:prstGeom prst="rect">
            <a:avLst/>
          </a:prstGeom>
          <a:noFill/>
          <a:effectLst/>
        </p:spPr>
        <p:txBody>
          <a:bodyPr wrap="square" lIns="0" rIns="0" tIns="0" bIns="0">
            <a:spAutoFit/>
          </a:bodyPr>
          <a:lstStyle/>
          <a:p>
            <a:pPr>
              <a:lnSpc>
                <a:spcPct val="104000"/>
              </a:lnSpc>
              <a:spcBef>
                <a:spcPts val="0"/>
              </a:spcBef>
              <a:spcAft>
                <a:spcPts val="500"/>
              </a:spcAft>
            </a:pPr>
            <a:r>
              <a:rPr sz="2300" b="1" lang="id-ID">
                <a:solidFill>
                  <a:srgbClr val="0B1F2A"/>
                </a:solidFill>
                <a:latin typeface="Arial Narrow"/>
              </a:rPr>
              <a:t>Geser jam</a:t>
            </a:r>
          </a:p>
        </p:txBody>
      </p:sp>
      <p:sp>
        <p:nvSpPr>
          <p:cNvPr id="17" name="TextBox 16"/>
          <p:cNvSpPr txBox="1"/>
          <p:nvPr/>
        </p:nvSpPr>
        <p:spPr>
          <a:xfrm>
            <a:off x="8942832" y="5001768"/>
            <a:ext cx="2697480" cy="722376"/>
          </a:xfrm>
          <a:prstGeom prst="rect">
            <a:avLst/>
          </a:prstGeom>
          <a:noFill/>
          <a:effectLst/>
        </p:spPr>
        <p:txBody>
          <a:bodyPr wrap="square" lIns="0" rIns="0" tIns="0" bIns="0">
            <a:spAutoFit/>
          </a:bodyPr>
          <a:lstStyle/>
          <a:p>
            <a:pPr>
              <a:lnSpc>
                <a:spcPct val="104000"/>
              </a:lnSpc>
              <a:spcBef>
                <a:spcPts val="0"/>
              </a:spcBef>
              <a:spcAft>
                <a:spcPts val="500"/>
              </a:spcAft>
            </a:pPr>
            <a:r>
              <a:rPr sz="1800" b="0" lang="id-ID">
                <a:solidFill>
                  <a:srgbClr val="46626F"/>
                </a:solidFill>
                <a:latin typeface="Arial"/>
              </a:rPr>
              <a:t>13.00: tanpa tambahan</a:t>
            </a:r>
          </a:p>
          <a:p>
            <a:pPr>
              <a:lnSpc>
                <a:spcPct val="104000"/>
              </a:lnSpc>
              <a:spcBef>
                <a:spcPts val="0"/>
              </a:spcBef>
              <a:spcAft>
                <a:spcPts val="500"/>
              </a:spcAft>
            </a:pPr>
            <a:r>
              <a:rPr sz="1800" b="0" lang="id-ID">
                <a:solidFill>
                  <a:srgbClr val="46626F"/>
                </a:solidFill>
                <a:latin typeface="Arial"/>
              </a:rPr>
              <a:t>jarak menurut model.</a:t>
            </a:r>
          </a:p>
        </p:txBody>
      </p:sp>
      <p:sp>
        <p:nvSpPr>
          <p:cNvPr id="18" name="TextBox 17">
            <a:hlinkClick r:id="rId3"/>
          </p:cNvPr>
          <p:cNvSpPr txBox="1"/>
          <p:nvPr/>
        </p:nvSpPr>
        <p:spPr>
          <a:xfrm>
            <a:off x="8412480" y="5897880"/>
            <a:ext cx="3017520" cy="347472"/>
          </a:xfrm>
          <a:prstGeom prst="rect">
            <a:avLst/>
          </a:prstGeom>
          <a:noFill/>
          <a:effectLst/>
        </p:spPr>
        <p:txBody>
          <a:bodyPr wrap="square" lIns="0" rIns="0" tIns="0" bIns="0">
            <a:spAutoFit/>
          </a:bodyPr>
          <a:lstStyle/>
          <a:p>
            <a:pPr>
              <a:lnSpc>
                <a:spcPct val="104000"/>
              </a:lnSpc>
              <a:spcBef>
                <a:spcPts val="0"/>
              </a:spcBef>
              <a:spcAft>
                <a:spcPts val="500"/>
              </a:spcAft>
            </a:pPr>
            <a:r>
              <a:rPr sz="1900" b="1" lang="id-ID">
                <a:solidFill>
                  <a:srgbClr val="1C7F9E"/>
                </a:solidFill>
                <a:latin typeface="Arial"/>
              </a:rPr>
              <a:t>Buka aplikasi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2F5F6"/>
        </a:solidFill>
        <a:effectLst/>
      </p:bgPr>
    </p:bg>
    <p:spTree>
      <p:nvGrpSpPr>
        <p:cNvPr id="1" name=""/>
        <p:cNvGrpSpPr/>
        <p:nvPr/>
      </p:nvGrpSpPr>
      <p:grpSpPr/>
      <p:sp>
        <p:nvSpPr>
          <p:cNvPr id="2" name="TextBox 1"/>
          <p:cNvSpPr txBox="1"/>
          <p:nvPr/>
        </p:nvSpPr>
        <p:spPr>
          <a:xfrm>
            <a:off x="502920" y="320040"/>
            <a:ext cx="9144000" cy="274320"/>
          </a:xfrm>
          <a:prstGeom prst="rect">
            <a:avLst/>
          </a:prstGeom>
          <a:noFill/>
          <a:effectLst/>
        </p:spPr>
        <p:txBody>
          <a:bodyPr wrap="square" lIns="0" rIns="0" tIns="0" bIns="0">
            <a:spAutoFit/>
          </a:bodyPr>
          <a:lstStyle/>
          <a:p>
            <a:pPr>
              <a:lnSpc>
                <a:spcPct val="104000"/>
              </a:lnSpc>
              <a:spcBef>
                <a:spcPts val="0"/>
              </a:spcBef>
              <a:spcAft>
                <a:spcPts val="500"/>
              </a:spcAft>
            </a:pPr>
            <a:r>
              <a:rPr sz="1200" b="1" lang="id-ID">
                <a:solidFill>
                  <a:srgbClr val="1C7F9E"/>
                </a:solidFill>
                <a:latin typeface="Arial"/>
              </a:rPr>
              <a:t>03 / METODE</a:t>
            </a:r>
          </a:p>
        </p:txBody>
      </p:sp>
      <p:sp>
        <p:nvSpPr>
          <p:cNvPr id="3" name="TextBox 2"/>
          <p:cNvSpPr txBox="1"/>
          <p:nvPr/>
        </p:nvSpPr>
        <p:spPr>
          <a:xfrm>
            <a:off x="502920" y="777240"/>
            <a:ext cx="11201400" cy="576072"/>
          </a:xfrm>
          <a:prstGeom prst="rect">
            <a:avLst/>
          </a:prstGeom>
          <a:noFill/>
          <a:effectLst/>
        </p:spPr>
        <p:txBody>
          <a:bodyPr wrap="square" lIns="0" rIns="0" tIns="0" bIns="0">
            <a:spAutoFit/>
          </a:bodyPr>
          <a:lstStyle/>
          <a:p>
            <a:pPr>
              <a:lnSpc>
                <a:spcPct val="104000"/>
              </a:lnSpc>
              <a:spcBef>
                <a:spcPts val="0"/>
              </a:spcBef>
              <a:spcAft>
                <a:spcPts val="500"/>
              </a:spcAft>
            </a:pPr>
            <a:r>
              <a:rPr sz="3400" b="1" lang="id-ID">
                <a:solidFill>
                  <a:srgbClr val="0B1F2A"/>
                </a:solidFill>
                <a:latin typeface="Arial Narrow"/>
              </a:rPr>
              <a:t>Dari pasut dan kerentanan ke pilihan rute</a:t>
            </a:r>
          </a:p>
        </p:txBody>
      </p:sp>
      <p:sp>
        <p:nvSpPr>
          <p:cNvPr id="4" name="TextBox 3"/>
          <p:cNvSpPr txBox="1"/>
          <p:nvPr/>
        </p:nvSpPr>
        <p:spPr>
          <a:xfrm>
            <a:off x="521207" y="1426464"/>
            <a:ext cx="10972800" cy="475488"/>
          </a:xfrm>
          <a:prstGeom prst="rect">
            <a:avLst/>
          </a:prstGeom>
          <a:noFill/>
          <a:effectLst/>
        </p:spPr>
        <p:txBody>
          <a:bodyPr wrap="square" lIns="0" rIns="0" tIns="0" bIns="0">
            <a:spAutoFit/>
          </a:bodyPr>
          <a:lstStyle/>
          <a:p>
            <a:pPr>
              <a:lnSpc>
                <a:spcPct val="104000"/>
              </a:lnSpc>
              <a:spcBef>
                <a:spcPts val="0"/>
              </a:spcBef>
              <a:spcAft>
                <a:spcPts val="500"/>
              </a:spcAft>
            </a:pPr>
            <a:r>
              <a:rPr sz="1700" b="0" lang="id-ID">
                <a:solidFill>
                  <a:srgbClr val="46626F"/>
                </a:solidFill>
                <a:latin typeface="Arial"/>
              </a:rPr>
              <a:t>19.394 ruas pada wilayah pilot; data disiapkan sebelum pengguna mencari perjalanan.</a:t>
            </a:r>
          </a:p>
        </p:txBody>
      </p:sp>
      <p:sp>
        <p:nvSpPr>
          <p:cNvPr id="5" name="Rectangle 4"/>
          <p:cNvSpPr/>
          <p:nvPr/>
        </p:nvSpPr>
        <p:spPr>
          <a:xfrm>
            <a:off x="502920" y="6446520"/>
            <a:ext cx="11183112" cy="13716"/>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a:hlinkClick r:id="rId2"/>
          </p:cNvPr>
          <p:cNvSpPr txBox="1"/>
          <p:nvPr/>
        </p:nvSpPr>
        <p:spPr>
          <a:xfrm>
            <a:off x="502920" y="6537960"/>
            <a:ext cx="10698480" cy="182880"/>
          </a:xfrm>
          <a:prstGeom prst="rect">
            <a:avLst/>
          </a:prstGeom>
          <a:noFill/>
          <a:effectLst/>
        </p:spPr>
        <p:txBody>
          <a:bodyPr wrap="square" lIns="0" rIns="0" tIns="0" bIns="0">
            <a:spAutoFit/>
          </a:bodyPr>
          <a:lstStyle/>
          <a:p>
            <a:pPr>
              <a:lnSpc>
                <a:spcPct val="104000"/>
              </a:lnSpc>
              <a:spcBef>
                <a:spcPts val="0"/>
              </a:spcBef>
              <a:spcAft>
                <a:spcPts val="500"/>
              </a:spcAft>
            </a:pPr>
            <a:r>
              <a:rPr sz="1000" b="0" lang="id-ID">
                <a:solidFill>
                  <a:srgbClr val="46626F"/>
                </a:solidFill>
                <a:latin typeface="Arial"/>
              </a:rPr>
              <a:t>Sumber implementasi: backend/app/domain/{pasut,kerentanan,routing}.py; runtime.py</a:t>
            </a:r>
          </a:p>
        </p:txBody>
      </p:sp>
      <p:sp>
        <p:nvSpPr>
          <p:cNvPr id="7" name="TextBox 6"/>
          <p:cNvSpPr txBox="1"/>
          <p:nvPr/>
        </p:nvSpPr>
        <p:spPr>
          <a:xfrm>
            <a:off x="11292840" y="6501384"/>
            <a:ext cx="384048" cy="246888"/>
          </a:xfrm>
          <a:prstGeom prst="rect">
            <a:avLst/>
          </a:prstGeom>
          <a:noFill/>
          <a:effectLst/>
        </p:spPr>
        <p:txBody>
          <a:bodyPr wrap="square" lIns="0" rIns="0" tIns="0" bIns="0">
            <a:spAutoFit/>
          </a:bodyPr>
          <a:lstStyle/>
          <a:p>
            <a:pPr algn="r">
              <a:lnSpc>
                <a:spcPct val="104000"/>
              </a:lnSpc>
              <a:spcBef>
                <a:spcPts val="0"/>
              </a:spcBef>
              <a:spcAft>
                <a:spcPts val="500"/>
              </a:spcAft>
            </a:pPr>
            <a:r>
              <a:rPr sz="1400" b="1" lang="id-ID">
                <a:solidFill>
                  <a:srgbClr val="46626F"/>
                </a:solidFill>
                <a:latin typeface="Arial"/>
              </a:rPr>
              <a:t>04</a:t>
            </a:r>
          </a:p>
        </p:txBody>
      </p:sp>
      <p:sp>
        <p:nvSpPr>
          <p:cNvPr id="8" name="Rectangle 7"/>
          <p:cNvSpPr/>
          <p:nvPr/>
        </p:nvSpPr>
        <p:spPr>
          <a:xfrm>
            <a:off x="548640" y="2075688"/>
            <a:ext cx="3867912" cy="1033271"/>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49808" y="2212848"/>
            <a:ext cx="3493008" cy="356616"/>
          </a:xfrm>
          <a:prstGeom prst="rect">
            <a:avLst/>
          </a:prstGeom>
          <a:noFill/>
          <a:effectLst/>
        </p:spPr>
        <p:txBody>
          <a:bodyPr wrap="square" lIns="0" rIns="0" tIns="0" bIns="0">
            <a:spAutoFit/>
          </a:bodyPr>
          <a:lstStyle/>
          <a:p>
            <a:pPr>
              <a:lnSpc>
                <a:spcPct val="104000"/>
              </a:lnSpc>
              <a:spcBef>
                <a:spcPts val="0"/>
              </a:spcBef>
              <a:spcAft>
                <a:spcPts val="500"/>
              </a:spcAft>
            </a:pPr>
            <a:r>
              <a:rPr sz="2400" b="1" lang="id-ID">
                <a:solidFill>
                  <a:srgbClr val="E8F1F4"/>
                </a:solidFill>
                <a:latin typeface="Arial Narrow"/>
              </a:rPr>
              <a:t>Rekonstruksi pasut</a:t>
            </a:r>
          </a:p>
        </p:txBody>
      </p:sp>
      <p:sp>
        <p:nvSpPr>
          <p:cNvPr id="10" name="TextBox 9"/>
          <p:cNvSpPr txBox="1"/>
          <p:nvPr/>
        </p:nvSpPr>
        <p:spPr>
          <a:xfrm>
            <a:off x="749808" y="2706624"/>
            <a:ext cx="3511296" cy="228600"/>
          </a:xfrm>
          <a:prstGeom prst="rect">
            <a:avLst/>
          </a:prstGeom>
          <a:noFill/>
          <a:effectLst/>
        </p:spPr>
        <p:txBody>
          <a:bodyPr wrap="square" lIns="0" rIns="0" tIns="0" bIns="0">
            <a:spAutoFit/>
          </a:bodyPr>
          <a:lstStyle/>
          <a:p>
            <a:pPr>
              <a:lnSpc>
                <a:spcPct val="104000"/>
              </a:lnSpc>
              <a:spcBef>
                <a:spcPts val="0"/>
              </a:spcBef>
              <a:spcAft>
                <a:spcPts val="500"/>
              </a:spcAft>
            </a:pPr>
            <a:r>
              <a:rPr sz="1500" b="0" lang="id-ID">
                <a:solidFill>
                  <a:srgbClr val="ABC0CA"/>
                </a:solidFill>
                <a:latin typeface="Arial"/>
              </a:rPr>
              <a:t>Komponen waktu berdasarkan konstanta</a:t>
            </a:r>
          </a:p>
        </p:txBody>
      </p:sp>
      <p:sp>
        <p:nvSpPr>
          <p:cNvPr id="11" name="Rectangle 10"/>
          <p:cNvSpPr/>
          <p:nvPr/>
        </p:nvSpPr>
        <p:spPr>
          <a:xfrm>
            <a:off x="548640" y="3346704"/>
            <a:ext cx="3867912" cy="1033271"/>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749808" y="3483864"/>
            <a:ext cx="3493008" cy="356616"/>
          </a:xfrm>
          <a:prstGeom prst="rect">
            <a:avLst/>
          </a:prstGeom>
          <a:noFill/>
          <a:effectLst/>
        </p:spPr>
        <p:txBody>
          <a:bodyPr wrap="square" lIns="0" rIns="0" tIns="0" bIns="0">
            <a:spAutoFit/>
          </a:bodyPr>
          <a:lstStyle/>
          <a:p>
            <a:pPr>
              <a:lnSpc>
                <a:spcPct val="104000"/>
              </a:lnSpc>
              <a:spcBef>
                <a:spcPts val="0"/>
              </a:spcBef>
              <a:spcAft>
                <a:spcPts val="500"/>
              </a:spcAft>
            </a:pPr>
            <a:r>
              <a:rPr sz="2400" b="1" lang="id-ID">
                <a:solidFill>
                  <a:srgbClr val="E8F1F4"/>
                </a:solidFill>
                <a:latin typeface="Arial Narrow"/>
              </a:rPr>
              <a:t>Indeks kerentanan</a:t>
            </a:r>
          </a:p>
        </p:txBody>
      </p:sp>
      <p:sp>
        <p:nvSpPr>
          <p:cNvPr id="13" name="TextBox 12"/>
          <p:cNvSpPr txBox="1"/>
          <p:nvPr/>
        </p:nvSpPr>
        <p:spPr>
          <a:xfrm>
            <a:off x="749808" y="3977639"/>
            <a:ext cx="3511296" cy="228600"/>
          </a:xfrm>
          <a:prstGeom prst="rect">
            <a:avLst/>
          </a:prstGeom>
          <a:noFill/>
          <a:effectLst/>
        </p:spPr>
        <p:txBody>
          <a:bodyPr wrap="square" lIns="0" rIns="0" tIns="0" bIns="0">
            <a:spAutoFit/>
          </a:bodyPr>
          <a:lstStyle/>
          <a:p>
            <a:pPr>
              <a:lnSpc>
                <a:spcPct val="104000"/>
              </a:lnSpc>
              <a:spcBef>
                <a:spcPts val="0"/>
              </a:spcBef>
              <a:spcAft>
                <a:spcPts val="500"/>
              </a:spcAft>
            </a:pPr>
            <a:r>
              <a:rPr sz="1500" b="0" lang="id-ID">
                <a:solidFill>
                  <a:srgbClr val="ABC0CA"/>
                </a:solidFill>
                <a:latin typeface="Arial"/>
              </a:rPr>
              <a:t>Elevasi relatif, pantai, dan subsidensi</a:t>
            </a:r>
          </a:p>
        </p:txBody>
      </p:sp>
      <p:sp>
        <p:nvSpPr>
          <p:cNvPr id="14" name="Freeform 13"/>
          <p:cNvSpPr/>
          <p:nvPr/>
        </p:nvSpPr>
        <p:spPr>
          <a:xfrm>
            <a:off x="4489704" y="2578608"/>
            <a:ext cx="694944" cy="1261872"/>
          </a:xfrm>
          <a:custGeom>
            <a:avLst/>
            <a:gdLst/>
            <a:ahLst/>
            <a:cxnLst/>
            <a:rect l="l" t="t" r="r" b="b"/>
            <a:pathLst>
              <a:path w="760" h="1380">
                <a:moveTo>
                  <a:pt x="0" y="0"/>
                </a:moveTo>
                <a:lnTo>
                  <a:pt x="390" y="0"/>
                </a:lnTo>
                <a:lnTo>
                  <a:pt x="390" y="1380"/>
                </a:lnTo>
                <a:lnTo>
                  <a:pt x="0" y="1380"/>
                </a:lnTo>
                <a:moveTo>
                  <a:pt x="390" y="680"/>
                </a:moveTo>
                <a:lnTo>
                  <a:pt x="760" y="680"/>
                </a:lnTo>
              </a:path>
            </a:pathLst>
          </a:custGeom>
          <a:noFill/>
          <a:ln w="22860">
            <a:solidFill>
              <a:srgbClr val="1C7F9E"/>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084064" y="2971800"/>
            <a:ext cx="457200" cy="457200"/>
          </a:xfrm>
          <a:prstGeom prst="rect">
            <a:avLst/>
          </a:prstGeom>
          <a:noFill/>
          <a:effectLst/>
        </p:spPr>
        <p:txBody>
          <a:bodyPr wrap="square" lIns="0" rIns="0" tIns="0" bIns="0">
            <a:spAutoFit/>
          </a:bodyPr>
          <a:lstStyle/>
          <a:p>
            <a:pPr>
              <a:lnSpc>
                <a:spcPct val="104000"/>
              </a:lnSpc>
              <a:spcBef>
                <a:spcPts val="0"/>
              </a:spcBef>
              <a:spcAft>
                <a:spcPts val="500"/>
              </a:spcAft>
            </a:pPr>
            <a:r>
              <a:rPr sz="2900" b="1" lang="id-ID">
                <a:solidFill>
                  <a:srgbClr val="1C7F9E"/>
                </a:solidFill>
                <a:latin typeface="Arial"/>
              </a:rPr>
              <a:t>→</a:t>
            </a:r>
          </a:p>
        </p:txBody>
      </p:sp>
      <p:sp>
        <p:nvSpPr>
          <p:cNvPr id="16" name="Rectangle 15"/>
          <p:cNvSpPr/>
          <p:nvPr/>
        </p:nvSpPr>
        <p:spPr>
          <a:xfrm>
            <a:off x="5650992" y="2258568"/>
            <a:ext cx="2441448" cy="2084831"/>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815583" y="2468880"/>
            <a:ext cx="2112264" cy="777240"/>
          </a:xfrm>
          <a:prstGeom prst="rect">
            <a:avLst/>
          </a:prstGeom>
          <a:noFill/>
          <a:effectLst/>
        </p:spPr>
        <p:txBody>
          <a:bodyPr wrap="square" lIns="0" rIns="0" tIns="0" bIns="0">
            <a:spAutoFit/>
          </a:bodyPr>
          <a:lstStyle/>
          <a:p>
            <a:pPr>
              <a:lnSpc>
                <a:spcPct val="104000"/>
              </a:lnSpc>
              <a:spcBef>
                <a:spcPts val="0"/>
              </a:spcBef>
              <a:spcAft>
                <a:spcPts val="500"/>
              </a:spcAft>
            </a:pPr>
            <a:r>
              <a:rPr sz="2400" b="1" lang="id-ID">
                <a:solidFill>
                  <a:srgbClr val="E8F1F4"/>
                </a:solidFill>
                <a:latin typeface="Arial Narrow"/>
              </a:rPr>
              <a:t>Kondisi per jam</a:t>
            </a:r>
          </a:p>
        </p:txBody>
      </p:sp>
      <p:sp>
        <p:nvSpPr>
          <p:cNvPr id="18" name="TextBox 17"/>
          <p:cNvSpPr txBox="1"/>
          <p:nvPr/>
        </p:nvSpPr>
        <p:spPr>
          <a:xfrm>
            <a:off x="5815583" y="3447288"/>
            <a:ext cx="2112264" cy="749808"/>
          </a:xfrm>
          <a:prstGeom prst="rect">
            <a:avLst/>
          </a:prstGeom>
          <a:noFill/>
          <a:effectLst/>
        </p:spPr>
        <p:txBody>
          <a:bodyPr wrap="square" lIns="0" rIns="0" tIns="0" bIns="0">
            <a:spAutoFit/>
          </a:bodyPr>
          <a:lstStyle/>
          <a:p>
            <a:pPr>
              <a:lnSpc>
                <a:spcPct val="104000"/>
              </a:lnSpc>
              <a:spcBef>
                <a:spcPts val="0"/>
              </a:spcBef>
              <a:spcAft>
                <a:spcPts val="500"/>
              </a:spcAft>
            </a:pPr>
            <a:r>
              <a:rPr sz="1700" b="0" lang="id-ID">
                <a:solidFill>
                  <a:srgbClr val="ABC0CA"/>
                </a:solidFill>
                <a:latin typeface="Arial"/>
              </a:rPr>
              <a:t>Estimasi untuk ruas</a:t>
            </a:r>
          </a:p>
          <a:p>
            <a:pPr>
              <a:lnSpc>
                <a:spcPct val="104000"/>
              </a:lnSpc>
              <a:spcBef>
                <a:spcPts val="0"/>
              </a:spcBef>
              <a:spcAft>
                <a:spcPts val="500"/>
              </a:spcAft>
            </a:pPr>
            <a:r>
              <a:rPr sz="1700" b="0" lang="id-ID">
                <a:solidFill>
                  <a:srgbClr val="ABC0CA"/>
                </a:solidFill>
                <a:latin typeface="Arial"/>
              </a:rPr>
              <a:t>dengan batas data</a:t>
            </a:r>
          </a:p>
        </p:txBody>
      </p:sp>
      <p:sp>
        <p:nvSpPr>
          <p:cNvPr id="19" name="Rectangle 18"/>
          <p:cNvSpPr/>
          <p:nvPr/>
        </p:nvSpPr>
        <p:spPr>
          <a:xfrm>
            <a:off x="9198864" y="2258568"/>
            <a:ext cx="2441448" cy="2084831"/>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9363456" y="2468880"/>
            <a:ext cx="2112264" cy="777240"/>
          </a:xfrm>
          <a:prstGeom prst="rect">
            <a:avLst/>
          </a:prstGeom>
          <a:noFill/>
          <a:effectLst/>
        </p:spPr>
        <p:txBody>
          <a:bodyPr wrap="square" lIns="0" rIns="0" tIns="0" bIns="0">
            <a:spAutoFit/>
          </a:bodyPr>
          <a:lstStyle/>
          <a:p>
            <a:pPr>
              <a:lnSpc>
                <a:spcPct val="104000"/>
              </a:lnSpc>
              <a:spcBef>
                <a:spcPts val="0"/>
              </a:spcBef>
              <a:spcAft>
                <a:spcPts val="500"/>
              </a:spcAft>
            </a:pPr>
            <a:r>
              <a:rPr sz="2400" b="1" lang="id-ID">
                <a:solidFill>
                  <a:srgbClr val="E8F1F4"/>
                </a:solidFill>
                <a:latin typeface="Arial Narrow"/>
              </a:rPr>
              <a:t>Dua rute</a:t>
            </a:r>
          </a:p>
        </p:txBody>
      </p:sp>
      <p:sp>
        <p:nvSpPr>
          <p:cNvPr id="21" name="TextBox 20"/>
          <p:cNvSpPr txBox="1"/>
          <p:nvPr/>
        </p:nvSpPr>
        <p:spPr>
          <a:xfrm>
            <a:off x="9363456" y="3447288"/>
            <a:ext cx="2112264" cy="749808"/>
          </a:xfrm>
          <a:prstGeom prst="rect">
            <a:avLst/>
          </a:prstGeom>
          <a:noFill/>
          <a:effectLst/>
        </p:spPr>
        <p:txBody>
          <a:bodyPr wrap="square" lIns="0" rIns="0" tIns="0" bIns="0">
            <a:spAutoFit/>
          </a:bodyPr>
          <a:lstStyle/>
          <a:p>
            <a:pPr>
              <a:lnSpc>
                <a:spcPct val="104000"/>
              </a:lnSpc>
              <a:spcBef>
                <a:spcPts val="0"/>
              </a:spcBef>
              <a:spcAft>
                <a:spcPts val="500"/>
              </a:spcAft>
            </a:pPr>
            <a:r>
              <a:rPr sz="1700" b="0" lang="id-ID">
                <a:solidFill>
                  <a:srgbClr val="ABC0CA"/>
                </a:solidFill>
                <a:latin typeface="Arial"/>
              </a:rPr>
              <a:t>Sadar rob dan</a:t>
            </a:r>
          </a:p>
          <a:p>
            <a:pPr>
              <a:lnSpc>
                <a:spcPct val="104000"/>
              </a:lnSpc>
              <a:spcBef>
                <a:spcPts val="0"/>
              </a:spcBef>
              <a:spcAft>
                <a:spcPts val="500"/>
              </a:spcAft>
            </a:pPr>
            <a:r>
              <a:rPr sz="1700" b="0" lang="id-ID">
                <a:solidFill>
                  <a:srgbClr val="ABC0CA"/>
                </a:solidFill>
                <a:latin typeface="Arial"/>
              </a:rPr>
              <a:t>pembanding</a:t>
            </a:r>
          </a:p>
        </p:txBody>
      </p:sp>
      <p:sp>
        <p:nvSpPr>
          <p:cNvPr id="22" name="TextBox 21"/>
          <p:cNvSpPr txBox="1"/>
          <p:nvPr/>
        </p:nvSpPr>
        <p:spPr>
          <a:xfrm>
            <a:off x="8394192" y="2880360"/>
            <a:ext cx="457200" cy="457200"/>
          </a:xfrm>
          <a:prstGeom prst="rect">
            <a:avLst/>
          </a:prstGeom>
          <a:noFill/>
          <a:effectLst/>
        </p:spPr>
        <p:txBody>
          <a:bodyPr wrap="square" lIns="0" rIns="0" tIns="0" bIns="0">
            <a:spAutoFit/>
          </a:bodyPr>
          <a:lstStyle/>
          <a:p>
            <a:pPr>
              <a:lnSpc>
                <a:spcPct val="104000"/>
              </a:lnSpc>
              <a:spcBef>
                <a:spcPts val="0"/>
              </a:spcBef>
              <a:spcAft>
                <a:spcPts val="500"/>
              </a:spcAft>
            </a:pPr>
            <a:r>
              <a:rPr sz="2900" b="1" lang="id-ID">
                <a:solidFill>
                  <a:srgbClr val="1C7F9E"/>
                </a:solidFill>
                <a:latin typeface="Arial"/>
              </a:rPr>
              <a:t>→</a:t>
            </a:r>
          </a:p>
        </p:txBody>
      </p:sp>
      <p:sp>
        <p:nvSpPr>
          <p:cNvPr id="23" name="Rectangle 22"/>
          <p:cNvSpPr/>
          <p:nvPr/>
        </p:nvSpPr>
        <p:spPr>
          <a:xfrm>
            <a:off x="548640" y="4636008"/>
            <a:ext cx="11091672" cy="594360"/>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758952" y="4818888"/>
            <a:ext cx="10661904" cy="320040"/>
          </a:xfrm>
          <a:prstGeom prst="rect">
            <a:avLst/>
          </a:prstGeom>
          <a:noFill/>
          <a:effectLst/>
        </p:spPr>
        <p:txBody>
          <a:bodyPr wrap="square" lIns="0" rIns="0" tIns="0" bIns="0">
            <a:spAutoFit/>
          </a:bodyPr>
          <a:lstStyle/>
          <a:p>
            <a:pPr>
              <a:lnSpc>
                <a:spcPct val="104000"/>
              </a:lnSpc>
              <a:spcBef>
                <a:spcPts val="0"/>
              </a:spcBef>
              <a:spcAft>
                <a:spcPts val="500"/>
              </a:spcAft>
            </a:pPr>
            <a:r>
              <a:rPr sz="2000" b="1" lang="id-ID">
                <a:solidFill>
                  <a:srgbClr val="0B1F2A"/>
                </a:solidFill>
                <a:latin typeface="Arial Narrow"/>
              </a:rPr>
              <a:t>Saat klik: browser/peta → API → database atau potret → hasil perbandingan</a:t>
            </a:r>
          </a:p>
        </p:txBody>
      </p:sp>
      <p:sp>
        <p:nvSpPr>
          <p:cNvPr id="25" name="TextBox 24"/>
          <p:cNvSpPr txBox="1"/>
          <p:nvPr/>
        </p:nvSpPr>
        <p:spPr>
          <a:xfrm>
            <a:off x="594360" y="5504688"/>
            <a:ext cx="10972800" cy="713232"/>
          </a:xfrm>
          <a:prstGeom prst="rect">
            <a:avLst/>
          </a:prstGeom>
          <a:noFill/>
          <a:effectLst/>
        </p:spPr>
        <p:txBody>
          <a:bodyPr wrap="square" lIns="0" rIns="0" tIns="0" bIns="0">
            <a:spAutoFit/>
          </a:bodyPr>
          <a:lstStyle/>
          <a:p>
            <a:pPr>
              <a:lnSpc>
                <a:spcPct val="104000"/>
              </a:lnSpc>
              <a:spcBef>
                <a:spcPts val="0"/>
              </a:spcBef>
              <a:spcAft>
                <a:spcPts val="500"/>
              </a:spcAft>
            </a:pPr>
            <a:r>
              <a:rPr sz="2100" b="0" lang="id-ID">
                <a:solidFill>
                  <a:srgbClr val="46626F"/>
                </a:solidFill>
                <a:latin typeface="Arial"/>
              </a:rPr>
              <a:t>Kondisi jam keberangkatan dipakai sepanjang rute. Perubahan selama perjalanan belum dimodelkan.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2F5F6"/>
        </a:solidFill>
        <a:effectLst/>
      </p:bgPr>
    </p:bg>
    <p:spTree>
      <p:nvGrpSpPr>
        <p:cNvPr id="1" name=""/>
        <p:cNvGrpSpPr/>
        <p:nvPr/>
      </p:nvGrpSpPr>
      <p:grpSpPr/>
      <p:sp>
        <p:nvSpPr>
          <p:cNvPr id="2" name="TextBox 1"/>
          <p:cNvSpPr txBox="1"/>
          <p:nvPr/>
        </p:nvSpPr>
        <p:spPr>
          <a:xfrm>
            <a:off x="502920" y="320040"/>
            <a:ext cx="9144000" cy="274320"/>
          </a:xfrm>
          <a:prstGeom prst="rect">
            <a:avLst/>
          </a:prstGeom>
          <a:noFill/>
          <a:effectLst/>
        </p:spPr>
        <p:txBody>
          <a:bodyPr wrap="square" lIns="0" rIns="0" tIns="0" bIns="0">
            <a:spAutoFit/>
          </a:bodyPr>
          <a:lstStyle/>
          <a:p>
            <a:pPr>
              <a:lnSpc>
                <a:spcPct val="104000"/>
              </a:lnSpc>
              <a:spcBef>
                <a:spcPts val="0"/>
              </a:spcBef>
              <a:spcAft>
                <a:spcPts val="500"/>
              </a:spcAft>
            </a:pPr>
            <a:r>
              <a:rPr sz="1200" b="1" lang="id-ID">
                <a:solidFill>
                  <a:srgbClr val="1C7F9E"/>
                </a:solidFill>
                <a:latin typeface="Arial"/>
              </a:rPr>
              <a:t>04 / BUKTI PENGUJIAN DAN BATASAN</a:t>
            </a:r>
          </a:p>
        </p:txBody>
      </p:sp>
      <p:sp>
        <p:nvSpPr>
          <p:cNvPr id="3" name="TextBox 2"/>
          <p:cNvSpPr txBox="1"/>
          <p:nvPr/>
        </p:nvSpPr>
        <p:spPr>
          <a:xfrm>
            <a:off x="502920" y="777240"/>
            <a:ext cx="11201400" cy="576072"/>
          </a:xfrm>
          <a:prstGeom prst="rect">
            <a:avLst/>
          </a:prstGeom>
          <a:noFill/>
          <a:effectLst/>
        </p:spPr>
        <p:txBody>
          <a:bodyPr wrap="square" lIns="0" rIns="0" tIns="0" bIns="0">
            <a:spAutoFit/>
          </a:bodyPr>
          <a:lstStyle/>
          <a:p>
            <a:pPr>
              <a:lnSpc>
                <a:spcPct val="104000"/>
              </a:lnSpc>
              <a:spcBef>
                <a:spcPts val="0"/>
              </a:spcBef>
              <a:spcAft>
                <a:spcPts val="500"/>
              </a:spcAft>
            </a:pPr>
            <a:r>
              <a:rPr sz="3400" b="1" lang="id-ID">
                <a:solidFill>
                  <a:srgbClr val="0B1F2A"/>
                </a:solidFill>
                <a:latin typeface="Arial Narrow"/>
              </a:rPr>
              <a:t>Pisahkan bukti perangkat lunak dan model</a:t>
            </a:r>
          </a:p>
        </p:txBody>
      </p:sp>
      <p:sp>
        <p:nvSpPr>
          <p:cNvPr id="4" name="Rectangle 3"/>
          <p:cNvSpPr/>
          <p:nvPr/>
        </p:nvSpPr>
        <p:spPr>
          <a:xfrm>
            <a:off x="502920" y="6446520"/>
            <a:ext cx="11183112" cy="13716"/>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02920" y="6537960"/>
            <a:ext cx="10698480" cy="182880"/>
          </a:xfrm>
          <a:prstGeom prst="rect">
            <a:avLst/>
          </a:prstGeom>
          <a:noFill/>
          <a:effectLst/>
        </p:spPr>
        <p:txBody>
          <a:bodyPr wrap="square" lIns="0" rIns="0" tIns="0" bIns="0">
            <a:spAutoFit/>
          </a:bodyPr>
          <a:lstStyle/>
          <a:p>
            <a:pPr>
              <a:lnSpc>
                <a:spcPct val="104000"/>
              </a:lnSpc>
              <a:spcBef>
                <a:spcPts val="0"/>
              </a:spcBef>
              <a:spcAft>
                <a:spcPts val="500"/>
              </a:spcAft>
            </a:pPr>
            <a:r>
              <a:rPr sz="1000" b="0" lang="id-ID">
                <a:solidFill>
                  <a:srgbClr val="46626F"/>
                </a:solidFill>
                <a:latin typeface="Arial"/>
              </a:rPr>
              <a:t>Audit 22 Sep + regresi panel 23 Sep; kalibrasi IOC 28 Agu. Detail dan sumber pada lampiran 11–13.</a:t>
            </a:r>
          </a:p>
        </p:txBody>
      </p:sp>
      <p:sp>
        <p:nvSpPr>
          <p:cNvPr id="6" name="TextBox 5"/>
          <p:cNvSpPr txBox="1"/>
          <p:nvPr/>
        </p:nvSpPr>
        <p:spPr>
          <a:xfrm>
            <a:off x="11292840" y="6501384"/>
            <a:ext cx="384048" cy="246888"/>
          </a:xfrm>
          <a:prstGeom prst="rect">
            <a:avLst/>
          </a:prstGeom>
          <a:noFill/>
          <a:effectLst/>
        </p:spPr>
        <p:txBody>
          <a:bodyPr wrap="square" lIns="0" rIns="0" tIns="0" bIns="0">
            <a:spAutoFit/>
          </a:bodyPr>
          <a:lstStyle/>
          <a:p>
            <a:pPr algn="r">
              <a:lnSpc>
                <a:spcPct val="104000"/>
              </a:lnSpc>
              <a:spcBef>
                <a:spcPts val="0"/>
              </a:spcBef>
              <a:spcAft>
                <a:spcPts val="500"/>
              </a:spcAft>
            </a:pPr>
            <a:r>
              <a:rPr sz="1400" b="1" lang="id-ID">
                <a:solidFill>
                  <a:srgbClr val="46626F"/>
                </a:solidFill>
                <a:latin typeface="Arial"/>
              </a:rPr>
              <a:t>05</a:t>
            </a:r>
          </a:p>
        </p:txBody>
      </p:sp>
      <p:sp>
        <p:nvSpPr>
          <p:cNvPr id="7" name="TextBox 6"/>
          <p:cNvSpPr txBox="1"/>
          <p:nvPr/>
        </p:nvSpPr>
        <p:spPr>
          <a:xfrm>
            <a:off x="548640" y="1828800"/>
            <a:ext cx="4572000" cy="274320"/>
          </a:xfrm>
          <a:prstGeom prst="rect">
            <a:avLst/>
          </a:prstGeom>
          <a:noFill/>
          <a:effectLst/>
        </p:spPr>
        <p:txBody>
          <a:bodyPr wrap="square" lIns="0" rIns="0" tIns="0" bIns="0">
            <a:spAutoFit/>
          </a:bodyPr>
          <a:lstStyle/>
          <a:p>
            <a:pPr>
              <a:lnSpc>
                <a:spcPct val="104000"/>
              </a:lnSpc>
              <a:spcBef>
                <a:spcPts val="0"/>
              </a:spcBef>
              <a:spcAft>
                <a:spcPts val="500"/>
              </a:spcAft>
            </a:pPr>
            <a:r>
              <a:rPr sz="1200" b="1" lang="id-ID">
                <a:solidFill>
                  <a:srgbClr val="1C7F9E"/>
                </a:solidFill>
                <a:latin typeface="Arial"/>
              </a:rPr>
              <a:t>PERANGKAT LUNAK</a:t>
            </a:r>
          </a:p>
        </p:txBody>
      </p:sp>
      <p:sp>
        <p:nvSpPr>
          <p:cNvPr id="8" name="TextBox 7"/>
          <p:cNvSpPr txBox="1"/>
          <p:nvPr/>
        </p:nvSpPr>
        <p:spPr>
          <a:xfrm>
            <a:off x="548640" y="2331720"/>
            <a:ext cx="4800600" cy="640080"/>
          </a:xfrm>
          <a:prstGeom prst="rect">
            <a:avLst/>
          </a:prstGeom>
          <a:noFill/>
          <a:effectLst/>
        </p:spPr>
        <p:txBody>
          <a:bodyPr wrap="square" lIns="0" rIns="0" tIns="0" bIns="0">
            <a:spAutoFit/>
          </a:bodyPr>
          <a:lstStyle/>
          <a:p>
            <a:pPr>
              <a:lnSpc>
                <a:spcPct val="104000"/>
              </a:lnSpc>
              <a:spcBef>
                <a:spcPts val="0"/>
              </a:spcBef>
              <a:spcAft>
                <a:spcPts val="500"/>
              </a:spcAft>
            </a:pPr>
            <a:r>
              <a:rPr sz="3800" b="1" lang="id-ID">
                <a:solidFill>
                  <a:srgbClr val="1C7F9E"/>
                </a:solidFill>
                <a:latin typeface="Arial Narrow"/>
              </a:rPr>
              <a:t>95 / 26</a:t>
            </a:r>
          </a:p>
        </p:txBody>
      </p:sp>
      <p:sp>
        <p:nvSpPr>
          <p:cNvPr id="9" name="TextBox 8"/>
          <p:cNvSpPr txBox="1"/>
          <p:nvPr/>
        </p:nvSpPr>
        <p:spPr>
          <a:xfrm>
            <a:off x="548640" y="3118103"/>
            <a:ext cx="4800600" cy="594360"/>
          </a:xfrm>
          <a:prstGeom prst="rect">
            <a:avLst/>
          </a:prstGeom>
          <a:noFill/>
          <a:effectLst/>
        </p:spPr>
        <p:txBody>
          <a:bodyPr wrap="square" lIns="0" rIns="0" tIns="0" bIns="0">
            <a:spAutoFit/>
          </a:bodyPr>
          <a:lstStyle/>
          <a:p>
            <a:pPr>
              <a:lnSpc>
                <a:spcPct val="104000"/>
              </a:lnSpc>
              <a:spcBef>
                <a:spcPts val="0"/>
              </a:spcBef>
              <a:spcAft>
                <a:spcPts val="500"/>
              </a:spcAft>
            </a:pPr>
            <a:r>
              <a:rPr sz="2000" b="1" lang="id-ID">
                <a:solidFill>
                  <a:srgbClr val="0B1F2A"/>
                </a:solidFill>
                <a:latin typeface="Arial"/>
              </a:rPr>
              <a:t>Tes backend / frontend</a:t>
            </a:r>
          </a:p>
        </p:txBody>
      </p:sp>
      <p:sp>
        <p:nvSpPr>
          <p:cNvPr id="10" name="TextBox 9"/>
          <p:cNvSpPr txBox="1"/>
          <p:nvPr/>
        </p:nvSpPr>
        <p:spPr>
          <a:xfrm>
            <a:off x="548640" y="3767328"/>
            <a:ext cx="4800600" cy="685800"/>
          </a:xfrm>
          <a:prstGeom prst="rect">
            <a:avLst/>
          </a:prstGeom>
          <a:noFill/>
          <a:effectLst/>
        </p:spPr>
        <p:txBody>
          <a:bodyPr wrap="square" lIns="0" rIns="0" tIns="0" bIns="0">
            <a:spAutoFit/>
          </a:bodyPr>
          <a:lstStyle/>
          <a:p>
            <a:pPr>
              <a:lnSpc>
                <a:spcPct val="104000"/>
              </a:lnSpc>
              <a:spcBef>
                <a:spcPts val="0"/>
              </a:spcBef>
              <a:spcAft>
                <a:spcPts val="500"/>
              </a:spcAft>
            </a:pPr>
            <a:r>
              <a:rPr sz="1600" b="0" lang="id-ID">
                <a:solidFill>
                  <a:srgbClr val="46626F"/>
                </a:solidFill>
                <a:latin typeface="Arial"/>
              </a:rPr>
              <a:t>Backend: Windows &amp; Linux. Frontend: 26 tes</a:t>
            </a:r>
          </a:p>
          <a:p>
            <a:pPr>
              <a:lnSpc>
                <a:spcPct val="104000"/>
              </a:lnSpc>
              <a:spcBef>
                <a:spcPts val="0"/>
              </a:spcBef>
              <a:spcAft>
                <a:spcPts val="500"/>
              </a:spcAft>
            </a:pPr>
            <a:r>
              <a:rPr sz="1600" b="0" lang="id-ID">
                <a:solidFill>
                  <a:srgbClr val="46626F"/>
                </a:solidFill>
                <a:latin typeface="Arial"/>
              </a:rPr>
              <a:t>setelah koreksi panel pada 23 September.</a:t>
            </a:r>
          </a:p>
        </p:txBody>
      </p:sp>
      <p:sp>
        <p:nvSpPr>
          <p:cNvPr id="11" name="Rectangle 10"/>
          <p:cNvSpPr/>
          <p:nvPr/>
        </p:nvSpPr>
        <p:spPr>
          <a:xfrm>
            <a:off x="5797296" y="1828800"/>
            <a:ext cx="13716" cy="13716"/>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5797296" y="1828800"/>
            <a:ext cx="13716" cy="361188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144768" y="1828800"/>
            <a:ext cx="5212080" cy="274320"/>
          </a:xfrm>
          <a:prstGeom prst="rect">
            <a:avLst/>
          </a:prstGeom>
          <a:noFill/>
          <a:effectLst/>
        </p:spPr>
        <p:txBody>
          <a:bodyPr wrap="square" lIns="0" rIns="0" tIns="0" bIns="0">
            <a:spAutoFit/>
          </a:bodyPr>
          <a:lstStyle/>
          <a:p>
            <a:pPr>
              <a:lnSpc>
                <a:spcPct val="104000"/>
              </a:lnSpc>
              <a:spcBef>
                <a:spcPts val="0"/>
              </a:spcBef>
              <a:spcAft>
                <a:spcPts val="500"/>
              </a:spcAft>
            </a:pPr>
            <a:r>
              <a:rPr sz="1200" b="1" lang="id-ID">
                <a:solidFill>
                  <a:srgbClr val="1C7F9E"/>
                </a:solidFill>
                <a:latin typeface="Arial"/>
              </a:rPr>
              <a:t>REKONSTRUKSI PASUT</a:t>
            </a:r>
          </a:p>
        </p:txBody>
      </p:sp>
      <p:sp>
        <p:nvSpPr>
          <p:cNvPr id="14" name="TextBox 13"/>
          <p:cNvSpPr txBox="1"/>
          <p:nvPr/>
        </p:nvSpPr>
        <p:spPr>
          <a:xfrm>
            <a:off x="6144768" y="2331720"/>
            <a:ext cx="5257800" cy="640080"/>
          </a:xfrm>
          <a:prstGeom prst="rect">
            <a:avLst/>
          </a:prstGeom>
          <a:noFill/>
          <a:effectLst/>
        </p:spPr>
        <p:txBody>
          <a:bodyPr wrap="square" lIns="0" rIns="0" tIns="0" bIns="0">
            <a:spAutoFit/>
          </a:bodyPr>
          <a:lstStyle/>
          <a:p>
            <a:pPr>
              <a:lnSpc>
                <a:spcPct val="104000"/>
              </a:lnSpc>
              <a:spcBef>
                <a:spcPts val="0"/>
              </a:spcBef>
              <a:spcAft>
                <a:spcPts val="500"/>
              </a:spcAft>
            </a:pPr>
            <a:r>
              <a:rPr sz="3800" b="1" lang="id-ID">
                <a:solidFill>
                  <a:srgbClr val="1C7F9E"/>
                </a:solidFill>
                <a:latin typeface="Arial Narrow"/>
              </a:rPr>
              <a:t>r = 0,782</a:t>
            </a:r>
          </a:p>
        </p:txBody>
      </p:sp>
      <p:sp>
        <p:nvSpPr>
          <p:cNvPr id="15" name="TextBox 14"/>
          <p:cNvSpPr txBox="1"/>
          <p:nvPr/>
        </p:nvSpPr>
        <p:spPr>
          <a:xfrm>
            <a:off x="6144768" y="3118103"/>
            <a:ext cx="5257800" cy="594360"/>
          </a:xfrm>
          <a:prstGeom prst="rect">
            <a:avLst/>
          </a:prstGeom>
          <a:noFill/>
          <a:effectLst/>
        </p:spPr>
        <p:txBody>
          <a:bodyPr wrap="square" lIns="0" rIns="0" tIns="0" bIns="0">
            <a:spAutoFit/>
          </a:bodyPr>
          <a:lstStyle/>
          <a:p>
            <a:pPr>
              <a:lnSpc>
                <a:spcPct val="104000"/>
              </a:lnSpc>
              <a:spcBef>
                <a:spcPts val="0"/>
              </a:spcBef>
              <a:spcAft>
                <a:spcPts val="500"/>
              </a:spcAft>
            </a:pPr>
            <a:r>
              <a:rPr sz="2000" b="1" lang="id-ID">
                <a:solidFill>
                  <a:srgbClr val="0B1F2A"/>
                </a:solidFill>
                <a:latin typeface="Arial"/>
              </a:rPr>
              <a:t>RMSE 0,116 m</a:t>
            </a:r>
          </a:p>
        </p:txBody>
      </p:sp>
      <p:sp>
        <p:nvSpPr>
          <p:cNvPr id="16" name="TextBox 15"/>
          <p:cNvSpPr txBox="1"/>
          <p:nvPr/>
        </p:nvSpPr>
        <p:spPr>
          <a:xfrm>
            <a:off x="6144768" y="3767328"/>
            <a:ext cx="5257800" cy="685800"/>
          </a:xfrm>
          <a:prstGeom prst="rect">
            <a:avLst/>
          </a:prstGeom>
          <a:noFill/>
          <a:effectLst/>
        </p:spPr>
        <p:txBody>
          <a:bodyPr wrap="square" lIns="0" rIns="0" tIns="0" bIns="0">
            <a:spAutoFit/>
          </a:bodyPr>
          <a:lstStyle/>
          <a:p>
            <a:pPr>
              <a:lnSpc>
                <a:spcPct val="104000"/>
              </a:lnSpc>
              <a:spcBef>
                <a:spcPts val="0"/>
              </a:spcBef>
              <a:spcAft>
                <a:spcPts val="500"/>
              </a:spcAft>
            </a:pPr>
            <a:r>
              <a:rPr sz="1600" b="0" lang="id-ID">
                <a:solidFill>
                  <a:srgbClr val="46626F"/>
                </a:solidFill>
                <a:latin typeface="Arial"/>
              </a:rPr>
              <a:t>Jendela kalibrasi 10 hari; simpangan muka air.</a:t>
            </a:r>
          </a:p>
          <a:p>
            <a:pPr>
              <a:lnSpc>
                <a:spcPct val="104000"/>
              </a:lnSpc>
              <a:spcBef>
                <a:spcPts val="0"/>
              </a:spcBef>
              <a:spcAft>
                <a:spcPts val="500"/>
              </a:spcAft>
            </a:pPr>
            <a:r>
              <a:rPr sz="1600" b="0" lang="id-ID">
                <a:solidFill>
                  <a:srgbClr val="46626F"/>
                </a:solidFill>
                <a:latin typeface="Arial"/>
              </a:rPr>
              <a:t>Evaluasi ini belum merupakan uji independen.</a:t>
            </a:r>
          </a:p>
        </p:txBody>
      </p:sp>
      <p:sp>
        <p:nvSpPr>
          <p:cNvPr id="17" name="Rectangle 16"/>
          <p:cNvSpPr/>
          <p:nvPr/>
        </p:nvSpPr>
        <p:spPr>
          <a:xfrm>
            <a:off x="548640" y="5084064"/>
            <a:ext cx="11064240" cy="978408"/>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786384" y="5285232"/>
            <a:ext cx="10533888" cy="402336"/>
          </a:xfrm>
          <a:prstGeom prst="rect">
            <a:avLst/>
          </a:prstGeom>
          <a:noFill/>
          <a:effectLst/>
        </p:spPr>
        <p:txBody>
          <a:bodyPr wrap="square" lIns="0" rIns="0" tIns="0" bIns="0">
            <a:spAutoFit/>
          </a:bodyPr>
          <a:lstStyle/>
          <a:p>
            <a:pPr>
              <a:lnSpc>
                <a:spcPct val="104000"/>
              </a:lnSpc>
              <a:spcBef>
                <a:spcPts val="0"/>
              </a:spcBef>
              <a:spcAft>
                <a:spcPts val="500"/>
              </a:spcAft>
            </a:pPr>
            <a:r>
              <a:rPr sz="2400" b="1" lang="id-ID">
                <a:solidFill>
                  <a:srgbClr val="E8F1F4"/>
                </a:solidFill>
                <a:latin typeface="Arial Narrow"/>
              </a:rPr>
              <a:t>Belum ada validasi genangan per ruas dan dampak perjalanan di lapangan.</a:t>
            </a:r>
          </a:p>
        </p:txBody>
      </p:sp>
      <p:sp>
        <p:nvSpPr>
          <p:cNvPr id="19" name="TextBox 18"/>
          <p:cNvSpPr txBox="1"/>
          <p:nvPr/>
        </p:nvSpPr>
        <p:spPr>
          <a:xfrm>
            <a:off x="786384" y="5751576"/>
            <a:ext cx="10515600" cy="228600"/>
          </a:xfrm>
          <a:prstGeom prst="rect">
            <a:avLst/>
          </a:prstGeom>
          <a:noFill/>
          <a:effectLst/>
        </p:spPr>
        <p:txBody>
          <a:bodyPr wrap="square" lIns="0" rIns="0" tIns="0" bIns="0">
            <a:spAutoFit/>
          </a:bodyPr>
          <a:lstStyle/>
          <a:p>
            <a:pPr>
              <a:lnSpc>
                <a:spcPct val="104000"/>
              </a:lnSpc>
              <a:spcBef>
                <a:spcPts val="0"/>
              </a:spcBef>
              <a:spcAft>
                <a:spcPts val="500"/>
              </a:spcAft>
            </a:pPr>
            <a:r>
              <a:rPr sz="1400" b="0" lang="id-ID">
                <a:solidFill>
                  <a:srgbClr val="ABC0CA"/>
                </a:solidFill>
                <a:latin typeface="Arial"/>
              </a:rPr>
              <a:t>Lulus regresi tidak berarti seluruh bug hilang. Akurasi pasut tidak menjadi akurasi genangan.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2F5F6"/>
        </a:solidFill>
        <a:effectLst/>
      </p:bgPr>
    </p:bg>
    <p:spTree>
      <p:nvGrpSpPr>
        <p:cNvPr id="1" name=""/>
        <p:cNvGrpSpPr/>
        <p:nvPr/>
      </p:nvGrpSpPr>
      <p:grpSpPr/>
      <p:sp>
        <p:nvSpPr>
          <p:cNvPr id="2" name="TextBox 1"/>
          <p:cNvSpPr txBox="1"/>
          <p:nvPr/>
        </p:nvSpPr>
        <p:spPr>
          <a:xfrm>
            <a:off x="502920" y="320040"/>
            <a:ext cx="9144000" cy="274320"/>
          </a:xfrm>
          <a:prstGeom prst="rect">
            <a:avLst/>
          </a:prstGeom>
          <a:noFill/>
          <a:effectLst/>
        </p:spPr>
        <p:txBody>
          <a:bodyPr wrap="square" lIns="0" rIns="0" tIns="0" bIns="0">
            <a:spAutoFit/>
          </a:bodyPr>
          <a:lstStyle/>
          <a:p>
            <a:pPr>
              <a:lnSpc>
                <a:spcPct val="104000"/>
              </a:lnSpc>
              <a:spcBef>
                <a:spcPts val="0"/>
              </a:spcBef>
              <a:spcAft>
                <a:spcPts val="500"/>
              </a:spcAft>
            </a:pPr>
            <a:r>
              <a:rPr sz="1200" b="1" lang="id-ID">
                <a:solidFill>
                  <a:srgbClr val="1C7F9E"/>
                </a:solidFill>
                <a:latin typeface="Arial"/>
              </a:rPr>
              <a:t>05 / DAMPAK</a:t>
            </a:r>
          </a:p>
        </p:txBody>
      </p:sp>
      <p:sp>
        <p:nvSpPr>
          <p:cNvPr id="3" name="TextBox 2"/>
          <p:cNvSpPr txBox="1"/>
          <p:nvPr/>
        </p:nvSpPr>
        <p:spPr>
          <a:xfrm>
            <a:off x="502920" y="777240"/>
            <a:ext cx="11201400" cy="576072"/>
          </a:xfrm>
          <a:prstGeom prst="rect">
            <a:avLst/>
          </a:prstGeom>
          <a:noFill/>
          <a:effectLst/>
        </p:spPr>
        <p:txBody>
          <a:bodyPr wrap="square" lIns="0" rIns="0" tIns="0" bIns="0">
            <a:spAutoFit/>
          </a:bodyPr>
          <a:lstStyle/>
          <a:p>
            <a:pPr>
              <a:lnSpc>
                <a:spcPct val="104000"/>
              </a:lnSpc>
              <a:spcBef>
                <a:spcPts val="0"/>
              </a:spcBef>
              <a:spcAft>
                <a:spcPts val="500"/>
              </a:spcAft>
            </a:pPr>
            <a:r>
              <a:rPr sz="3400" b="1" lang="id-ID">
                <a:solidFill>
                  <a:srgbClr val="0B1F2A"/>
                </a:solidFill>
                <a:latin typeface="Arial Narrow"/>
              </a:rPr>
              <a:t>Memahami biaya adaptasi perjalanan</a:t>
            </a:r>
          </a:p>
        </p:txBody>
      </p:sp>
      <p:sp>
        <p:nvSpPr>
          <p:cNvPr id="4" name="TextBox 3"/>
          <p:cNvSpPr txBox="1"/>
          <p:nvPr/>
        </p:nvSpPr>
        <p:spPr>
          <a:xfrm>
            <a:off x="521207" y="1426464"/>
            <a:ext cx="10972800" cy="475488"/>
          </a:xfrm>
          <a:prstGeom prst="rect">
            <a:avLst/>
          </a:prstGeom>
          <a:noFill/>
          <a:effectLst/>
        </p:spPr>
        <p:txBody>
          <a:bodyPr wrap="square" lIns="0" rIns="0" tIns="0" bIns="0">
            <a:spAutoFit/>
          </a:bodyPr>
          <a:lstStyle/>
          <a:p>
            <a:pPr>
              <a:lnSpc>
                <a:spcPct val="104000"/>
              </a:lnSpc>
              <a:spcBef>
                <a:spcPts val="0"/>
              </a:spcBef>
              <a:spcAft>
                <a:spcPts val="500"/>
              </a:spcAft>
            </a:pPr>
            <a:r>
              <a:rPr sz="1700" b="0" lang="id-ID">
                <a:solidFill>
                  <a:srgbClr val="46626F"/>
                </a:solidFill>
                <a:latin typeface="Arial"/>
              </a:rPr>
              <a:t>Simulasi motor • akses Tawang → akses Terboyo • potret 26 September 2026</a:t>
            </a:r>
          </a:p>
        </p:txBody>
      </p:sp>
      <p:sp>
        <p:nvSpPr>
          <p:cNvPr id="5" name="Rectangle 4"/>
          <p:cNvSpPr/>
          <p:nvPr/>
        </p:nvSpPr>
        <p:spPr>
          <a:xfrm>
            <a:off x="502920" y="6446520"/>
            <a:ext cx="11183112" cy="13716"/>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02920" y="6537960"/>
            <a:ext cx="10698480" cy="182880"/>
          </a:xfrm>
          <a:prstGeom prst="rect">
            <a:avLst/>
          </a:prstGeom>
          <a:noFill/>
          <a:effectLst/>
        </p:spPr>
        <p:txBody>
          <a:bodyPr wrap="square" lIns="0" rIns="0" tIns="0" bIns="0">
            <a:spAutoFit/>
          </a:bodyPr>
          <a:lstStyle/>
          <a:p>
            <a:pPr>
              <a:lnSpc>
                <a:spcPct val="104000"/>
              </a:lnSpc>
              <a:spcBef>
                <a:spcPts val="0"/>
              </a:spcBef>
              <a:spcAft>
                <a:spcPts val="500"/>
              </a:spcAft>
            </a:pPr>
            <a:r>
              <a:rPr sz="1000" b="0" lang="id-ID">
                <a:solidFill>
                  <a:srgbClr val="46626F"/>
                </a:solidFill>
                <a:latin typeface="Arial"/>
              </a:rPr>
              <a:t>Angka dihitung ulang dari API lokal rilis final: aset/skenario.json. Faktor BBM/CO₂ masih asumsi.</a:t>
            </a:r>
          </a:p>
        </p:txBody>
      </p:sp>
      <p:sp>
        <p:nvSpPr>
          <p:cNvPr id="7" name="TextBox 6"/>
          <p:cNvSpPr txBox="1"/>
          <p:nvPr/>
        </p:nvSpPr>
        <p:spPr>
          <a:xfrm>
            <a:off x="11292840" y="6501384"/>
            <a:ext cx="384048" cy="246888"/>
          </a:xfrm>
          <a:prstGeom prst="rect">
            <a:avLst/>
          </a:prstGeom>
          <a:noFill/>
          <a:effectLst/>
        </p:spPr>
        <p:txBody>
          <a:bodyPr wrap="square" lIns="0" rIns="0" tIns="0" bIns="0">
            <a:spAutoFit/>
          </a:bodyPr>
          <a:lstStyle/>
          <a:p>
            <a:pPr algn="r">
              <a:lnSpc>
                <a:spcPct val="104000"/>
              </a:lnSpc>
              <a:spcBef>
                <a:spcPts val="0"/>
              </a:spcBef>
              <a:spcAft>
                <a:spcPts val="500"/>
              </a:spcAft>
            </a:pPr>
            <a:r>
              <a:rPr sz="1400" b="1" lang="id-ID">
                <a:solidFill>
                  <a:srgbClr val="46626F"/>
                </a:solidFill>
                <a:latin typeface="Arial"/>
              </a:rPr>
              <a:t>06</a:t>
            </a:r>
          </a:p>
        </p:txBody>
      </p:sp>
      <p:sp>
        <p:nvSpPr>
          <p:cNvPr id="8" name="Rectangle 7"/>
          <p:cNvSpPr/>
          <p:nvPr/>
        </p:nvSpPr>
        <p:spPr>
          <a:xfrm>
            <a:off x="548640" y="2011680"/>
            <a:ext cx="3703320" cy="795528"/>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704088" y="2093976"/>
            <a:ext cx="3410712" cy="676656"/>
          </a:xfrm>
          <a:prstGeom prst="rect">
            <a:avLst/>
          </a:prstGeom>
          <a:noFill/>
          <a:effectLst/>
        </p:spPr>
        <p:txBody>
          <a:bodyPr wrap="square" lIns="0" rIns="0" tIns="0" bIns="0">
            <a:spAutoFit/>
          </a:bodyPr>
          <a:lstStyle/>
          <a:p>
            <a:pPr>
              <a:lnSpc>
                <a:spcPct val="104000"/>
              </a:lnSpc>
              <a:spcBef>
                <a:spcPts val="0"/>
              </a:spcBef>
              <a:spcAft>
                <a:spcPts val="500"/>
              </a:spcAft>
            </a:pPr>
            <a:r>
              <a:rPr sz="1900" b="1" lang="id-ID">
                <a:solidFill>
                  <a:srgbClr val="E8F1F4"/>
                </a:solidFill>
                <a:latin typeface="Arial Narrow"/>
              </a:rPr>
              <a:t>Pilihan pada potret</a:t>
            </a:r>
          </a:p>
        </p:txBody>
      </p:sp>
      <p:sp>
        <p:nvSpPr>
          <p:cNvPr id="10" name="Rectangle 9"/>
          <p:cNvSpPr/>
          <p:nvPr/>
        </p:nvSpPr>
        <p:spPr>
          <a:xfrm>
            <a:off x="4251960" y="2011680"/>
            <a:ext cx="2468880" cy="795528"/>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407408" y="2093976"/>
            <a:ext cx="2176272" cy="676656"/>
          </a:xfrm>
          <a:prstGeom prst="rect">
            <a:avLst/>
          </a:prstGeom>
          <a:noFill/>
          <a:effectLst/>
        </p:spPr>
        <p:txBody>
          <a:bodyPr wrap="square" lIns="0" rIns="0" tIns="0" bIns="0">
            <a:spAutoFit/>
          </a:bodyPr>
          <a:lstStyle/>
          <a:p>
            <a:pPr>
              <a:lnSpc>
                <a:spcPct val="104000"/>
              </a:lnSpc>
              <a:spcBef>
                <a:spcPts val="0"/>
              </a:spcBef>
              <a:spcAft>
                <a:spcPts val="500"/>
              </a:spcAft>
            </a:pPr>
            <a:r>
              <a:rPr sz="1900" b="1" lang="id-ID">
                <a:solidFill>
                  <a:srgbClr val="E8F1F4"/>
                </a:solidFill>
                <a:latin typeface="Arial Narrow"/>
              </a:rPr>
              <a:t>Pembanding</a:t>
            </a:r>
          </a:p>
          <a:p>
            <a:pPr>
              <a:lnSpc>
                <a:spcPct val="104000"/>
              </a:lnSpc>
              <a:spcBef>
                <a:spcPts val="0"/>
              </a:spcBef>
              <a:spcAft>
                <a:spcPts val="500"/>
              </a:spcAft>
            </a:pPr>
            <a:r>
              <a:rPr sz="1900" b="1" lang="id-ID">
                <a:solidFill>
                  <a:srgbClr val="E8F1F4"/>
                </a:solidFill>
                <a:latin typeface="Arial Narrow"/>
              </a:rPr>
              <a:t>08.00 WIB</a:t>
            </a:r>
          </a:p>
        </p:txBody>
      </p:sp>
      <p:sp>
        <p:nvSpPr>
          <p:cNvPr id="12" name="Rectangle 11"/>
          <p:cNvSpPr/>
          <p:nvPr/>
        </p:nvSpPr>
        <p:spPr>
          <a:xfrm>
            <a:off x="6720840" y="2011680"/>
            <a:ext cx="2468880" cy="795528"/>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6876288" y="2093976"/>
            <a:ext cx="2176272" cy="676656"/>
          </a:xfrm>
          <a:prstGeom prst="rect">
            <a:avLst/>
          </a:prstGeom>
          <a:noFill/>
          <a:effectLst/>
        </p:spPr>
        <p:txBody>
          <a:bodyPr wrap="square" lIns="0" rIns="0" tIns="0" bIns="0">
            <a:spAutoFit/>
          </a:bodyPr>
          <a:lstStyle/>
          <a:p>
            <a:pPr>
              <a:lnSpc>
                <a:spcPct val="104000"/>
              </a:lnSpc>
              <a:spcBef>
                <a:spcPts val="0"/>
              </a:spcBef>
              <a:spcAft>
                <a:spcPts val="500"/>
              </a:spcAft>
            </a:pPr>
            <a:r>
              <a:rPr sz="1900" b="1" lang="id-ID">
                <a:solidFill>
                  <a:srgbClr val="E8F1F4"/>
                </a:solidFill>
                <a:latin typeface="Arial Narrow"/>
              </a:rPr>
              <a:t>Sadar rob</a:t>
            </a:r>
          </a:p>
          <a:p>
            <a:pPr>
              <a:lnSpc>
                <a:spcPct val="104000"/>
              </a:lnSpc>
              <a:spcBef>
                <a:spcPts val="0"/>
              </a:spcBef>
              <a:spcAft>
                <a:spcPts val="500"/>
              </a:spcAft>
            </a:pPr>
            <a:r>
              <a:rPr sz="1900" b="1" lang="id-ID">
                <a:solidFill>
                  <a:srgbClr val="E8F1F4"/>
                </a:solidFill>
                <a:latin typeface="Arial Narrow"/>
              </a:rPr>
              <a:t>08.00 WIB</a:t>
            </a:r>
          </a:p>
        </p:txBody>
      </p:sp>
      <p:sp>
        <p:nvSpPr>
          <p:cNvPr id="14" name="Rectangle 13"/>
          <p:cNvSpPr/>
          <p:nvPr/>
        </p:nvSpPr>
        <p:spPr>
          <a:xfrm>
            <a:off x="9189720" y="2011680"/>
            <a:ext cx="2423160" cy="795528"/>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9345168" y="2093976"/>
            <a:ext cx="2130552" cy="676656"/>
          </a:xfrm>
          <a:prstGeom prst="rect">
            <a:avLst/>
          </a:prstGeom>
          <a:noFill/>
          <a:effectLst/>
        </p:spPr>
        <p:txBody>
          <a:bodyPr wrap="square" lIns="0" rIns="0" tIns="0" bIns="0">
            <a:spAutoFit/>
          </a:bodyPr>
          <a:lstStyle/>
          <a:p>
            <a:pPr>
              <a:lnSpc>
                <a:spcPct val="104000"/>
              </a:lnSpc>
              <a:spcBef>
                <a:spcPts val="0"/>
              </a:spcBef>
              <a:spcAft>
                <a:spcPts val="500"/>
              </a:spcAft>
            </a:pPr>
            <a:r>
              <a:rPr sz="1900" b="1" lang="id-ID">
                <a:solidFill>
                  <a:srgbClr val="E8F1F4"/>
                </a:solidFill>
                <a:latin typeface="Arial Narrow"/>
              </a:rPr>
              <a:t>Sadar rob</a:t>
            </a:r>
          </a:p>
          <a:p>
            <a:pPr>
              <a:lnSpc>
                <a:spcPct val="104000"/>
              </a:lnSpc>
              <a:spcBef>
                <a:spcPts val="0"/>
              </a:spcBef>
              <a:spcAft>
                <a:spcPts val="500"/>
              </a:spcAft>
            </a:pPr>
            <a:r>
              <a:rPr sz="1900" b="1" lang="id-ID">
                <a:solidFill>
                  <a:srgbClr val="E8F1F4"/>
                </a:solidFill>
                <a:latin typeface="Arial Narrow"/>
              </a:rPr>
              <a:t>13.00 WIB</a:t>
            </a:r>
          </a:p>
        </p:txBody>
      </p:sp>
      <p:sp>
        <p:nvSpPr>
          <p:cNvPr id="16" name="Rectangle 15"/>
          <p:cNvSpPr/>
          <p:nvPr/>
        </p:nvSpPr>
        <p:spPr>
          <a:xfrm>
            <a:off x="548640" y="2807208"/>
            <a:ext cx="3703320" cy="557784"/>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04088" y="2926079"/>
            <a:ext cx="3410712" cy="347472"/>
          </a:xfrm>
          <a:prstGeom prst="rect">
            <a:avLst/>
          </a:prstGeom>
          <a:noFill/>
          <a:effectLst/>
        </p:spPr>
        <p:txBody>
          <a:bodyPr wrap="square" lIns="0" rIns="0" tIns="0" bIns="0">
            <a:spAutoFit/>
          </a:bodyPr>
          <a:lstStyle/>
          <a:p>
            <a:pPr>
              <a:lnSpc>
                <a:spcPct val="104000"/>
              </a:lnSpc>
              <a:spcBef>
                <a:spcPts val="0"/>
              </a:spcBef>
              <a:spcAft>
                <a:spcPts val="500"/>
              </a:spcAft>
            </a:pPr>
            <a:r>
              <a:rPr sz="1700" b="0" lang="id-ID">
                <a:solidFill>
                  <a:srgbClr val="0B1F2A"/>
                </a:solidFill>
                <a:latin typeface="Arial"/>
              </a:rPr>
              <a:t>Waktu model (menit)</a:t>
            </a:r>
          </a:p>
        </p:txBody>
      </p:sp>
      <p:sp>
        <p:nvSpPr>
          <p:cNvPr id="18" name="Rectangle 17"/>
          <p:cNvSpPr/>
          <p:nvPr/>
        </p:nvSpPr>
        <p:spPr>
          <a:xfrm>
            <a:off x="4251960" y="2807208"/>
            <a:ext cx="2468880" cy="557784"/>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4407408" y="2926079"/>
            <a:ext cx="2176272" cy="347472"/>
          </a:xfrm>
          <a:prstGeom prst="rect">
            <a:avLst/>
          </a:prstGeom>
          <a:noFill/>
          <a:effectLst/>
        </p:spPr>
        <p:txBody>
          <a:bodyPr wrap="square" lIns="0" rIns="0" tIns="0" bIns="0">
            <a:spAutoFit/>
          </a:bodyPr>
          <a:lstStyle/>
          <a:p>
            <a:pPr>
              <a:lnSpc>
                <a:spcPct val="104000"/>
              </a:lnSpc>
              <a:spcBef>
                <a:spcPts val="0"/>
              </a:spcBef>
              <a:spcAft>
                <a:spcPts val="500"/>
              </a:spcAft>
            </a:pPr>
            <a:r>
              <a:rPr sz="2200" b="1" lang="id-ID">
                <a:solidFill>
                  <a:srgbClr val="0B1F2A"/>
                </a:solidFill>
                <a:latin typeface="Arial"/>
              </a:rPr>
              <a:t>7,0</a:t>
            </a:r>
          </a:p>
        </p:txBody>
      </p:sp>
      <p:sp>
        <p:nvSpPr>
          <p:cNvPr id="20" name="Rectangle 19"/>
          <p:cNvSpPr/>
          <p:nvPr/>
        </p:nvSpPr>
        <p:spPr>
          <a:xfrm>
            <a:off x="6720840" y="2807208"/>
            <a:ext cx="2468880" cy="557784"/>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876288" y="2926079"/>
            <a:ext cx="2176272" cy="347472"/>
          </a:xfrm>
          <a:prstGeom prst="rect">
            <a:avLst/>
          </a:prstGeom>
          <a:noFill/>
          <a:effectLst/>
        </p:spPr>
        <p:txBody>
          <a:bodyPr wrap="square" lIns="0" rIns="0" tIns="0" bIns="0">
            <a:spAutoFit/>
          </a:bodyPr>
          <a:lstStyle/>
          <a:p>
            <a:pPr>
              <a:lnSpc>
                <a:spcPct val="104000"/>
              </a:lnSpc>
              <a:spcBef>
                <a:spcPts val="0"/>
              </a:spcBef>
              <a:spcAft>
                <a:spcPts val="500"/>
              </a:spcAft>
            </a:pPr>
            <a:r>
              <a:rPr sz="2200" b="1" lang="id-ID">
                <a:solidFill>
                  <a:srgbClr val="0B1F2A"/>
                </a:solidFill>
                <a:latin typeface="Arial"/>
              </a:rPr>
              <a:t>13,9</a:t>
            </a:r>
          </a:p>
        </p:txBody>
      </p:sp>
      <p:sp>
        <p:nvSpPr>
          <p:cNvPr id="22" name="Rectangle 21"/>
          <p:cNvSpPr/>
          <p:nvPr/>
        </p:nvSpPr>
        <p:spPr>
          <a:xfrm>
            <a:off x="9189720" y="2807208"/>
            <a:ext cx="2423160" cy="557784"/>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9345168" y="2926079"/>
            <a:ext cx="2130552" cy="347472"/>
          </a:xfrm>
          <a:prstGeom prst="rect">
            <a:avLst/>
          </a:prstGeom>
          <a:noFill/>
          <a:effectLst/>
        </p:spPr>
        <p:txBody>
          <a:bodyPr wrap="square" lIns="0" rIns="0" tIns="0" bIns="0">
            <a:spAutoFit/>
          </a:bodyPr>
          <a:lstStyle/>
          <a:p>
            <a:pPr>
              <a:lnSpc>
                <a:spcPct val="104000"/>
              </a:lnSpc>
              <a:spcBef>
                <a:spcPts val="0"/>
              </a:spcBef>
              <a:spcAft>
                <a:spcPts val="500"/>
              </a:spcAft>
            </a:pPr>
            <a:r>
              <a:rPr sz="2200" b="1" lang="id-ID">
                <a:solidFill>
                  <a:srgbClr val="0B1F2A"/>
                </a:solidFill>
                <a:latin typeface="Arial"/>
              </a:rPr>
              <a:t>7,0</a:t>
            </a:r>
          </a:p>
        </p:txBody>
      </p:sp>
      <p:sp>
        <p:nvSpPr>
          <p:cNvPr id="24" name="Rectangle 23"/>
          <p:cNvSpPr/>
          <p:nvPr/>
        </p:nvSpPr>
        <p:spPr>
          <a:xfrm>
            <a:off x="548640" y="3364991"/>
            <a:ext cx="3703320" cy="557784"/>
          </a:xfrm>
          <a:prstGeom prst="rect">
            <a:avLst/>
          </a:prstGeom>
          <a:solidFill>
            <a:srgbClr val="F2F5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704088" y="3483863"/>
            <a:ext cx="3410712" cy="347472"/>
          </a:xfrm>
          <a:prstGeom prst="rect">
            <a:avLst/>
          </a:prstGeom>
          <a:noFill/>
          <a:effectLst/>
        </p:spPr>
        <p:txBody>
          <a:bodyPr wrap="square" lIns="0" rIns="0" tIns="0" bIns="0">
            <a:spAutoFit/>
          </a:bodyPr>
          <a:lstStyle/>
          <a:p>
            <a:pPr>
              <a:lnSpc>
                <a:spcPct val="104000"/>
              </a:lnSpc>
              <a:spcBef>
                <a:spcPts val="0"/>
              </a:spcBef>
              <a:spcAft>
                <a:spcPts val="500"/>
              </a:spcAft>
            </a:pPr>
            <a:r>
              <a:rPr sz="1700" b="0" lang="id-ID">
                <a:solidFill>
                  <a:srgbClr val="0B1F2A"/>
                </a:solidFill>
                <a:latin typeface="Arial"/>
              </a:rPr>
              <a:t>Jarak (km)</a:t>
            </a:r>
          </a:p>
        </p:txBody>
      </p:sp>
      <p:sp>
        <p:nvSpPr>
          <p:cNvPr id="26" name="Rectangle 25"/>
          <p:cNvSpPr/>
          <p:nvPr/>
        </p:nvSpPr>
        <p:spPr>
          <a:xfrm>
            <a:off x="4251960" y="3364991"/>
            <a:ext cx="2468880" cy="557784"/>
          </a:xfrm>
          <a:prstGeom prst="rect">
            <a:avLst/>
          </a:prstGeom>
          <a:solidFill>
            <a:srgbClr val="F2F5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4407408" y="3483863"/>
            <a:ext cx="2176272" cy="347472"/>
          </a:xfrm>
          <a:prstGeom prst="rect">
            <a:avLst/>
          </a:prstGeom>
          <a:noFill/>
          <a:effectLst/>
        </p:spPr>
        <p:txBody>
          <a:bodyPr wrap="square" lIns="0" rIns="0" tIns="0" bIns="0">
            <a:spAutoFit/>
          </a:bodyPr>
          <a:lstStyle/>
          <a:p>
            <a:pPr>
              <a:lnSpc>
                <a:spcPct val="104000"/>
              </a:lnSpc>
              <a:spcBef>
                <a:spcPts val="0"/>
              </a:spcBef>
              <a:spcAft>
                <a:spcPts val="500"/>
              </a:spcAft>
            </a:pPr>
            <a:r>
              <a:rPr sz="2200" b="1" lang="id-ID">
                <a:solidFill>
                  <a:srgbClr val="0B1F2A"/>
                </a:solidFill>
                <a:latin typeface="Arial"/>
              </a:rPr>
              <a:t>6,32</a:t>
            </a:r>
          </a:p>
        </p:txBody>
      </p:sp>
      <p:sp>
        <p:nvSpPr>
          <p:cNvPr id="28" name="Rectangle 27"/>
          <p:cNvSpPr/>
          <p:nvPr/>
        </p:nvSpPr>
        <p:spPr>
          <a:xfrm>
            <a:off x="6720840" y="3364991"/>
            <a:ext cx="2468880" cy="557784"/>
          </a:xfrm>
          <a:prstGeom prst="rect">
            <a:avLst/>
          </a:prstGeom>
          <a:solidFill>
            <a:srgbClr val="F2F5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876288" y="3483863"/>
            <a:ext cx="2176272" cy="347472"/>
          </a:xfrm>
          <a:prstGeom prst="rect">
            <a:avLst/>
          </a:prstGeom>
          <a:noFill/>
          <a:effectLst/>
        </p:spPr>
        <p:txBody>
          <a:bodyPr wrap="square" lIns="0" rIns="0" tIns="0" bIns="0">
            <a:spAutoFit/>
          </a:bodyPr>
          <a:lstStyle/>
          <a:p>
            <a:pPr>
              <a:lnSpc>
                <a:spcPct val="104000"/>
              </a:lnSpc>
              <a:spcBef>
                <a:spcPts val="0"/>
              </a:spcBef>
              <a:spcAft>
                <a:spcPts val="500"/>
              </a:spcAft>
            </a:pPr>
            <a:r>
              <a:rPr sz="2200" b="1" lang="id-ID">
                <a:solidFill>
                  <a:srgbClr val="0B1F2A"/>
                </a:solidFill>
                <a:latin typeface="Arial"/>
              </a:rPr>
              <a:t>10,58</a:t>
            </a:r>
          </a:p>
        </p:txBody>
      </p:sp>
      <p:sp>
        <p:nvSpPr>
          <p:cNvPr id="30" name="Rectangle 29"/>
          <p:cNvSpPr/>
          <p:nvPr/>
        </p:nvSpPr>
        <p:spPr>
          <a:xfrm>
            <a:off x="9189720" y="3364991"/>
            <a:ext cx="2423160" cy="557784"/>
          </a:xfrm>
          <a:prstGeom prst="rect">
            <a:avLst/>
          </a:prstGeom>
          <a:solidFill>
            <a:srgbClr val="F2F5F6"/>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9345168" y="3483863"/>
            <a:ext cx="2130552" cy="347472"/>
          </a:xfrm>
          <a:prstGeom prst="rect">
            <a:avLst/>
          </a:prstGeom>
          <a:noFill/>
          <a:effectLst/>
        </p:spPr>
        <p:txBody>
          <a:bodyPr wrap="square" lIns="0" rIns="0" tIns="0" bIns="0">
            <a:spAutoFit/>
          </a:bodyPr>
          <a:lstStyle/>
          <a:p>
            <a:pPr>
              <a:lnSpc>
                <a:spcPct val="104000"/>
              </a:lnSpc>
              <a:spcBef>
                <a:spcPts val="0"/>
              </a:spcBef>
              <a:spcAft>
                <a:spcPts val="500"/>
              </a:spcAft>
            </a:pPr>
            <a:r>
              <a:rPr sz="2200" b="1" lang="id-ID">
                <a:solidFill>
                  <a:srgbClr val="0B1F2A"/>
                </a:solidFill>
                <a:latin typeface="Arial"/>
              </a:rPr>
              <a:t>6,32</a:t>
            </a:r>
          </a:p>
        </p:txBody>
      </p:sp>
      <p:sp>
        <p:nvSpPr>
          <p:cNvPr id="32" name="Rectangle 31"/>
          <p:cNvSpPr/>
          <p:nvPr/>
        </p:nvSpPr>
        <p:spPr>
          <a:xfrm>
            <a:off x="548640" y="3922776"/>
            <a:ext cx="3703320" cy="557784"/>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704088" y="4041648"/>
            <a:ext cx="3410712" cy="347472"/>
          </a:xfrm>
          <a:prstGeom prst="rect">
            <a:avLst/>
          </a:prstGeom>
          <a:noFill/>
          <a:effectLst/>
        </p:spPr>
        <p:txBody>
          <a:bodyPr wrap="square" lIns="0" rIns="0" tIns="0" bIns="0">
            <a:spAutoFit/>
          </a:bodyPr>
          <a:lstStyle/>
          <a:p>
            <a:pPr>
              <a:lnSpc>
                <a:spcPct val="104000"/>
              </a:lnSpc>
              <a:spcBef>
                <a:spcPts val="0"/>
              </a:spcBef>
              <a:spcAft>
                <a:spcPts val="500"/>
              </a:spcAft>
            </a:pPr>
            <a:r>
              <a:rPr sz="1700" b="0" lang="id-ID">
                <a:solidFill>
                  <a:srgbClr val="0B1F2A"/>
                </a:solidFill>
                <a:latin typeface="Arial"/>
              </a:rPr>
              <a:t>Ruas tergenang menurut model</a:t>
            </a:r>
          </a:p>
        </p:txBody>
      </p:sp>
      <p:sp>
        <p:nvSpPr>
          <p:cNvPr id="34" name="Rectangle 33"/>
          <p:cNvSpPr/>
          <p:nvPr/>
        </p:nvSpPr>
        <p:spPr>
          <a:xfrm>
            <a:off x="4251960" y="3922776"/>
            <a:ext cx="2468880" cy="557784"/>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4407408" y="4041648"/>
            <a:ext cx="2176272" cy="347472"/>
          </a:xfrm>
          <a:prstGeom prst="rect">
            <a:avLst/>
          </a:prstGeom>
          <a:noFill/>
          <a:effectLst/>
        </p:spPr>
        <p:txBody>
          <a:bodyPr wrap="square" lIns="0" rIns="0" tIns="0" bIns="0">
            <a:spAutoFit/>
          </a:bodyPr>
          <a:lstStyle/>
          <a:p>
            <a:pPr>
              <a:lnSpc>
                <a:spcPct val="104000"/>
              </a:lnSpc>
              <a:spcBef>
                <a:spcPts val="0"/>
              </a:spcBef>
              <a:spcAft>
                <a:spcPts val="500"/>
              </a:spcAft>
            </a:pPr>
            <a:r>
              <a:rPr sz="2200" b="1" lang="id-ID">
                <a:solidFill>
                  <a:srgbClr val="0B1F2A"/>
                </a:solidFill>
                <a:latin typeface="Arial"/>
              </a:rPr>
              <a:t>29</a:t>
            </a:r>
          </a:p>
        </p:txBody>
      </p:sp>
      <p:sp>
        <p:nvSpPr>
          <p:cNvPr id="36" name="Rectangle 35"/>
          <p:cNvSpPr/>
          <p:nvPr/>
        </p:nvSpPr>
        <p:spPr>
          <a:xfrm>
            <a:off x="6720840" y="3922776"/>
            <a:ext cx="2468880" cy="557784"/>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7" name="TextBox 36"/>
          <p:cNvSpPr txBox="1"/>
          <p:nvPr/>
        </p:nvSpPr>
        <p:spPr>
          <a:xfrm>
            <a:off x="6876288" y="4041648"/>
            <a:ext cx="2176272" cy="347472"/>
          </a:xfrm>
          <a:prstGeom prst="rect">
            <a:avLst/>
          </a:prstGeom>
          <a:noFill/>
          <a:effectLst/>
        </p:spPr>
        <p:txBody>
          <a:bodyPr wrap="square" lIns="0" rIns="0" tIns="0" bIns="0">
            <a:spAutoFit/>
          </a:bodyPr>
          <a:lstStyle/>
          <a:p>
            <a:pPr>
              <a:lnSpc>
                <a:spcPct val="104000"/>
              </a:lnSpc>
              <a:spcBef>
                <a:spcPts val="0"/>
              </a:spcBef>
              <a:spcAft>
                <a:spcPts val="500"/>
              </a:spcAft>
            </a:pPr>
            <a:r>
              <a:rPr sz="2200" b="1" lang="id-ID">
                <a:solidFill>
                  <a:srgbClr val="0B1F2A"/>
                </a:solidFill>
                <a:latin typeface="Arial"/>
              </a:rPr>
              <a:t>14</a:t>
            </a:r>
          </a:p>
        </p:txBody>
      </p:sp>
      <p:sp>
        <p:nvSpPr>
          <p:cNvPr id="38" name="Rectangle 37"/>
          <p:cNvSpPr/>
          <p:nvPr/>
        </p:nvSpPr>
        <p:spPr>
          <a:xfrm>
            <a:off x="9189720" y="3922776"/>
            <a:ext cx="2423160" cy="557784"/>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9345168" y="4041648"/>
            <a:ext cx="2130552" cy="347472"/>
          </a:xfrm>
          <a:prstGeom prst="rect">
            <a:avLst/>
          </a:prstGeom>
          <a:noFill/>
          <a:effectLst/>
        </p:spPr>
        <p:txBody>
          <a:bodyPr wrap="square" lIns="0" rIns="0" tIns="0" bIns="0">
            <a:spAutoFit/>
          </a:bodyPr>
          <a:lstStyle/>
          <a:p>
            <a:pPr>
              <a:lnSpc>
                <a:spcPct val="104000"/>
              </a:lnSpc>
              <a:spcBef>
                <a:spcPts val="0"/>
              </a:spcBef>
              <a:spcAft>
                <a:spcPts val="500"/>
              </a:spcAft>
            </a:pPr>
            <a:r>
              <a:rPr sz="2200" b="1" lang="id-ID">
                <a:solidFill>
                  <a:srgbClr val="0B1F2A"/>
                </a:solidFill>
                <a:latin typeface="Arial"/>
              </a:rPr>
              <a:t>0</a:t>
            </a:r>
          </a:p>
        </p:txBody>
      </p:sp>
      <p:sp>
        <p:nvSpPr>
          <p:cNvPr id="40" name="Rectangle 39"/>
          <p:cNvSpPr/>
          <p:nvPr/>
        </p:nvSpPr>
        <p:spPr>
          <a:xfrm>
            <a:off x="548640" y="4782312"/>
            <a:ext cx="11064240" cy="1353312"/>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749808" y="4974336"/>
            <a:ext cx="10652760" cy="384048"/>
          </a:xfrm>
          <a:prstGeom prst="rect">
            <a:avLst/>
          </a:prstGeom>
          <a:noFill/>
          <a:effectLst/>
        </p:spPr>
        <p:txBody>
          <a:bodyPr wrap="square" lIns="0" rIns="0" tIns="0" bIns="0">
            <a:spAutoFit/>
          </a:bodyPr>
          <a:lstStyle/>
          <a:p>
            <a:pPr>
              <a:lnSpc>
                <a:spcPct val="104000"/>
              </a:lnSpc>
              <a:spcBef>
                <a:spcPts val="0"/>
              </a:spcBef>
              <a:spcAft>
                <a:spcPts val="500"/>
              </a:spcAft>
            </a:pPr>
            <a:r>
              <a:rPr sz="2500" b="1" lang="id-ID">
                <a:solidFill>
                  <a:srgbClr val="0B1F2A"/>
                </a:solidFill>
                <a:latin typeface="Arial Narrow"/>
              </a:rPr>
              <a:t>08.00: +6,9 menit  /  +4,27 km untuk menghindar</a:t>
            </a:r>
          </a:p>
        </p:txBody>
      </p:sp>
      <p:sp>
        <p:nvSpPr>
          <p:cNvPr id="42" name="TextBox 41"/>
          <p:cNvSpPr txBox="1"/>
          <p:nvPr/>
        </p:nvSpPr>
        <p:spPr>
          <a:xfrm>
            <a:off x="749808" y="5468112"/>
            <a:ext cx="10652760" cy="301752"/>
          </a:xfrm>
          <a:prstGeom prst="rect">
            <a:avLst/>
          </a:prstGeom>
          <a:noFill/>
          <a:effectLst/>
        </p:spPr>
        <p:txBody>
          <a:bodyPr wrap="square" lIns="0" rIns="0" tIns="0" bIns="0">
            <a:spAutoFit/>
          </a:bodyPr>
          <a:lstStyle/>
          <a:p>
            <a:pPr>
              <a:lnSpc>
                <a:spcPct val="104000"/>
              </a:lnSpc>
              <a:spcBef>
                <a:spcPts val="0"/>
              </a:spcBef>
              <a:spcAft>
                <a:spcPts val="500"/>
              </a:spcAft>
            </a:pPr>
            <a:r>
              <a:rPr sz="1900" b="1" lang="id-ID">
                <a:solidFill>
                  <a:srgbClr val="1C7F9E"/>
                </a:solidFill>
                <a:latin typeface="Arial"/>
              </a:rPr>
              <a:t>Estimasi tambahan BBM 0,060–0,111 L  •  CO₂ 0,138–0,256 kg</a:t>
            </a:r>
          </a:p>
        </p:txBody>
      </p:sp>
      <p:sp>
        <p:nvSpPr>
          <p:cNvPr id="43" name="TextBox 42"/>
          <p:cNvSpPr txBox="1"/>
          <p:nvPr/>
        </p:nvSpPr>
        <p:spPr>
          <a:xfrm>
            <a:off x="749808" y="5870448"/>
            <a:ext cx="10652760" cy="219456"/>
          </a:xfrm>
          <a:prstGeom prst="rect">
            <a:avLst/>
          </a:prstGeom>
          <a:noFill/>
          <a:effectLst/>
        </p:spPr>
        <p:txBody>
          <a:bodyPr wrap="square" lIns="0" rIns="0" tIns="0" bIns="0">
            <a:spAutoFit/>
          </a:bodyPr>
          <a:lstStyle/>
          <a:p>
            <a:pPr>
              <a:lnSpc>
                <a:spcPct val="104000"/>
              </a:lnSpc>
              <a:spcBef>
                <a:spcPts val="0"/>
              </a:spcBef>
              <a:spcAft>
                <a:spcPts val="500"/>
              </a:spcAft>
            </a:pPr>
            <a:r>
              <a:rPr sz="1400" b="0" lang="id-ID">
                <a:solidFill>
                  <a:srgbClr val="46626F"/>
                </a:solidFill>
                <a:latin typeface="Arial"/>
              </a:rPr>
              <a:t>Rute 08.00 masih memiliki paparan. Hasil 13.00 tidak membuktikan jalan benar-benar kering.</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2F5F6"/>
        </a:solidFill>
        <a:effectLst/>
      </p:bgPr>
    </p:bg>
    <p:spTree>
      <p:nvGrpSpPr>
        <p:cNvPr id="1" name=""/>
        <p:cNvGrpSpPr/>
        <p:nvPr/>
      </p:nvGrpSpPr>
      <p:grpSpPr/>
      <p:sp>
        <p:nvSpPr>
          <p:cNvPr id="2" name="TextBox 1"/>
          <p:cNvSpPr txBox="1"/>
          <p:nvPr/>
        </p:nvSpPr>
        <p:spPr>
          <a:xfrm>
            <a:off x="502920" y="320040"/>
            <a:ext cx="9144000" cy="274320"/>
          </a:xfrm>
          <a:prstGeom prst="rect">
            <a:avLst/>
          </a:prstGeom>
          <a:noFill/>
          <a:effectLst/>
        </p:spPr>
        <p:txBody>
          <a:bodyPr wrap="square" lIns="0" rIns="0" tIns="0" bIns="0">
            <a:spAutoFit/>
          </a:bodyPr>
          <a:lstStyle/>
          <a:p>
            <a:pPr>
              <a:lnSpc>
                <a:spcPct val="104000"/>
              </a:lnSpc>
              <a:spcBef>
                <a:spcPts val="0"/>
              </a:spcBef>
              <a:spcAft>
                <a:spcPts val="500"/>
              </a:spcAft>
            </a:pPr>
            <a:r>
              <a:rPr sz="1200" b="1" lang="id-ID">
                <a:solidFill>
                  <a:srgbClr val="1C7F9E"/>
                </a:solidFill>
                <a:latin typeface="Arial"/>
              </a:rPr>
              <a:t>06 / RENCANA PENGEMBANGAN</a:t>
            </a:r>
          </a:p>
        </p:txBody>
      </p:sp>
      <p:sp>
        <p:nvSpPr>
          <p:cNvPr id="3" name="TextBox 2"/>
          <p:cNvSpPr txBox="1"/>
          <p:nvPr/>
        </p:nvSpPr>
        <p:spPr>
          <a:xfrm>
            <a:off x="502920" y="777240"/>
            <a:ext cx="11201400" cy="576072"/>
          </a:xfrm>
          <a:prstGeom prst="rect">
            <a:avLst/>
          </a:prstGeom>
          <a:noFill/>
          <a:effectLst/>
        </p:spPr>
        <p:txBody>
          <a:bodyPr wrap="square" lIns="0" rIns="0" tIns="0" bIns="0">
            <a:spAutoFit/>
          </a:bodyPr>
          <a:lstStyle/>
          <a:p>
            <a:pPr>
              <a:lnSpc>
                <a:spcPct val="104000"/>
              </a:lnSpc>
              <a:spcBef>
                <a:spcPts val="0"/>
              </a:spcBef>
              <a:spcAft>
                <a:spcPts val="500"/>
              </a:spcAft>
            </a:pPr>
            <a:r>
              <a:rPr sz="3400" b="1" lang="id-ID">
                <a:solidFill>
                  <a:srgbClr val="0B1F2A"/>
                </a:solidFill>
                <a:latin typeface="Arial Narrow"/>
              </a:rPr>
              <a:t>Dari prototipe menuju pilot yang terukur</a:t>
            </a:r>
          </a:p>
        </p:txBody>
      </p:sp>
      <p:sp>
        <p:nvSpPr>
          <p:cNvPr id="4" name="TextBox 3"/>
          <p:cNvSpPr txBox="1"/>
          <p:nvPr/>
        </p:nvSpPr>
        <p:spPr>
          <a:xfrm>
            <a:off x="521207" y="1426464"/>
            <a:ext cx="10972800" cy="475488"/>
          </a:xfrm>
          <a:prstGeom prst="rect">
            <a:avLst/>
          </a:prstGeom>
          <a:noFill/>
          <a:effectLst/>
        </p:spPr>
        <p:txBody>
          <a:bodyPr wrap="square" lIns="0" rIns="0" tIns="0" bIns="0">
            <a:spAutoFit/>
          </a:bodyPr>
          <a:lstStyle/>
          <a:p>
            <a:pPr>
              <a:lnSpc>
                <a:spcPct val="104000"/>
              </a:lnSpc>
              <a:spcBef>
                <a:spcPts val="0"/>
              </a:spcBef>
              <a:spcAft>
                <a:spcPts val="500"/>
              </a:spcAft>
            </a:pPr>
            <a:r>
              <a:rPr sz="1700" b="0" lang="id-ID">
                <a:solidFill>
                  <a:srgbClr val="46626F"/>
                </a:solidFill>
                <a:latin typeface="Arial"/>
              </a:rPr>
              <a:t>Usulan tahap berikutnya; belum diklaim sebagai kegiatan atau kemitraan yang selesai.</a:t>
            </a:r>
          </a:p>
        </p:txBody>
      </p:sp>
      <p:sp>
        <p:nvSpPr>
          <p:cNvPr id="5" name="Rectangle 4"/>
          <p:cNvSpPr/>
          <p:nvPr/>
        </p:nvSpPr>
        <p:spPr>
          <a:xfrm>
            <a:off x="502920" y="6446520"/>
            <a:ext cx="11183112" cy="13716"/>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02920" y="6537960"/>
            <a:ext cx="10698480" cy="182880"/>
          </a:xfrm>
          <a:prstGeom prst="rect">
            <a:avLst/>
          </a:prstGeom>
          <a:noFill/>
          <a:effectLst/>
        </p:spPr>
        <p:txBody>
          <a:bodyPr wrap="square" lIns="0" rIns="0" tIns="0" bIns="0">
            <a:spAutoFit/>
          </a:bodyPr>
          <a:lstStyle/>
          <a:p>
            <a:pPr>
              <a:lnSpc>
                <a:spcPct val="104000"/>
              </a:lnSpc>
              <a:spcBef>
                <a:spcPts val="0"/>
              </a:spcBef>
              <a:spcAft>
                <a:spcPts val="500"/>
              </a:spcAft>
            </a:pPr>
            <a:r>
              <a:rPr sz="1000" b="0" lang="id-ID">
                <a:solidFill>
                  <a:srgbClr val="46626F"/>
                </a:solidFill>
                <a:latin typeface="Arial"/>
              </a:rPr>
              <a:t>trio la albiceleste  /  ITS Surabaya  /  ANFORCOM 2026</a:t>
            </a:r>
          </a:p>
        </p:txBody>
      </p:sp>
      <p:sp>
        <p:nvSpPr>
          <p:cNvPr id="7" name="TextBox 6"/>
          <p:cNvSpPr txBox="1"/>
          <p:nvPr/>
        </p:nvSpPr>
        <p:spPr>
          <a:xfrm>
            <a:off x="11292840" y="6501384"/>
            <a:ext cx="384048" cy="246888"/>
          </a:xfrm>
          <a:prstGeom prst="rect">
            <a:avLst/>
          </a:prstGeom>
          <a:noFill/>
          <a:effectLst/>
        </p:spPr>
        <p:txBody>
          <a:bodyPr wrap="square" lIns="0" rIns="0" tIns="0" bIns="0">
            <a:spAutoFit/>
          </a:bodyPr>
          <a:lstStyle/>
          <a:p>
            <a:pPr algn="r">
              <a:lnSpc>
                <a:spcPct val="104000"/>
              </a:lnSpc>
              <a:spcBef>
                <a:spcPts val="0"/>
              </a:spcBef>
              <a:spcAft>
                <a:spcPts val="500"/>
              </a:spcAft>
            </a:pPr>
            <a:r>
              <a:rPr sz="1400" b="1" lang="id-ID">
                <a:solidFill>
                  <a:srgbClr val="46626F"/>
                </a:solidFill>
                <a:latin typeface="Arial"/>
              </a:rPr>
              <a:t>07</a:t>
            </a:r>
          </a:p>
        </p:txBody>
      </p:sp>
      <p:sp>
        <p:nvSpPr>
          <p:cNvPr id="8" name="TextBox 7"/>
          <p:cNvSpPr txBox="1"/>
          <p:nvPr/>
        </p:nvSpPr>
        <p:spPr>
          <a:xfrm>
            <a:off x="548640" y="2313432"/>
            <a:ext cx="3346704" cy="274320"/>
          </a:xfrm>
          <a:prstGeom prst="rect">
            <a:avLst/>
          </a:prstGeom>
          <a:noFill/>
          <a:effectLst/>
        </p:spPr>
        <p:txBody>
          <a:bodyPr wrap="square" lIns="0" rIns="0" tIns="0" bIns="0">
            <a:spAutoFit/>
          </a:bodyPr>
          <a:lstStyle/>
          <a:p>
            <a:pPr>
              <a:lnSpc>
                <a:spcPct val="104000"/>
              </a:lnSpc>
              <a:spcBef>
                <a:spcPts val="0"/>
              </a:spcBef>
              <a:spcAft>
                <a:spcPts val="500"/>
              </a:spcAft>
            </a:pPr>
            <a:r>
              <a:rPr sz="1200" b="1" lang="id-ID">
                <a:solidFill>
                  <a:srgbClr val="1C7F9E"/>
                </a:solidFill>
                <a:latin typeface="Arial"/>
              </a:rPr>
              <a:t>01 / KEGUNAAN</a:t>
            </a:r>
          </a:p>
        </p:txBody>
      </p:sp>
      <p:sp>
        <p:nvSpPr>
          <p:cNvPr id="9" name="TextBox 8"/>
          <p:cNvSpPr txBox="1"/>
          <p:nvPr/>
        </p:nvSpPr>
        <p:spPr>
          <a:xfrm>
            <a:off x="548640" y="2843784"/>
            <a:ext cx="3337560" cy="850392"/>
          </a:xfrm>
          <a:prstGeom prst="rect">
            <a:avLst/>
          </a:prstGeom>
          <a:noFill/>
          <a:effectLst/>
        </p:spPr>
        <p:txBody>
          <a:bodyPr wrap="square" lIns="0" rIns="0" tIns="0" bIns="0">
            <a:spAutoFit/>
          </a:bodyPr>
          <a:lstStyle/>
          <a:p>
            <a:pPr>
              <a:lnSpc>
                <a:spcPct val="104000"/>
              </a:lnSpc>
              <a:spcBef>
                <a:spcPts val="0"/>
              </a:spcBef>
              <a:spcAft>
                <a:spcPts val="500"/>
              </a:spcAft>
            </a:pPr>
            <a:r>
              <a:rPr sz="2700" b="1" lang="id-ID">
                <a:solidFill>
                  <a:srgbClr val="0B1F2A"/>
                </a:solidFill>
                <a:latin typeface="Arial Narrow"/>
              </a:rPr>
              <a:t>Uji tugas 5–8 peserta</a:t>
            </a:r>
          </a:p>
        </p:txBody>
      </p:sp>
      <p:sp>
        <p:nvSpPr>
          <p:cNvPr id="10" name="TextBox 9"/>
          <p:cNvSpPr txBox="1"/>
          <p:nvPr/>
        </p:nvSpPr>
        <p:spPr>
          <a:xfrm>
            <a:off x="548640" y="3886200"/>
            <a:ext cx="3337560" cy="1005840"/>
          </a:xfrm>
          <a:prstGeom prst="rect">
            <a:avLst/>
          </a:prstGeom>
          <a:noFill/>
          <a:effectLst/>
        </p:spPr>
        <p:txBody>
          <a:bodyPr wrap="square" lIns="0" rIns="0" tIns="0" bIns="0">
            <a:spAutoFit/>
          </a:bodyPr>
          <a:lstStyle/>
          <a:p>
            <a:pPr>
              <a:lnSpc>
                <a:spcPct val="104000"/>
              </a:lnSpc>
              <a:spcBef>
                <a:spcPts val="0"/>
              </a:spcBef>
              <a:spcAft>
                <a:spcPts val="500"/>
              </a:spcAft>
            </a:pPr>
            <a:r>
              <a:rPr sz="1900" b="0" lang="id-ID">
                <a:solidFill>
                  <a:srgbClr val="46626F"/>
                </a:solidFill>
                <a:latin typeface="Arial"/>
              </a:rPr>
              <a:t>Apakah lokasi, jam, dan</a:t>
            </a:r>
          </a:p>
          <a:p>
            <a:pPr>
              <a:lnSpc>
                <a:spcPct val="104000"/>
              </a:lnSpc>
              <a:spcBef>
                <a:spcPts val="0"/>
              </a:spcBef>
              <a:spcAft>
                <a:spcPts val="500"/>
              </a:spcAft>
            </a:pPr>
            <a:r>
              <a:rPr sz="1900" b="0" lang="id-ID">
                <a:solidFill>
                  <a:srgbClr val="46626F"/>
                </a:solidFill>
                <a:latin typeface="Arial"/>
              </a:rPr>
              <a:t>peringatan dipahami?</a:t>
            </a:r>
          </a:p>
        </p:txBody>
      </p:sp>
      <p:sp>
        <p:nvSpPr>
          <p:cNvPr id="11" name="Rectangle 10"/>
          <p:cNvSpPr/>
          <p:nvPr/>
        </p:nvSpPr>
        <p:spPr>
          <a:xfrm>
            <a:off x="548640" y="5065776"/>
            <a:ext cx="3337560" cy="13716"/>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48640" y="5340096"/>
            <a:ext cx="3337560" cy="685800"/>
          </a:xfrm>
          <a:prstGeom prst="rect">
            <a:avLst/>
          </a:prstGeom>
          <a:noFill/>
          <a:effectLst/>
        </p:spPr>
        <p:txBody>
          <a:bodyPr wrap="square" lIns="0" rIns="0" tIns="0" bIns="0">
            <a:spAutoFit/>
          </a:bodyPr>
          <a:lstStyle/>
          <a:p>
            <a:pPr>
              <a:lnSpc>
                <a:spcPct val="104000"/>
              </a:lnSpc>
              <a:spcBef>
                <a:spcPts val="0"/>
              </a:spcBef>
              <a:spcAft>
                <a:spcPts val="500"/>
              </a:spcAft>
            </a:pPr>
            <a:r>
              <a:rPr sz="1800" b="0" lang="id-ID">
                <a:solidFill>
                  <a:srgbClr val="1C7F9E"/>
                </a:solidFill>
                <a:latin typeface="Arial"/>
              </a:rPr>
              <a:t>Ukur: keberhasilan tugas</a:t>
            </a:r>
          </a:p>
          <a:p>
            <a:pPr>
              <a:lnSpc>
                <a:spcPct val="104000"/>
              </a:lnSpc>
              <a:spcBef>
                <a:spcPts val="0"/>
              </a:spcBef>
              <a:spcAft>
                <a:spcPts val="500"/>
              </a:spcAft>
            </a:pPr>
            <a:r>
              <a:rPr sz="1800" b="0" lang="id-ID">
                <a:solidFill>
                  <a:srgbClr val="1C7F9E"/>
                </a:solidFill>
                <a:latin typeface="Arial"/>
              </a:rPr>
              <a:t>dan waktu penyelesaian.</a:t>
            </a:r>
          </a:p>
        </p:txBody>
      </p:sp>
      <p:sp>
        <p:nvSpPr>
          <p:cNvPr id="13" name="TextBox 12"/>
          <p:cNvSpPr txBox="1"/>
          <p:nvPr/>
        </p:nvSpPr>
        <p:spPr>
          <a:xfrm>
            <a:off x="4425696" y="2313432"/>
            <a:ext cx="3346704" cy="274320"/>
          </a:xfrm>
          <a:prstGeom prst="rect">
            <a:avLst/>
          </a:prstGeom>
          <a:noFill/>
          <a:effectLst/>
        </p:spPr>
        <p:txBody>
          <a:bodyPr wrap="square" lIns="0" rIns="0" tIns="0" bIns="0">
            <a:spAutoFit/>
          </a:bodyPr>
          <a:lstStyle/>
          <a:p>
            <a:pPr>
              <a:lnSpc>
                <a:spcPct val="104000"/>
              </a:lnSpc>
              <a:spcBef>
                <a:spcPts val="0"/>
              </a:spcBef>
              <a:spcAft>
                <a:spcPts val="500"/>
              </a:spcAft>
            </a:pPr>
            <a:r>
              <a:rPr sz="1200" b="1" lang="id-ID">
                <a:solidFill>
                  <a:srgbClr val="1C7F9E"/>
                </a:solidFill>
                <a:latin typeface="Arial"/>
              </a:rPr>
              <a:t>02 / MODEL</a:t>
            </a:r>
          </a:p>
        </p:txBody>
      </p:sp>
      <p:sp>
        <p:nvSpPr>
          <p:cNvPr id="14" name="TextBox 13"/>
          <p:cNvSpPr txBox="1"/>
          <p:nvPr/>
        </p:nvSpPr>
        <p:spPr>
          <a:xfrm>
            <a:off x="4425696" y="2843784"/>
            <a:ext cx="3337560" cy="850392"/>
          </a:xfrm>
          <a:prstGeom prst="rect">
            <a:avLst/>
          </a:prstGeom>
          <a:noFill/>
          <a:effectLst/>
        </p:spPr>
        <p:txBody>
          <a:bodyPr wrap="square" lIns="0" rIns="0" tIns="0" bIns="0">
            <a:spAutoFit/>
          </a:bodyPr>
          <a:lstStyle/>
          <a:p>
            <a:pPr>
              <a:lnSpc>
                <a:spcPct val="104000"/>
              </a:lnSpc>
              <a:spcBef>
                <a:spcPts val="0"/>
              </a:spcBef>
              <a:spcAft>
                <a:spcPts val="500"/>
              </a:spcAft>
            </a:pPr>
            <a:r>
              <a:rPr sz="2700" b="1" lang="id-ID">
                <a:solidFill>
                  <a:srgbClr val="0B1F2A"/>
                </a:solidFill>
                <a:latin typeface="Arial Narrow"/>
              </a:rPr>
              <a:t>Observasi ruas bertanggal</a:t>
            </a:r>
          </a:p>
        </p:txBody>
      </p:sp>
      <p:sp>
        <p:nvSpPr>
          <p:cNvPr id="15" name="TextBox 14"/>
          <p:cNvSpPr txBox="1"/>
          <p:nvPr/>
        </p:nvSpPr>
        <p:spPr>
          <a:xfrm>
            <a:off x="4425696" y="3886200"/>
            <a:ext cx="3337560" cy="1005840"/>
          </a:xfrm>
          <a:prstGeom prst="rect">
            <a:avLst/>
          </a:prstGeom>
          <a:noFill/>
          <a:effectLst/>
        </p:spPr>
        <p:txBody>
          <a:bodyPr wrap="square" lIns="0" rIns="0" tIns="0" bIns="0">
            <a:spAutoFit/>
          </a:bodyPr>
          <a:lstStyle/>
          <a:p>
            <a:pPr>
              <a:lnSpc>
                <a:spcPct val="104000"/>
              </a:lnSpc>
              <a:spcBef>
                <a:spcPts val="0"/>
              </a:spcBef>
              <a:spcAft>
                <a:spcPts val="500"/>
              </a:spcAft>
            </a:pPr>
            <a:r>
              <a:rPr sz="1900" b="0" lang="id-ID">
                <a:solidFill>
                  <a:srgbClr val="46626F"/>
                </a:solidFill>
                <a:latin typeface="Arial"/>
              </a:rPr>
              <a:t>Catat lokasi, waktu,</a:t>
            </a:r>
          </a:p>
          <a:p>
            <a:pPr>
              <a:lnSpc>
                <a:spcPct val="104000"/>
              </a:lnSpc>
              <a:spcBef>
                <a:spcPts val="0"/>
              </a:spcBef>
              <a:spcAft>
                <a:spcPts val="500"/>
              </a:spcAft>
            </a:pPr>
            <a:r>
              <a:rPr sz="1900" b="0" lang="id-ID">
                <a:solidFill>
                  <a:srgbClr val="46626F"/>
                </a:solidFill>
                <a:latin typeface="Arial"/>
              </a:rPr>
              <a:t>kedalaman, dan kondisi jalan.</a:t>
            </a:r>
          </a:p>
        </p:txBody>
      </p:sp>
      <p:sp>
        <p:nvSpPr>
          <p:cNvPr id="16" name="Rectangle 15"/>
          <p:cNvSpPr/>
          <p:nvPr/>
        </p:nvSpPr>
        <p:spPr>
          <a:xfrm>
            <a:off x="4425696" y="5065776"/>
            <a:ext cx="3337560" cy="13716"/>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4425696" y="5340096"/>
            <a:ext cx="3337560" cy="685800"/>
          </a:xfrm>
          <a:prstGeom prst="rect">
            <a:avLst/>
          </a:prstGeom>
          <a:noFill/>
          <a:effectLst/>
        </p:spPr>
        <p:txBody>
          <a:bodyPr wrap="square" lIns="0" rIns="0" tIns="0" bIns="0">
            <a:spAutoFit/>
          </a:bodyPr>
          <a:lstStyle/>
          <a:p>
            <a:pPr>
              <a:lnSpc>
                <a:spcPct val="104000"/>
              </a:lnSpc>
              <a:spcBef>
                <a:spcPts val="0"/>
              </a:spcBef>
              <a:spcAft>
                <a:spcPts val="500"/>
              </a:spcAft>
            </a:pPr>
            <a:r>
              <a:rPr sz="1800" b="0" lang="id-ID">
                <a:solidFill>
                  <a:srgbClr val="1C7F9E"/>
                </a:solidFill>
                <a:latin typeface="Arial"/>
              </a:rPr>
              <a:t>Uji pada data terpisah;</a:t>
            </a:r>
          </a:p>
          <a:p>
            <a:pPr>
              <a:lnSpc>
                <a:spcPct val="104000"/>
              </a:lnSpc>
              <a:spcBef>
                <a:spcPts val="0"/>
              </a:spcBef>
              <a:spcAft>
                <a:spcPts val="500"/>
              </a:spcAft>
            </a:pPr>
            <a:r>
              <a:rPr sz="1800" b="0" lang="id-ID">
                <a:solidFill>
                  <a:srgbClr val="1C7F9E"/>
                </a:solidFill>
                <a:latin typeface="Arial"/>
              </a:rPr>
              <a:t>laporkan galat dan cakupan.</a:t>
            </a:r>
          </a:p>
        </p:txBody>
      </p:sp>
      <p:sp>
        <p:nvSpPr>
          <p:cNvPr id="18" name="TextBox 17"/>
          <p:cNvSpPr txBox="1"/>
          <p:nvPr/>
        </p:nvSpPr>
        <p:spPr>
          <a:xfrm>
            <a:off x="8302752" y="2313432"/>
            <a:ext cx="3346704" cy="274320"/>
          </a:xfrm>
          <a:prstGeom prst="rect">
            <a:avLst/>
          </a:prstGeom>
          <a:noFill/>
          <a:effectLst/>
        </p:spPr>
        <p:txBody>
          <a:bodyPr wrap="square" lIns="0" rIns="0" tIns="0" bIns="0">
            <a:spAutoFit/>
          </a:bodyPr>
          <a:lstStyle/>
          <a:p>
            <a:pPr>
              <a:lnSpc>
                <a:spcPct val="104000"/>
              </a:lnSpc>
              <a:spcBef>
                <a:spcPts val="0"/>
              </a:spcBef>
              <a:spcAft>
                <a:spcPts val="500"/>
              </a:spcAft>
            </a:pPr>
            <a:r>
              <a:rPr sz="1200" b="1" lang="id-ID">
                <a:solidFill>
                  <a:srgbClr val="1C7F9E"/>
                </a:solidFill>
                <a:latin typeface="Arial"/>
              </a:rPr>
              <a:t>03 / OPERASI</a:t>
            </a:r>
          </a:p>
        </p:txBody>
      </p:sp>
      <p:sp>
        <p:nvSpPr>
          <p:cNvPr id="19" name="TextBox 18"/>
          <p:cNvSpPr txBox="1"/>
          <p:nvPr/>
        </p:nvSpPr>
        <p:spPr>
          <a:xfrm>
            <a:off x="8302752" y="2843784"/>
            <a:ext cx="3337560" cy="850392"/>
          </a:xfrm>
          <a:prstGeom prst="rect">
            <a:avLst/>
          </a:prstGeom>
          <a:noFill/>
          <a:effectLst/>
        </p:spPr>
        <p:txBody>
          <a:bodyPr wrap="square" lIns="0" rIns="0" tIns="0" bIns="0">
            <a:spAutoFit/>
          </a:bodyPr>
          <a:lstStyle/>
          <a:p>
            <a:pPr>
              <a:lnSpc>
                <a:spcPct val="104000"/>
              </a:lnSpc>
              <a:spcBef>
                <a:spcPts val="0"/>
              </a:spcBef>
              <a:spcAft>
                <a:spcPts val="500"/>
              </a:spcAft>
            </a:pPr>
            <a:r>
              <a:rPr sz="2700" b="1" lang="id-ID">
                <a:solidFill>
                  <a:srgbClr val="0B1F2A"/>
                </a:solidFill>
                <a:latin typeface="Arial Narrow"/>
              </a:rPr>
              <a:t>Pembaruan &amp; pemantauan</a:t>
            </a:r>
          </a:p>
        </p:txBody>
      </p:sp>
      <p:sp>
        <p:nvSpPr>
          <p:cNvPr id="20" name="TextBox 19"/>
          <p:cNvSpPr txBox="1"/>
          <p:nvPr/>
        </p:nvSpPr>
        <p:spPr>
          <a:xfrm>
            <a:off x="8302752" y="3886200"/>
            <a:ext cx="3337560" cy="1005840"/>
          </a:xfrm>
          <a:prstGeom prst="rect">
            <a:avLst/>
          </a:prstGeom>
          <a:noFill/>
          <a:effectLst/>
        </p:spPr>
        <p:txBody>
          <a:bodyPr wrap="square" lIns="0" rIns="0" tIns="0" bIns="0">
            <a:spAutoFit/>
          </a:bodyPr>
          <a:lstStyle/>
          <a:p>
            <a:pPr>
              <a:lnSpc>
                <a:spcPct val="104000"/>
              </a:lnSpc>
              <a:spcBef>
                <a:spcPts val="0"/>
              </a:spcBef>
              <a:spcAft>
                <a:spcPts val="500"/>
              </a:spcAft>
            </a:pPr>
            <a:r>
              <a:rPr sz="1900" b="0" lang="id-ID">
                <a:solidFill>
                  <a:srgbClr val="46626F"/>
                </a:solidFill>
                <a:latin typeface="Arial"/>
              </a:rPr>
              <a:t>Tetapkan pemilik dataset,</a:t>
            </a:r>
          </a:p>
          <a:p>
            <a:pPr>
              <a:lnSpc>
                <a:spcPct val="104000"/>
              </a:lnSpc>
              <a:spcBef>
                <a:spcPts val="0"/>
              </a:spcBef>
              <a:spcAft>
                <a:spcPts val="500"/>
              </a:spcAft>
            </a:pPr>
            <a:r>
              <a:rPr sz="1900" b="0" lang="id-ID">
                <a:solidFill>
                  <a:srgbClr val="46626F"/>
                </a:solidFill>
                <a:latin typeface="Arial"/>
              </a:rPr>
              <a:t>jadwal publikasi, dan biaya.</a:t>
            </a:r>
          </a:p>
        </p:txBody>
      </p:sp>
      <p:sp>
        <p:nvSpPr>
          <p:cNvPr id="21" name="Rectangle 20"/>
          <p:cNvSpPr/>
          <p:nvPr/>
        </p:nvSpPr>
        <p:spPr>
          <a:xfrm>
            <a:off x="8302752" y="5065776"/>
            <a:ext cx="3337560" cy="13716"/>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8302752" y="5340096"/>
            <a:ext cx="3337560" cy="685800"/>
          </a:xfrm>
          <a:prstGeom prst="rect">
            <a:avLst/>
          </a:prstGeom>
          <a:noFill/>
          <a:effectLst/>
        </p:spPr>
        <p:txBody>
          <a:bodyPr wrap="square" lIns="0" rIns="0" tIns="0" bIns="0">
            <a:spAutoFit/>
          </a:bodyPr>
          <a:lstStyle/>
          <a:p>
            <a:pPr>
              <a:lnSpc>
                <a:spcPct val="104000"/>
              </a:lnSpc>
              <a:spcBef>
                <a:spcPts val="0"/>
              </a:spcBef>
              <a:spcAft>
                <a:spcPts val="500"/>
              </a:spcAft>
            </a:pPr>
            <a:r>
              <a:rPr sz="1800" b="0" lang="id-ID">
                <a:solidFill>
                  <a:srgbClr val="1C7F9E"/>
                </a:solidFill>
                <a:latin typeface="Arial"/>
              </a:rPr>
              <a:t>Pantau umur data, latensi,</a:t>
            </a:r>
          </a:p>
          <a:p>
            <a:pPr>
              <a:lnSpc>
                <a:spcPct val="104000"/>
              </a:lnSpc>
              <a:spcBef>
                <a:spcPts val="0"/>
              </a:spcBef>
              <a:spcAft>
                <a:spcPts val="500"/>
              </a:spcAft>
            </a:pPr>
            <a:r>
              <a:rPr sz="1800" b="0" lang="id-ID">
                <a:solidFill>
                  <a:srgbClr val="1C7F9E"/>
                </a:solidFill>
                <a:latin typeface="Arial"/>
              </a:rPr>
              <a:t>RAM, serta galat layanan.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F2A"/>
        </a:solidFill>
        <a:effectLst/>
      </p:bgPr>
    </p:bg>
    <p:spTree>
      <p:nvGrpSpPr>
        <p:cNvPr id="1" name=""/>
        <p:cNvGrpSpPr/>
        <p:nvPr/>
      </p:nvGrpSpPr>
      <p:grpSpPr/>
      <p:sp>
        <p:nvSpPr>
          <p:cNvPr id="2" name="TextBox 1"/>
          <p:cNvSpPr txBox="1"/>
          <p:nvPr/>
        </p:nvSpPr>
        <p:spPr>
          <a:xfrm>
            <a:off x="502920" y="320040"/>
            <a:ext cx="9144000" cy="274320"/>
          </a:xfrm>
          <a:prstGeom prst="rect">
            <a:avLst/>
          </a:prstGeom>
          <a:noFill/>
          <a:effectLst/>
        </p:spPr>
        <p:txBody>
          <a:bodyPr wrap="square" lIns="0" rIns="0" tIns="0" bIns="0">
            <a:spAutoFit/>
          </a:bodyPr>
          <a:lstStyle/>
          <a:p>
            <a:pPr>
              <a:lnSpc>
                <a:spcPct val="104000"/>
              </a:lnSpc>
              <a:spcBef>
                <a:spcPts val="0"/>
              </a:spcBef>
              <a:spcAft>
                <a:spcPts val="500"/>
              </a:spcAft>
            </a:pPr>
            <a:r>
              <a:rPr sz="1200" b="1" lang="id-ID">
                <a:solidFill>
                  <a:srgbClr val="4FB3C4"/>
                </a:solidFill>
                <a:latin typeface="Arial"/>
              </a:rPr>
              <a:t>PASANG SURUT / TRIO LA ALBICELESTE</a:t>
            </a:r>
          </a:p>
        </p:txBody>
      </p:sp>
      <p:sp>
        <p:nvSpPr>
          <p:cNvPr id="3" name="TextBox 2"/>
          <p:cNvSpPr txBox="1"/>
          <p:nvPr/>
        </p:nvSpPr>
        <p:spPr>
          <a:xfrm>
            <a:off x="502920" y="777240"/>
            <a:ext cx="11201400" cy="576072"/>
          </a:xfrm>
          <a:prstGeom prst="rect">
            <a:avLst/>
          </a:prstGeom>
          <a:noFill/>
          <a:effectLst/>
        </p:spPr>
        <p:txBody>
          <a:bodyPr wrap="square" lIns="0" rIns="0" tIns="0" bIns="0">
            <a:spAutoFit/>
          </a:bodyPr>
          <a:lstStyle/>
          <a:p>
            <a:pPr>
              <a:lnSpc>
                <a:spcPct val="104000"/>
              </a:lnSpc>
              <a:spcBef>
                <a:spcPts val="0"/>
              </a:spcBef>
              <a:spcAft>
                <a:spcPts val="500"/>
              </a:spcAft>
            </a:pPr>
            <a:r>
              <a:rPr sz="3400" b="1" lang="id-ID">
                <a:solidFill>
                  <a:srgbClr val="E8F1F4"/>
                </a:solidFill>
                <a:latin typeface="Arial Narrow"/>
              </a:rPr>
              <a:t>Bandingkan rute. Pilih waktu.</a:t>
            </a:r>
          </a:p>
        </p:txBody>
      </p:sp>
      <p:sp>
        <p:nvSpPr>
          <p:cNvPr id="4" name="Rectangle 3"/>
          <p:cNvSpPr/>
          <p:nvPr/>
        </p:nvSpPr>
        <p:spPr>
          <a:xfrm>
            <a:off x="502920" y="6446520"/>
            <a:ext cx="11183112" cy="13716"/>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02920" y="6537960"/>
            <a:ext cx="10698480" cy="182880"/>
          </a:xfrm>
          <a:prstGeom prst="rect">
            <a:avLst/>
          </a:prstGeom>
          <a:noFill/>
          <a:effectLst/>
        </p:spPr>
        <p:txBody>
          <a:bodyPr wrap="square" lIns="0" rIns="0" tIns="0" bIns="0">
            <a:spAutoFit/>
          </a:bodyPr>
          <a:lstStyle/>
          <a:p>
            <a:pPr>
              <a:lnSpc>
                <a:spcPct val="104000"/>
              </a:lnSpc>
              <a:spcBef>
                <a:spcPts val="0"/>
              </a:spcBef>
              <a:spcAft>
                <a:spcPts val="500"/>
              </a:spcAft>
            </a:pPr>
            <a:r>
              <a:rPr sz="1000" b="0" lang="id-ID">
                <a:solidFill>
                  <a:srgbClr val="ABC0CA"/>
                </a:solidFill>
                <a:latin typeface="Arial"/>
              </a:rPr>
              <a:t>ANFORCOM 2026  •  Smart Low-Carbon Urban Mobility  •  ITS Surabaya</a:t>
            </a:r>
          </a:p>
        </p:txBody>
      </p:sp>
      <p:sp>
        <p:nvSpPr>
          <p:cNvPr id="6" name="TextBox 5"/>
          <p:cNvSpPr txBox="1"/>
          <p:nvPr/>
        </p:nvSpPr>
        <p:spPr>
          <a:xfrm>
            <a:off x="11292840" y="6501384"/>
            <a:ext cx="384048" cy="246888"/>
          </a:xfrm>
          <a:prstGeom prst="rect">
            <a:avLst/>
          </a:prstGeom>
          <a:noFill/>
          <a:effectLst/>
        </p:spPr>
        <p:txBody>
          <a:bodyPr wrap="square" lIns="0" rIns="0" tIns="0" bIns="0">
            <a:spAutoFit/>
          </a:bodyPr>
          <a:lstStyle/>
          <a:p>
            <a:pPr algn="r">
              <a:lnSpc>
                <a:spcPct val="104000"/>
              </a:lnSpc>
              <a:spcBef>
                <a:spcPts val="0"/>
              </a:spcBef>
              <a:spcAft>
                <a:spcPts val="500"/>
              </a:spcAft>
            </a:pPr>
            <a:r>
              <a:rPr sz="1400" b="1" lang="id-ID">
                <a:solidFill>
                  <a:srgbClr val="ABC0CA"/>
                </a:solidFill>
                <a:latin typeface="Arial"/>
              </a:rPr>
              <a:t>08</a:t>
            </a:r>
          </a:p>
        </p:txBody>
      </p:sp>
      <p:sp>
        <p:nvSpPr>
          <p:cNvPr id="7" name="TextBox 6"/>
          <p:cNvSpPr txBox="1"/>
          <p:nvPr/>
        </p:nvSpPr>
        <p:spPr>
          <a:xfrm>
            <a:off x="548640" y="2057400"/>
            <a:ext cx="6903720" cy="1737360"/>
          </a:xfrm>
          <a:prstGeom prst="rect">
            <a:avLst/>
          </a:prstGeom>
          <a:noFill/>
          <a:effectLst/>
        </p:spPr>
        <p:txBody>
          <a:bodyPr wrap="square" lIns="0" rIns="0" tIns="0" bIns="0">
            <a:spAutoFit/>
          </a:bodyPr>
          <a:lstStyle/>
          <a:p>
            <a:pPr>
              <a:lnSpc>
                <a:spcPct val="104000"/>
              </a:lnSpc>
              <a:spcBef>
                <a:spcPts val="0"/>
              </a:spcBef>
              <a:spcAft>
                <a:spcPts val="500"/>
              </a:spcAft>
            </a:pPr>
            <a:r>
              <a:rPr sz="5200" b="1" lang="id-ID">
                <a:solidFill>
                  <a:srgbClr val="E8F1F4"/>
                </a:solidFill>
                <a:latin typeface="Arial Narrow"/>
              </a:rPr>
              <a:t>Pahami</a:t>
            </a:r>
          </a:p>
          <a:p>
            <a:pPr>
              <a:lnSpc>
                <a:spcPct val="104000"/>
              </a:lnSpc>
              <a:spcBef>
                <a:spcPts val="0"/>
              </a:spcBef>
              <a:spcAft>
                <a:spcPts val="500"/>
              </a:spcAft>
            </a:pPr>
            <a:r>
              <a:rPr sz="5200" b="1" lang="id-ID">
                <a:solidFill>
                  <a:srgbClr val="E8F1F4"/>
                </a:solidFill>
                <a:latin typeface="Arial Narrow"/>
              </a:rPr>
              <a:t>konsekuensinya.</a:t>
            </a:r>
          </a:p>
        </p:txBody>
      </p:sp>
      <p:sp>
        <p:nvSpPr>
          <p:cNvPr id="8" name="TextBox 7"/>
          <p:cNvSpPr txBox="1"/>
          <p:nvPr/>
        </p:nvSpPr>
        <p:spPr>
          <a:xfrm>
            <a:off x="594360" y="4069080"/>
            <a:ext cx="6693408" cy="1371600"/>
          </a:xfrm>
          <a:prstGeom prst="rect">
            <a:avLst/>
          </a:prstGeom>
          <a:noFill/>
          <a:effectLst/>
        </p:spPr>
        <p:txBody>
          <a:bodyPr wrap="square" lIns="0" rIns="0" tIns="0" bIns="0">
            <a:spAutoFit/>
          </a:bodyPr>
          <a:lstStyle/>
          <a:p>
            <a:pPr>
              <a:lnSpc>
                <a:spcPct val="104000"/>
              </a:lnSpc>
              <a:spcBef>
                <a:spcPts val="0"/>
              </a:spcBef>
              <a:spcAft>
                <a:spcPts val="500"/>
              </a:spcAft>
            </a:pPr>
            <a:r>
              <a:rPr sz="2500" b="0" lang="id-ID">
                <a:solidFill>
                  <a:srgbClr val="ABC0CA"/>
                </a:solidFill>
                <a:latin typeface="Arial"/>
              </a:rPr>
              <a:t>Informasi perjalanan pesisir Semarang</a:t>
            </a:r>
          </a:p>
          <a:p>
            <a:pPr>
              <a:lnSpc>
                <a:spcPct val="104000"/>
              </a:lnSpc>
              <a:spcBef>
                <a:spcPts val="0"/>
              </a:spcBef>
              <a:spcAft>
                <a:spcPts val="500"/>
              </a:spcAft>
            </a:pPr>
            <a:r>
              <a:rPr sz="2500" b="0" lang="id-ID">
                <a:solidFill>
                  <a:srgbClr val="ABC0CA"/>
                </a:solidFill>
                <a:latin typeface="Arial"/>
              </a:rPr>
              <a:t>yang bisa dibandingkan, dengan batas</a:t>
            </a:r>
          </a:p>
          <a:p>
            <a:pPr>
              <a:lnSpc>
                <a:spcPct val="104000"/>
              </a:lnSpc>
              <a:spcBef>
                <a:spcPts val="0"/>
              </a:spcBef>
              <a:spcAft>
                <a:spcPts val="500"/>
              </a:spcAft>
            </a:pPr>
            <a:r>
              <a:rPr sz="2500" b="0" lang="id-ID">
                <a:solidFill>
                  <a:srgbClr val="ABC0CA"/>
                </a:solidFill>
                <a:latin typeface="Arial"/>
              </a:rPr>
              <a:t>bukti yang terlihat.</a:t>
            </a:r>
          </a:p>
        </p:txBody>
      </p:sp>
      <p:pic>
        <p:nvPicPr>
          <p:cNvPr id="9" name="Picture 8" descr="qr_aplikasi.png"/>
          <p:cNvPicPr>
            <a:picLocks noChangeAspect="1"/>
          </p:cNvPicPr>
          <p:nvPr/>
        </p:nvPicPr>
        <p:blipFill>
          <a:blip r:embed="rId2"/>
          <a:stretch>
            <a:fillRect/>
          </a:stretch>
        </p:blipFill>
        <p:spPr>
          <a:xfrm>
            <a:off x="8476488" y="2121408"/>
            <a:ext cx="2523744" cy="2523744"/>
          </a:xfrm>
          <a:prstGeom prst="rect">
            <a:avLst/>
          </a:prstGeom>
          <a:effectLst/>
        </p:spPr>
      </p:pic>
      <p:sp>
        <p:nvSpPr>
          <p:cNvPr id="10" name="TextBox 9">
            <a:hlinkClick r:id="rId3"/>
          </p:cNvPr>
          <p:cNvSpPr txBox="1"/>
          <p:nvPr/>
        </p:nvSpPr>
        <p:spPr>
          <a:xfrm>
            <a:off x="8229600" y="4937760"/>
            <a:ext cx="3044952" cy="320040"/>
          </a:xfrm>
          <a:prstGeom prst="rect">
            <a:avLst/>
          </a:prstGeom>
          <a:noFill/>
          <a:effectLst/>
        </p:spPr>
        <p:txBody>
          <a:bodyPr wrap="square" lIns="0" rIns="0" tIns="0" bIns="0">
            <a:spAutoFit/>
          </a:bodyPr>
          <a:lstStyle/>
          <a:p>
            <a:pPr algn="ctr">
              <a:lnSpc>
                <a:spcPct val="104000"/>
              </a:lnSpc>
              <a:spcBef>
                <a:spcPts val="0"/>
              </a:spcBef>
              <a:spcAft>
                <a:spcPts val="500"/>
              </a:spcAft>
            </a:pPr>
            <a:r>
              <a:rPr sz="1800" b="1" lang="id-ID">
                <a:solidFill>
                  <a:srgbClr val="E8F1F4"/>
                </a:solidFill>
                <a:latin typeface="Arial"/>
              </a:rPr>
              <a:t>COBA APLIKASI</a:t>
            </a:r>
          </a:p>
        </p:txBody>
      </p:sp>
      <p:sp>
        <p:nvSpPr>
          <p:cNvPr id="11" name="TextBox 10">
            <a:hlinkClick r:id="rId3"/>
          </p:cNvPr>
          <p:cNvSpPr txBox="1"/>
          <p:nvPr/>
        </p:nvSpPr>
        <p:spPr>
          <a:xfrm>
            <a:off x="7818120" y="5449824"/>
            <a:ext cx="3840480" cy="292608"/>
          </a:xfrm>
          <a:prstGeom prst="rect">
            <a:avLst/>
          </a:prstGeom>
          <a:noFill/>
          <a:effectLst/>
        </p:spPr>
        <p:txBody>
          <a:bodyPr wrap="square" lIns="0" rIns="0" tIns="0" bIns="0">
            <a:spAutoFit/>
          </a:bodyPr>
          <a:lstStyle/>
          <a:p>
            <a:pPr algn="ctr">
              <a:lnSpc>
                <a:spcPct val="104000"/>
              </a:lnSpc>
              <a:spcBef>
                <a:spcPts val="0"/>
              </a:spcBef>
              <a:spcAft>
                <a:spcPts val="500"/>
              </a:spcAft>
            </a:pPr>
            <a:r>
              <a:rPr sz="1500" b="0" lang="id-ID">
                <a:solidFill>
                  <a:srgbClr val="ABC0CA"/>
                </a:solidFill>
                <a:latin typeface="Arial"/>
              </a:rPr>
              <a:t>pasang-surut.vercel.app/app</a:t>
            </a:r>
          </a:p>
        </p:txBody>
      </p:sp>
      <p:sp>
        <p:nvSpPr>
          <p:cNvPr id="12" name="TextBox 11">
            <a:hlinkClick r:id="rId4"/>
          </p:cNvPr>
          <p:cNvSpPr txBox="1"/>
          <p:nvPr/>
        </p:nvSpPr>
        <p:spPr>
          <a:xfrm>
            <a:off x="603504" y="5742432"/>
            <a:ext cx="6400800" cy="310896"/>
          </a:xfrm>
          <a:prstGeom prst="rect">
            <a:avLst/>
          </a:prstGeom>
          <a:noFill/>
          <a:effectLst/>
        </p:spPr>
        <p:txBody>
          <a:bodyPr wrap="square" lIns="0" rIns="0" tIns="0" bIns="0">
            <a:spAutoFit/>
          </a:bodyPr>
          <a:lstStyle/>
          <a:p>
            <a:pPr>
              <a:lnSpc>
                <a:spcPct val="104000"/>
              </a:lnSpc>
              <a:spcBef>
                <a:spcPts val="0"/>
              </a:spcBef>
              <a:spcAft>
                <a:spcPts val="500"/>
              </a:spcAft>
            </a:pPr>
            <a:r>
              <a:rPr sz="1800" b="1" lang="id-ID">
                <a:solidFill>
                  <a:srgbClr val="4FB3C4"/>
                </a:solidFill>
                <a:latin typeface="Arial"/>
              </a:rPr>
              <a:t>Kode &amp; bukti pengujian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show="0">
  <p:cSld>
    <p:bg>
      <p:bgPr>
        <a:solidFill>
          <a:srgbClr val="F2F5F6"/>
        </a:solidFill>
        <a:effectLst/>
      </p:bgPr>
    </p:bg>
    <p:spTree>
      <p:nvGrpSpPr>
        <p:cNvPr id="1" name=""/>
        <p:cNvGrpSpPr/>
        <p:nvPr/>
      </p:nvGrpSpPr>
      <p:grpSpPr/>
      <p:sp>
        <p:nvSpPr>
          <p:cNvPr id="2" name="TextBox 1"/>
          <p:cNvSpPr txBox="1"/>
          <p:nvPr/>
        </p:nvSpPr>
        <p:spPr>
          <a:xfrm>
            <a:off x="502920" y="320040"/>
            <a:ext cx="9144000" cy="274320"/>
          </a:xfrm>
          <a:prstGeom prst="rect">
            <a:avLst/>
          </a:prstGeom>
          <a:noFill/>
          <a:effectLst/>
        </p:spPr>
        <p:txBody>
          <a:bodyPr wrap="square" lIns="0" rIns="0" tIns="0" bIns="0">
            <a:spAutoFit/>
          </a:bodyPr>
          <a:lstStyle/>
          <a:p>
            <a:pPr>
              <a:lnSpc>
                <a:spcPct val="104000"/>
              </a:lnSpc>
              <a:spcBef>
                <a:spcPts val="0"/>
              </a:spcBef>
              <a:spcAft>
                <a:spcPts val="500"/>
              </a:spcAft>
            </a:pPr>
            <a:r>
              <a:rPr sz="1200" b="1" lang="id-ID">
                <a:solidFill>
                  <a:srgbClr val="1C7F9E"/>
                </a:solidFill>
                <a:latin typeface="Arial"/>
              </a:rPr>
              <a:t>LAMPIRAN / CADANGAN DEMO</a:t>
            </a:r>
          </a:p>
        </p:txBody>
      </p:sp>
      <p:sp>
        <p:nvSpPr>
          <p:cNvPr id="3" name="TextBox 2"/>
          <p:cNvSpPr txBox="1"/>
          <p:nvPr/>
        </p:nvSpPr>
        <p:spPr>
          <a:xfrm>
            <a:off x="502920" y="777240"/>
            <a:ext cx="11201400" cy="576072"/>
          </a:xfrm>
          <a:prstGeom prst="rect">
            <a:avLst/>
          </a:prstGeom>
          <a:noFill/>
          <a:effectLst/>
        </p:spPr>
        <p:txBody>
          <a:bodyPr wrap="square" lIns="0" rIns="0" tIns="0" bIns="0">
            <a:spAutoFit/>
          </a:bodyPr>
          <a:lstStyle/>
          <a:p>
            <a:pPr>
              <a:lnSpc>
                <a:spcPct val="104000"/>
              </a:lnSpc>
              <a:spcBef>
                <a:spcPts val="0"/>
              </a:spcBef>
              <a:spcAft>
                <a:spcPts val="500"/>
              </a:spcAft>
            </a:pPr>
            <a:r>
              <a:rPr sz="3400" b="1" lang="id-ID">
                <a:solidFill>
                  <a:srgbClr val="0B1F2A"/>
                </a:solidFill>
                <a:latin typeface="Arial Narrow"/>
              </a:rPr>
              <a:t>26 September, 08.00 WIB — motor</a:t>
            </a:r>
          </a:p>
        </p:txBody>
      </p:sp>
      <p:sp>
        <p:nvSpPr>
          <p:cNvPr id="4" name="Rectangle 3"/>
          <p:cNvSpPr/>
          <p:nvPr/>
        </p:nvSpPr>
        <p:spPr>
          <a:xfrm>
            <a:off x="502920" y="6446520"/>
            <a:ext cx="11183112" cy="13716"/>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02920" y="6537960"/>
            <a:ext cx="10698480" cy="182880"/>
          </a:xfrm>
          <a:prstGeom prst="rect">
            <a:avLst/>
          </a:prstGeom>
          <a:noFill/>
          <a:effectLst/>
        </p:spPr>
        <p:txBody>
          <a:bodyPr wrap="square" lIns="0" rIns="0" tIns="0" bIns="0">
            <a:spAutoFit/>
          </a:bodyPr>
          <a:lstStyle/>
          <a:p>
            <a:pPr>
              <a:lnSpc>
                <a:spcPct val="104000"/>
              </a:lnSpc>
              <a:spcBef>
                <a:spcPts val="0"/>
              </a:spcBef>
              <a:spcAft>
                <a:spcPts val="500"/>
              </a:spcAft>
            </a:pPr>
            <a:r>
              <a:rPr sz="1000" b="0" lang="id-ID">
                <a:solidFill>
                  <a:srgbClr val="46626F"/>
                </a:solidFill>
                <a:latin typeface="Arial"/>
              </a:rPr>
              <a:t>Gambar aplikasi lokal, 23 Sep 2026. Potret bertanggal; bukan laporan kondisi lapangan.</a:t>
            </a:r>
          </a:p>
        </p:txBody>
      </p:sp>
      <p:sp>
        <p:nvSpPr>
          <p:cNvPr id="6" name="TextBox 5"/>
          <p:cNvSpPr txBox="1"/>
          <p:nvPr/>
        </p:nvSpPr>
        <p:spPr>
          <a:xfrm>
            <a:off x="11292840" y="6501384"/>
            <a:ext cx="384048" cy="246888"/>
          </a:xfrm>
          <a:prstGeom prst="rect">
            <a:avLst/>
          </a:prstGeom>
          <a:noFill/>
          <a:effectLst/>
        </p:spPr>
        <p:txBody>
          <a:bodyPr wrap="square" lIns="0" rIns="0" tIns="0" bIns="0">
            <a:spAutoFit/>
          </a:bodyPr>
          <a:lstStyle/>
          <a:p>
            <a:pPr algn="r">
              <a:lnSpc>
                <a:spcPct val="104000"/>
              </a:lnSpc>
              <a:spcBef>
                <a:spcPts val="0"/>
              </a:spcBef>
              <a:spcAft>
                <a:spcPts val="500"/>
              </a:spcAft>
            </a:pPr>
            <a:r>
              <a:rPr sz="1400" b="1" lang="id-ID">
                <a:solidFill>
                  <a:srgbClr val="46626F"/>
                </a:solidFill>
                <a:latin typeface="Arial"/>
              </a:rPr>
              <a:t>09</a:t>
            </a:r>
          </a:p>
        </p:txBody>
      </p:sp>
      <p:pic>
        <p:nvPicPr>
          <p:cNvPr id="7" name="Picture 6" descr="demo_08.png"/>
          <p:cNvPicPr>
            <a:picLocks noChangeAspect="1"/>
          </p:cNvPicPr>
          <p:nvPr/>
        </p:nvPicPr>
        <p:blipFill>
          <a:blip r:embed="rId2"/>
          <a:stretch>
            <a:fillRect/>
          </a:stretch>
        </p:blipFill>
        <p:spPr>
          <a:xfrm>
            <a:off x="548640" y="1627632"/>
            <a:ext cx="7818120" cy="4690872"/>
          </a:xfrm>
          <a:prstGeom prst="rect">
            <a:avLst/>
          </a:prstGeom>
          <a:effectLst/>
        </p:spPr>
      </p:pic>
      <p:sp>
        <p:nvSpPr>
          <p:cNvPr id="8" name="TextBox 7"/>
          <p:cNvSpPr txBox="1"/>
          <p:nvPr/>
        </p:nvSpPr>
        <p:spPr>
          <a:xfrm>
            <a:off x="8732520" y="1874519"/>
            <a:ext cx="2743200" cy="676656"/>
          </a:xfrm>
          <a:prstGeom prst="rect">
            <a:avLst/>
          </a:prstGeom>
          <a:noFill/>
          <a:effectLst/>
        </p:spPr>
        <p:txBody>
          <a:bodyPr wrap="square" lIns="0" rIns="0" tIns="0" bIns="0">
            <a:spAutoFit/>
          </a:bodyPr>
          <a:lstStyle/>
          <a:p>
            <a:pPr>
              <a:lnSpc>
                <a:spcPct val="104000"/>
              </a:lnSpc>
              <a:spcBef>
                <a:spcPts val="0"/>
              </a:spcBef>
              <a:spcAft>
                <a:spcPts val="500"/>
              </a:spcAft>
            </a:pPr>
            <a:r>
              <a:rPr sz="4400" b="1" lang="id-ID">
                <a:solidFill>
                  <a:srgbClr val="1C7F9E"/>
                </a:solidFill>
                <a:latin typeface="Arial Narrow"/>
              </a:rPr>
              <a:t>13,9</a:t>
            </a:r>
          </a:p>
        </p:txBody>
      </p:sp>
      <p:sp>
        <p:nvSpPr>
          <p:cNvPr id="9" name="TextBox 8"/>
          <p:cNvSpPr txBox="1"/>
          <p:nvPr/>
        </p:nvSpPr>
        <p:spPr>
          <a:xfrm>
            <a:off x="8732520" y="2633472"/>
            <a:ext cx="2743200" cy="347472"/>
          </a:xfrm>
          <a:prstGeom prst="rect">
            <a:avLst/>
          </a:prstGeom>
          <a:noFill/>
          <a:effectLst/>
        </p:spPr>
        <p:txBody>
          <a:bodyPr wrap="square" lIns="0" rIns="0" tIns="0" bIns="0">
            <a:spAutoFit/>
          </a:bodyPr>
          <a:lstStyle/>
          <a:p>
            <a:pPr>
              <a:lnSpc>
                <a:spcPct val="104000"/>
              </a:lnSpc>
              <a:spcBef>
                <a:spcPts val="0"/>
              </a:spcBef>
              <a:spcAft>
                <a:spcPts val="500"/>
              </a:spcAft>
            </a:pPr>
            <a:r>
              <a:rPr sz="1800" b="0" lang="id-ID">
                <a:solidFill>
                  <a:srgbClr val="46626F"/>
                </a:solidFill>
                <a:latin typeface="Arial"/>
              </a:rPr>
              <a:t>menit menurut model</a:t>
            </a:r>
          </a:p>
        </p:txBody>
      </p:sp>
      <p:sp>
        <p:nvSpPr>
          <p:cNvPr id="10" name="TextBox 9"/>
          <p:cNvSpPr txBox="1"/>
          <p:nvPr/>
        </p:nvSpPr>
        <p:spPr>
          <a:xfrm>
            <a:off x="8732520" y="3200400"/>
            <a:ext cx="2743200" cy="566928"/>
          </a:xfrm>
          <a:prstGeom prst="rect">
            <a:avLst/>
          </a:prstGeom>
          <a:noFill/>
          <a:effectLst/>
        </p:spPr>
        <p:txBody>
          <a:bodyPr wrap="square" lIns="0" rIns="0" tIns="0" bIns="0">
            <a:spAutoFit/>
          </a:bodyPr>
          <a:lstStyle/>
          <a:p>
            <a:pPr>
              <a:lnSpc>
                <a:spcPct val="104000"/>
              </a:lnSpc>
              <a:spcBef>
                <a:spcPts val="0"/>
              </a:spcBef>
              <a:spcAft>
                <a:spcPts val="500"/>
              </a:spcAft>
            </a:pPr>
            <a:r>
              <a:rPr sz="3200" b="1" lang="id-ID">
                <a:solidFill>
                  <a:srgbClr val="0B1F2A"/>
                </a:solidFill>
                <a:latin typeface="Arial Narrow"/>
              </a:rPr>
              <a:t>10,58 km</a:t>
            </a:r>
          </a:p>
        </p:txBody>
      </p:sp>
      <p:sp>
        <p:nvSpPr>
          <p:cNvPr id="11" name="TextBox 10"/>
          <p:cNvSpPr txBox="1"/>
          <p:nvPr/>
        </p:nvSpPr>
        <p:spPr>
          <a:xfrm>
            <a:off x="8732520" y="4069080"/>
            <a:ext cx="2834640" cy="1389888"/>
          </a:xfrm>
          <a:prstGeom prst="rect">
            <a:avLst/>
          </a:prstGeom>
          <a:noFill/>
          <a:effectLst/>
        </p:spPr>
        <p:txBody>
          <a:bodyPr wrap="square" lIns="0" rIns="0" tIns="0" bIns="0">
            <a:spAutoFit/>
          </a:bodyPr>
          <a:lstStyle/>
          <a:p>
            <a:pPr>
              <a:lnSpc>
                <a:spcPct val="104000"/>
              </a:lnSpc>
              <a:spcBef>
                <a:spcPts val="0"/>
              </a:spcBef>
              <a:spcAft>
                <a:spcPts val="500"/>
              </a:spcAft>
            </a:pPr>
            <a:r>
              <a:rPr sz="2000" b="0" lang="id-ID">
                <a:solidFill>
                  <a:srgbClr val="0B1F2A"/>
                </a:solidFill>
                <a:latin typeface="Arial"/>
              </a:rPr>
              <a:t>Masih menembus</a:t>
            </a:r>
          </a:p>
          <a:p>
            <a:pPr>
              <a:lnSpc>
                <a:spcPct val="104000"/>
              </a:lnSpc>
              <a:spcBef>
                <a:spcPts val="0"/>
              </a:spcBef>
              <a:spcAft>
                <a:spcPts val="500"/>
              </a:spcAft>
            </a:pPr>
            <a:r>
              <a:rPr sz="2000" b="0" lang="id-ID">
                <a:solidFill>
                  <a:srgbClr val="0B1F2A"/>
                </a:solidFill>
                <a:latin typeface="Arial"/>
              </a:rPr>
              <a:t>14 ruas tergenang</a:t>
            </a:r>
          </a:p>
          <a:p>
            <a:pPr>
              <a:lnSpc>
                <a:spcPct val="104000"/>
              </a:lnSpc>
              <a:spcBef>
                <a:spcPts val="0"/>
              </a:spcBef>
              <a:spcAft>
                <a:spcPts val="500"/>
              </a:spcAft>
            </a:pPr>
            <a:r>
              <a:rPr sz="2000" b="0" lang="id-ID">
                <a:solidFill>
                  <a:srgbClr val="0B1F2A"/>
                </a:solidFill>
                <a:latin typeface="Arial"/>
              </a:rPr>
              <a:t>menurut model.</a:t>
            </a:r>
          </a:p>
        </p:txBody>
      </p:sp>
      <p:sp>
        <p:nvSpPr>
          <p:cNvPr id="12" name="TextBox 11"/>
          <p:cNvSpPr txBox="1"/>
          <p:nvPr/>
        </p:nvSpPr>
        <p:spPr>
          <a:xfrm>
            <a:off x="8732520" y="5605272"/>
            <a:ext cx="2880360" cy="585216"/>
          </a:xfrm>
          <a:prstGeom prst="rect">
            <a:avLst/>
          </a:prstGeom>
          <a:noFill/>
          <a:effectLst/>
        </p:spPr>
        <p:txBody>
          <a:bodyPr wrap="square" lIns="0" rIns="0" tIns="0" bIns="0">
            <a:spAutoFit/>
          </a:bodyPr>
          <a:lstStyle/>
          <a:p>
            <a:pPr>
              <a:lnSpc>
                <a:spcPct val="104000"/>
              </a:lnSpc>
              <a:spcBef>
                <a:spcPts val="0"/>
              </a:spcBef>
              <a:spcAft>
                <a:spcPts val="500"/>
              </a:spcAft>
            </a:pPr>
            <a:r>
              <a:rPr sz="1600" b="0" lang="id-ID">
                <a:solidFill>
                  <a:srgbClr val="1C7F9E"/>
                </a:solidFill>
                <a:latin typeface="Arial"/>
              </a:rPr>
              <a:t>Kembali ke metode:</a:t>
            </a:r>
          </a:p>
          <a:p>
            <a:pPr>
              <a:lnSpc>
                <a:spcPct val="104000"/>
              </a:lnSpc>
              <a:spcBef>
                <a:spcPts val="0"/>
              </a:spcBef>
              <a:spcAft>
                <a:spcPts val="500"/>
              </a:spcAft>
            </a:pPr>
            <a:r>
              <a:rPr sz="1600" b="0" lang="id-ID">
                <a:solidFill>
                  <a:srgbClr val="1C7F9E"/>
                </a:solidFill>
                <a:latin typeface="Arial"/>
              </a:rPr>
              <a:t>tekan 4 lalu Enter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show="0">
  <p:cSld>
    <p:bg>
      <p:bgPr>
        <a:solidFill>
          <a:srgbClr val="F2F5F6"/>
        </a:solidFill>
        <a:effectLst/>
      </p:bgPr>
    </p:bg>
    <p:spTree>
      <p:nvGrpSpPr>
        <p:cNvPr id="1" name=""/>
        <p:cNvGrpSpPr/>
        <p:nvPr/>
      </p:nvGrpSpPr>
      <p:grpSpPr/>
      <p:sp>
        <p:nvSpPr>
          <p:cNvPr id="2" name="TextBox 1"/>
          <p:cNvSpPr txBox="1"/>
          <p:nvPr/>
        </p:nvSpPr>
        <p:spPr>
          <a:xfrm>
            <a:off x="502920" y="320040"/>
            <a:ext cx="9144000" cy="274320"/>
          </a:xfrm>
          <a:prstGeom prst="rect">
            <a:avLst/>
          </a:prstGeom>
          <a:noFill/>
          <a:effectLst/>
        </p:spPr>
        <p:txBody>
          <a:bodyPr wrap="square" lIns="0" rIns="0" tIns="0" bIns="0">
            <a:spAutoFit/>
          </a:bodyPr>
          <a:lstStyle/>
          <a:p>
            <a:pPr>
              <a:lnSpc>
                <a:spcPct val="104000"/>
              </a:lnSpc>
              <a:spcBef>
                <a:spcPts val="0"/>
              </a:spcBef>
              <a:spcAft>
                <a:spcPts val="500"/>
              </a:spcAft>
            </a:pPr>
            <a:r>
              <a:rPr sz="1200" b="1" lang="id-ID">
                <a:solidFill>
                  <a:srgbClr val="1C7F9E"/>
                </a:solidFill>
                <a:latin typeface="Arial"/>
              </a:rPr>
              <a:t>LAMPIRAN / CADANGAN DEMO</a:t>
            </a:r>
          </a:p>
        </p:txBody>
      </p:sp>
      <p:sp>
        <p:nvSpPr>
          <p:cNvPr id="3" name="TextBox 2"/>
          <p:cNvSpPr txBox="1"/>
          <p:nvPr/>
        </p:nvSpPr>
        <p:spPr>
          <a:xfrm>
            <a:off x="502920" y="777240"/>
            <a:ext cx="11201400" cy="576072"/>
          </a:xfrm>
          <a:prstGeom prst="rect">
            <a:avLst/>
          </a:prstGeom>
          <a:noFill/>
          <a:effectLst/>
        </p:spPr>
        <p:txBody>
          <a:bodyPr wrap="square" lIns="0" rIns="0" tIns="0" bIns="0">
            <a:spAutoFit/>
          </a:bodyPr>
          <a:lstStyle/>
          <a:p>
            <a:pPr>
              <a:lnSpc>
                <a:spcPct val="104000"/>
              </a:lnSpc>
              <a:spcBef>
                <a:spcPts val="0"/>
              </a:spcBef>
              <a:spcAft>
                <a:spcPts val="500"/>
              </a:spcAft>
            </a:pPr>
            <a:r>
              <a:rPr sz="3400" b="1" lang="id-ID">
                <a:solidFill>
                  <a:srgbClr val="0B1F2A"/>
                </a:solidFill>
                <a:latin typeface="Arial Narrow"/>
              </a:rPr>
              <a:t>26 September, 13.00 WIB — motor</a:t>
            </a:r>
          </a:p>
        </p:txBody>
      </p:sp>
      <p:sp>
        <p:nvSpPr>
          <p:cNvPr id="4" name="Rectangle 3"/>
          <p:cNvSpPr/>
          <p:nvPr/>
        </p:nvSpPr>
        <p:spPr>
          <a:xfrm>
            <a:off x="502920" y="6446520"/>
            <a:ext cx="11183112" cy="13716"/>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02920" y="6537960"/>
            <a:ext cx="10698480" cy="182880"/>
          </a:xfrm>
          <a:prstGeom prst="rect">
            <a:avLst/>
          </a:prstGeom>
          <a:noFill/>
          <a:effectLst/>
        </p:spPr>
        <p:txBody>
          <a:bodyPr wrap="square" lIns="0" rIns="0" tIns="0" bIns="0">
            <a:spAutoFit/>
          </a:bodyPr>
          <a:lstStyle/>
          <a:p>
            <a:pPr>
              <a:lnSpc>
                <a:spcPct val="104000"/>
              </a:lnSpc>
              <a:spcBef>
                <a:spcPts val="0"/>
              </a:spcBef>
              <a:spcAft>
                <a:spcPts val="500"/>
              </a:spcAft>
            </a:pPr>
            <a:r>
              <a:rPr sz="1000" b="0" lang="id-ID">
                <a:solidFill>
                  <a:srgbClr val="46626F"/>
                </a:solidFill>
                <a:latin typeface="Arial"/>
              </a:rPr>
              <a:t>Gambar aplikasi lokal, 23 Sep 2026. Potret bertanggal; bukan laporan kondisi lapangan.</a:t>
            </a:r>
          </a:p>
        </p:txBody>
      </p:sp>
      <p:sp>
        <p:nvSpPr>
          <p:cNvPr id="6" name="TextBox 5"/>
          <p:cNvSpPr txBox="1"/>
          <p:nvPr/>
        </p:nvSpPr>
        <p:spPr>
          <a:xfrm>
            <a:off x="11292840" y="6501384"/>
            <a:ext cx="384048" cy="246888"/>
          </a:xfrm>
          <a:prstGeom prst="rect">
            <a:avLst/>
          </a:prstGeom>
          <a:noFill/>
          <a:effectLst/>
        </p:spPr>
        <p:txBody>
          <a:bodyPr wrap="square" lIns="0" rIns="0" tIns="0" bIns="0">
            <a:spAutoFit/>
          </a:bodyPr>
          <a:lstStyle/>
          <a:p>
            <a:pPr algn="r">
              <a:lnSpc>
                <a:spcPct val="104000"/>
              </a:lnSpc>
              <a:spcBef>
                <a:spcPts val="0"/>
              </a:spcBef>
              <a:spcAft>
                <a:spcPts val="500"/>
              </a:spcAft>
            </a:pPr>
            <a:r>
              <a:rPr sz="1400" b="1" lang="id-ID">
                <a:solidFill>
                  <a:srgbClr val="46626F"/>
                </a:solidFill>
                <a:latin typeface="Arial"/>
              </a:rPr>
              <a:t>10</a:t>
            </a:r>
          </a:p>
        </p:txBody>
      </p:sp>
      <p:pic>
        <p:nvPicPr>
          <p:cNvPr id="7" name="Picture 6" descr="demo_13.png"/>
          <p:cNvPicPr>
            <a:picLocks noChangeAspect="1"/>
          </p:cNvPicPr>
          <p:nvPr/>
        </p:nvPicPr>
        <p:blipFill>
          <a:blip r:embed="rId2"/>
          <a:stretch>
            <a:fillRect/>
          </a:stretch>
        </p:blipFill>
        <p:spPr>
          <a:xfrm>
            <a:off x="548640" y="1627632"/>
            <a:ext cx="7818120" cy="4690872"/>
          </a:xfrm>
          <a:prstGeom prst="rect">
            <a:avLst/>
          </a:prstGeom>
          <a:effectLst/>
        </p:spPr>
      </p:pic>
      <p:sp>
        <p:nvSpPr>
          <p:cNvPr id="8" name="TextBox 7"/>
          <p:cNvSpPr txBox="1"/>
          <p:nvPr/>
        </p:nvSpPr>
        <p:spPr>
          <a:xfrm>
            <a:off x="8732520" y="1874519"/>
            <a:ext cx="2743200" cy="676656"/>
          </a:xfrm>
          <a:prstGeom prst="rect">
            <a:avLst/>
          </a:prstGeom>
          <a:noFill/>
          <a:effectLst/>
        </p:spPr>
        <p:txBody>
          <a:bodyPr wrap="square" lIns="0" rIns="0" tIns="0" bIns="0">
            <a:spAutoFit/>
          </a:bodyPr>
          <a:lstStyle/>
          <a:p>
            <a:pPr>
              <a:lnSpc>
                <a:spcPct val="104000"/>
              </a:lnSpc>
              <a:spcBef>
                <a:spcPts val="0"/>
              </a:spcBef>
              <a:spcAft>
                <a:spcPts val="500"/>
              </a:spcAft>
            </a:pPr>
            <a:r>
              <a:rPr sz="4400" b="1" lang="id-ID">
                <a:solidFill>
                  <a:srgbClr val="1C7F9E"/>
                </a:solidFill>
                <a:latin typeface="Arial Narrow"/>
              </a:rPr>
              <a:t>7,0</a:t>
            </a:r>
          </a:p>
        </p:txBody>
      </p:sp>
      <p:sp>
        <p:nvSpPr>
          <p:cNvPr id="9" name="TextBox 8"/>
          <p:cNvSpPr txBox="1"/>
          <p:nvPr/>
        </p:nvSpPr>
        <p:spPr>
          <a:xfrm>
            <a:off x="8732520" y="2633472"/>
            <a:ext cx="2743200" cy="347472"/>
          </a:xfrm>
          <a:prstGeom prst="rect">
            <a:avLst/>
          </a:prstGeom>
          <a:noFill/>
          <a:effectLst/>
        </p:spPr>
        <p:txBody>
          <a:bodyPr wrap="square" lIns="0" rIns="0" tIns="0" bIns="0">
            <a:spAutoFit/>
          </a:bodyPr>
          <a:lstStyle/>
          <a:p>
            <a:pPr>
              <a:lnSpc>
                <a:spcPct val="104000"/>
              </a:lnSpc>
              <a:spcBef>
                <a:spcPts val="0"/>
              </a:spcBef>
              <a:spcAft>
                <a:spcPts val="500"/>
              </a:spcAft>
            </a:pPr>
            <a:r>
              <a:rPr sz="1800" b="0" lang="id-ID">
                <a:solidFill>
                  <a:srgbClr val="46626F"/>
                </a:solidFill>
                <a:latin typeface="Arial"/>
              </a:rPr>
              <a:t>menit menurut model</a:t>
            </a:r>
          </a:p>
        </p:txBody>
      </p:sp>
      <p:sp>
        <p:nvSpPr>
          <p:cNvPr id="10" name="TextBox 9"/>
          <p:cNvSpPr txBox="1"/>
          <p:nvPr/>
        </p:nvSpPr>
        <p:spPr>
          <a:xfrm>
            <a:off x="8732520" y="3200400"/>
            <a:ext cx="2743200" cy="566928"/>
          </a:xfrm>
          <a:prstGeom prst="rect">
            <a:avLst/>
          </a:prstGeom>
          <a:noFill/>
          <a:effectLst/>
        </p:spPr>
        <p:txBody>
          <a:bodyPr wrap="square" lIns="0" rIns="0" tIns="0" bIns="0">
            <a:spAutoFit/>
          </a:bodyPr>
          <a:lstStyle/>
          <a:p>
            <a:pPr>
              <a:lnSpc>
                <a:spcPct val="104000"/>
              </a:lnSpc>
              <a:spcBef>
                <a:spcPts val="0"/>
              </a:spcBef>
              <a:spcAft>
                <a:spcPts val="500"/>
              </a:spcAft>
            </a:pPr>
            <a:r>
              <a:rPr sz="3200" b="1" lang="id-ID">
                <a:solidFill>
                  <a:srgbClr val="0B1F2A"/>
                </a:solidFill>
                <a:latin typeface="Arial Narrow"/>
              </a:rPr>
              <a:t>6,32 km</a:t>
            </a:r>
          </a:p>
        </p:txBody>
      </p:sp>
      <p:sp>
        <p:nvSpPr>
          <p:cNvPr id="11" name="TextBox 10"/>
          <p:cNvSpPr txBox="1"/>
          <p:nvPr/>
        </p:nvSpPr>
        <p:spPr>
          <a:xfrm>
            <a:off x="8732520" y="4069080"/>
            <a:ext cx="2834640" cy="1389888"/>
          </a:xfrm>
          <a:prstGeom prst="rect">
            <a:avLst/>
          </a:prstGeom>
          <a:noFill/>
          <a:effectLst/>
        </p:spPr>
        <p:txBody>
          <a:bodyPr wrap="square" lIns="0" rIns="0" tIns="0" bIns="0">
            <a:spAutoFit/>
          </a:bodyPr>
          <a:lstStyle/>
          <a:p>
            <a:pPr>
              <a:lnSpc>
                <a:spcPct val="104000"/>
              </a:lnSpc>
              <a:spcBef>
                <a:spcPts val="0"/>
              </a:spcBef>
              <a:spcAft>
                <a:spcPts val="500"/>
              </a:spcAft>
            </a:pPr>
            <a:r>
              <a:rPr sz="2000" b="0" lang="id-ID">
                <a:solidFill>
                  <a:srgbClr val="0B1F2A"/>
                </a:solidFill>
                <a:latin typeface="Arial"/>
              </a:rPr>
              <a:t>Sama dengan pembanding.</a:t>
            </a:r>
          </a:p>
          <a:p>
            <a:pPr>
              <a:lnSpc>
                <a:spcPct val="104000"/>
              </a:lnSpc>
              <a:spcBef>
                <a:spcPts val="0"/>
              </a:spcBef>
              <a:spcAft>
                <a:spcPts val="500"/>
              </a:spcAft>
            </a:pPr>
            <a:r>
              <a:rPr sz="2000" b="0" lang="id-ID">
                <a:solidFill>
                  <a:srgbClr val="0B1F2A"/>
                </a:solidFill>
                <a:latin typeface="Arial"/>
              </a:rPr>
              <a:t>Model tidak memberi</a:t>
            </a:r>
          </a:p>
          <a:p>
            <a:pPr>
              <a:lnSpc>
                <a:spcPct val="104000"/>
              </a:lnSpc>
              <a:spcBef>
                <a:spcPts val="0"/>
              </a:spcBef>
              <a:spcAft>
                <a:spcPts val="500"/>
              </a:spcAft>
            </a:pPr>
            <a:r>
              <a:rPr sz="2000" b="0" lang="id-ID">
                <a:solidFill>
                  <a:srgbClr val="0B1F2A"/>
                </a:solidFill>
                <a:latin typeface="Arial"/>
              </a:rPr>
              <a:t>genangan di rute.</a:t>
            </a:r>
          </a:p>
        </p:txBody>
      </p:sp>
      <p:sp>
        <p:nvSpPr>
          <p:cNvPr id="12" name="TextBox 11"/>
          <p:cNvSpPr txBox="1"/>
          <p:nvPr/>
        </p:nvSpPr>
        <p:spPr>
          <a:xfrm>
            <a:off x="8732520" y="5605272"/>
            <a:ext cx="2880360" cy="585216"/>
          </a:xfrm>
          <a:prstGeom prst="rect">
            <a:avLst/>
          </a:prstGeom>
          <a:noFill/>
          <a:effectLst/>
        </p:spPr>
        <p:txBody>
          <a:bodyPr wrap="square" lIns="0" rIns="0" tIns="0" bIns="0">
            <a:spAutoFit/>
          </a:bodyPr>
          <a:lstStyle/>
          <a:p>
            <a:pPr>
              <a:lnSpc>
                <a:spcPct val="104000"/>
              </a:lnSpc>
              <a:spcBef>
                <a:spcPts val="0"/>
              </a:spcBef>
              <a:spcAft>
                <a:spcPts val="500"/>
              </a:spcAft>
            </a:pPr>
            <a:r>
              <a:rPr sz="1600" b="0" lang="id-ID">
                <a:solidFill>
                  <a:srgbClr val="1C7F9E"/>
                </a:solidFill>
                <a:latin typeface="Arial"/>
              </a:rPr>
              <a:t>Kembali ke metode:</a:t>
            </a:r>
          </a:p>
          <a:p>
            <a:pPr>
              <a:lnSpc>
                <a:spcPct val="104000"/>
              </a:lnSpc>
              <a:spcBef>
                <a:spcPts val="0"/>
              </a:spcBef>
              <a:spcAft>
                <a:spcPts val="500"/>
              </a:spcAft>
            </a:pPr>
            <a:r>
              <a:rPr sz="1600" b="0" lang="id-ID">
                <a:solidFill>
                  <a:srgbClr val="1C7F9E"/>
                </a:solidFill>
                <a:latin typeface="Arial"/>
              </a:rPr>
              <a:t>tekan 4 lalu Enter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F2F5F6"/>
        </a:solidFill>
        <a:effectLst/>
      </p:bgPr>
    </p:bg>
    <p:spTree>
      <p:nvGrpSpPr>
        <p:cNvPr id="1" name=""/>
        <p:cNvGrpSpPr/>
        <p:nvPr/>
      </p:nvGrpSpPr>
      <p:grpSpPr/>
      <p:sp>
        <p:nvSpPr>
          <p:cNvPr id="2" name="TextBox 1"/>
          <p:cNvSpPr txBox="1"/>
          <p:nvPr/>
        </p:nvSpPr>
        <p:spPr>
          <a:xfrm>
            <a:off x="502920" y="320040"/>
            <a:ext cx="9144000" cy="274320"/>
          </a:xfrm>
          <a:prstGeom prst="rect">
            <a:avLst/>
          </a:prstGeom>
          <a:noFill/>
          <a:effectLst/>
        </p:spPr>
        <p:txBody>
          <a:bodyPr wrap="square" lIns="0" rIns="0" tIns="0" bIns="0">
            <a:spAutoFit/>
          </a:bodyPr>
          <a:lstStyle/>
          <a:p>
            <a:pPr>
              <a:lnSpc>
                <a:spcPct val="104000"/>
              </a:lnSpc>
              <a:spcBef>
                <a:spcPts val="0"/>
              </a:spcBef>
              <a:spcAft>
                <a:spcPts val="500"/>
              </a:spcAft>
            </a:pPr>
            <a:r>
              <a:rPr sz="1200" b="1" lang="id-ID">
                <a:solidFill>
                  <a:srgbClr val="1C7F9E"/>
                </a:solidFill>
                <a:latin typeface="Arial"/>
              </a:rPr>
              <a:t>LAMPIRAN / PASUT</a:t>
            </a:r>
          </a:p>
        </p:txBody>
      </p:sp>
      <p:sp>
        <p:nvSpPr>
          <p:cNvPr id="3" name="TextBox 2"/>
          <p:cNvSpPr txBox="1"/>
          <p:nvPr/>
        </p:nvSpPr>
        <p:spPr>
          <a:xfrm>
            <a:off x="502920" y="777240"/>
            <a:ext cx="11201400" cy="576072"/>
          </a:xfrm>
          <a:prstGeom prst="rect">
            <a:avLst/>
          </a:prstGeom>
          <a:noFill/>
          <a:effectLst/>
        </p:spPr>
        <p:txBody>
          <a:bodyPr wrap="square" lIns="0" rIns="0" tIns="0" bIns="0">
            <a:spAutoFit/>
          </a:bodyPr>
          <a:lstStyle/>
          <a:p>
            <a:pPr>
              <a:lnSpc>
                <a:spcPct val="104000"/>
              </a:lnSpc>
              <a:spcBef>
                <a:spcPts val="0"/>
              </a:spcBef>
              <a:spcAft>
                <a:spcPts val="500"/>
              </a:spcAft>
            </a:pPr>
            <a:r>
              <a:rPr sz="3400" b="1" lang="id-ID">
                <a:solidFill>
                  <a:srgbClr val="0B1F2A"/>
                </a:solidFill>
                <a:latin typeface="Arial Narrow"/>
              </a:rPr>
              <a:t>Yang diuji: simpangan muka air</a:t>
            </a:r>
          </a:p>
        </p:txBody>
      </p:sp>
      <p:sp>
        <p:nvSpPr>
          <p:cNvPr id="4" name="TextBox 3"/>
          <p:cNvSpPr txBox="1"/>
          <p:nvPr/>
        </p:nvSpPr>
        <p:spPr>
          <a:xfrm>
            <a:off x="521207" y="1426464"/>
            <a:ext cx="10972800" cy="475488"/>
          </a:xfrm>
          <a:prstGeom prst="rect">
            <a:avLst/>
          </a:prstGeom>
          <a:noFill/>
          <a:effectLst/>
        </p:spPr>
        <p:txBody>
          <a:bodyPr wrap="square" lIns="0" rIns="0" tIns="0" bIns="0">
            <a:spAutoFit/>
          </a:bodyPr>
          <a:lstStyle/>
          <a:p>
            <a:pPr>
              <a:lnSpc>
                <a:spcPct val="104000"/>
              </a:lnSpc>
              <a:spcBef>
                <a:spcPts val="0"/>
              </a:spcBef>
              <a:spcAft>
                <a:spcPts val="500"/>
              </a:spcAft>
            </a:pPr>
            <a:r>
              <a:rPr sz="1700" b="0" lang="id-ID">
                <a:solidFill>
                  <a:srgbClr val="46626F"/>
                </a:solidFill>
                <a:latin typeface="Arial"/>
              </a:rPr>
              <a:t>Kalibrasi 28 Agustus 2026 • IOC stasiun sema • acuan fase yang dipakai: WIB (+7 jam)</a:t>
            </a:r>
          </a:p>
        </p:txBody>
      </p:sp>
      <p:sp>
        <p:nvSpPr>
          <p:cNvPr id="5" name="Rectangle 4"/>
          <p:cNvSpPr/>
          <p:nvPr/>
        </p:nvSpPr>
        <p:spPr>
          <a:xfrm>
            <a:off x="502920" y="6446520"/>
            <a:ext cx="11183112" cy="13716"/>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a:hlinkClick r:id="rId2"/>
          </p:cNvPr>
          <p:cNvSpPr txBox="1"/>
          <p:nvPr/>
        </p:nvSpPr>
        <p:spPr>
          <a:xfrm>
            <a:off x="502920" y="6537960"/>
            <a:ext cx="10698480" cy="182880"/>
          </a:xfrm>
          <a:prstGeom prst="rect">
            <a:avLst/>
          </a:prstGeom>
          <a:noFill/>
          <a:effectLst/>
        </p:spPr>
        <p:txBody>
          <a:bodyPr wrap="square" lIns="0" rIns="0" tIns="0" bIns="0">
            <a:spAutoFit/>
          </a:bodyPr>
          <a:lstStyle/>
          <a:p>
            <a:pPr>
              <a:lnSpc>
                <a:spcPct val="104000"/>
              </a:lnSpc>
              <a:spcBef>
                <a:spcPts val="0"/>
              </a:spcBef>
              <a:spcAft>
                <a:spcPts val="500"/>
              </a:spcAft>
            </a:pPr>
            <a:r>
              <a:rPr sz="1000" b="0" lang="id-ID">
                <a:solidFill>
                  <a:srgbClr val="46626F"/>
                </a:solidFill>
                <a:latin typeface="Arial"/>
              </a:rPr>
              <a:t>docs/validasi.md §3.1; data/referensi/kalibrasi_pasut.json. Batang adalah korelasi pada WIB.</a:t>
            </a:r>
          </a:p>
        </p:txBody>
      </p:sp>
      <p:sp>
        <p:nvSpPr>
          <p:cNvPr id="7" name="TextBox 6"/>
          <p:cNvSpPr txBox="1"/>
          <p:nvPr/>
        </p:nvSpPr>
        <p:spPr>
          <a:xfrm>
            <a:off x="11292840" y="6501384"/>
            <a:ext cx="384048" cy="246888"/>
          </a:xfrm>
          <a:prstGeom prst="rect">
            <a:avLst/>
          </a:prstGeom>
          <a:noFill/>
          <a:effectLst/>
        </p:spPr>
        <p:txBody>
          <a:bodyPr wrap="square" lIns="0" rIns="0" tIns="0" bIns="0">
            <a:spAutoFit/>
          </a:bodyPr>
          <a:lstStyle/>
          <a:p>
            <a:pPr algn="r">
              <a:lnSpc>
                <a:spcPct val="104000"/>
              </a:lnSpc>
              <a:spcBef>
                <a:spcPts val="0"/>
              </a:spcBef>
              <a:spcAft>
                <a:spcPts val="500"/>
              </a:spcAft>
            </a:pPr>
            <a:r>
              <a:rPr sz="1400" b="1" lang="id-ID">
                <a:solidFill>
                  <a:srgbClr val="46626F"/>
                </a:solidFill>
                <a:latin typeface="Arial"/>
              </a:rPr>
              <a:t>11</a:t>
            </a:r>
          </a:p>
        </p:txBody>
      </p:sp>
      <p:sp>
        <p:nvSpPr>
          <p:cNvPr id="8" name="TextBox 7"/>
          <p:cNvSpPr txBox="1"/>
          <p:nvPr/>
        </p:nvSpPr>
        <p:spPr>
          <a:xfrm>
            <a:off x="548640" y="2029968"/>
            <a:ext cx="5669280" cy="365760"/>
          </a:xfrm>
          <a:prstGeom prst="rect">
            <a:avLst/>
          </a:prstGeom>
          <a:noFill/>
          <a:effectLst/>
        </p:spPr>
        <p:txBody>
          <a:bodyPr wrap="square" lIns="0" rIns="0" tIns="0" bIns="0">
            <a:spAutoFit/>
          </a:bodyPr>
          <a:lstStyle/>
          <a:p>
            <a:pPr>
              <a:lnSpc>
                <a:spcPct val="104000"/>
              </a:lnSpc>
              <a:spcBef>
                <a:spcPts val="0"/>
              </a:spcBef>
              <a:spcAft>
                <a:spcPts val="500"/>
              </a:spcAft>
            </a:pPr>
            <a:r>
              <a:rPr sz="2200" b="1" lang="id-ID">
                <a:solidFill>
                  <a:srgbClr val="0B1F2A"/>
                </a:solidFill>
                <a:latin typeface="Arial Narrow"/>
              </a:rPr>
              <a:t>Korelasi menurut panjang jendela</a:t>
            </a:r>
          </a:p>
        </p:txBody>
      </p:sp>
      <p:sp>
        <p:nvSpPr>
          <p:cNvPr id="9" name="TextBox 8"/>
          <p:cNvSpPr txBox="1"/>
          <p:nvPr/>
        </p:nvSpPr>
        <p:spPr>
          <a:xfrm>
            <a:off x="594360" y="2761488"/>
            <a:ext cx="960120" cy="292608"/>
          </a:xfrm>
          <a:prstGeom prst="rect">
            <a:avLst/>
          </a:prstGeom>
          <a:noFill/>
          <a:effectLst/>
        </p:spPr>
        <p:txBody>
          <a:bodyPr wrap="square" lIns="0" rIns="0" tIns="0" bIns="0">
            <a:spAutoFit/>
          </a:bodyPr>
          <a:lstStyle/>
          <a:p>
            <a:pPr>
              <a:lnSpc>
                <a:spcPct val="104000"/>
              </a:lnSpc>
              <a:spcBef>
                <a:spcPts val="0"/>
              </a:spcBef>
              <a:spcAft>
                <a:spcPts val="500"/>
              </a:spcAft>
            </a:pPr>
            <a:r>
              <a:rPr sz="1800" b="0" lang="id-ID">
                <a:solidFill>
                  <a:srgbClr val="46626F"/>
                </a:solidFill>
                <a:latin typeface="Arial"/>
              </a:rPr>
              <a:t>2 hari</a:t>
            </a:r>
          </a:p>
        </p:txBody>
      </p:sp>
      <p:sp>
        <p:nvSpPr>
          <p:cNvPr id="10" name="Rectangle 9"/>
          <p:cNvSpPr/>
          <p:nvPr/>
        </p:nvSpPr>
        <p:spPr>
          <a:xfrm>
            <a:off x="1719072" y="2775204"/>
            <a:ext cx="3749039" cy="292608"/>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719072" y="2775204"/>
            <a:ext cx="3400379" cy="292608"/>
          </a:xfrm>
          <a:prstGeom prst="rect">
            <a:avLst/>
          </a:prstGeom>
          <a:solidFill>
            <a:srgbClr val="1C7F9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5614416" y="2761488"/>
            <a:ext cx="1005840" cy="329184"/>
          </a:xfrm>
          <a:prstGeom prst="rect">
            <a:avLst/>
          </a:prstGeom>
          <a:noFill/>
          <a:effectLst/>
        </p:spPr>
        <p:txBody>
          <a:bodyPr wrap="square" lIns="0" rIns="0" tIns="0" bIns="0">
            <a:spAutoFit/>
          </a:bodyPr>
          <a:lstStyle/>
          <a:p>
            <a:pPr>
              <a:lnSpc>
                <a:spcPct val="104000"/>
              </a:lnSpc>
              <a:spcBef>
                <a:spcPts val="0"/>
              </a:spcBef>
              <a:spcAft>
                <a:spcPts val="500"/>
              </a:spcAft>
            </a:pPr>
            <a:r>
              <a:rPr sz="2000" b="1" lang="id-ID">
                <a:solidFill>
                  <a:srgbClr val="0B1F2A"/>
                </a:solidFill>
                <a:latin typeface="Arial"/>
              </a:rPr>
              <a:t>0,907</a:t>
            </a:r>
          </a:p>
        </p:txBody>
      </p:sp>
      <p:sp>
        <p:nvSpPr>
          <p:cNvPr id="13" name="TextBox 12"/>
          <p:cNvSpPr txBox="1"/>
          <p:nvPr/>
        </p:nvSpPr>
        <p:spPr>
          <a:xfrm>
            <a:off x="594360" y="3392424"/>
            <a:ext cx="960120" cy="292608"/>
          </a:xfrm>
          <a:prstGeom prst="rect">
            <a:avLst/>
          </a:prstGeom>
          <a:noFill/>
          <a:effectLst/>
        </p:spPr>
        <p:txBody>
          <a:bodyPr wrap="square" lIns="0" rIns="0" tIns="0" bIns="0">
            <a:spAutoFit/>
          </a:bodyPr>
          <a:lstStyle/>
          <a:p>
            <a:pPr>
              <a:lnSpc>
                <a:spcPct val="104000"/>
              </a:lnSpc>
              <a:spcBef>
                <a:spcPts val="0"/>
              </a:spcBef>
              <a:spcAft>
                <a:spcPts val="500"/>
              </a:spcAft>
            </a:pPr>
            <a:r>
              <a:rPr sz="1800" b="0" lang="id-ID">
                <a:solidFill>
                  <a:srgbClr val="46626F"/>
                </a:solidFill>
                <a:latin typeface="Arial"/>
              </a:rPr>
              <a:t>4 hari</a:t>
            </a:r>
          </a:p>
        </p:txBody>
      </p:sp>
      <p:sp>
        <p:nvSpPr>
          <p:cNvPr id="14" name="Rectangle 13"/>
          <p:cNvSpPr/>
          <p:nvPr/>
        </p:nvSpPr>
        <p:spPr>
          <a:xfrm>
            <a:off x="1719072" y="3406140"/>
            <a:ext cx="3749039" cy="292608"/>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1719072" y="3406140"/>
            <a:ext cx="3407877" cy="292608"/>
          </a:xfrm>
          <a:prstGeom prst="rect">
            <a:avLst/>
          </a:prstGeom>
          <a:solidFill>
            <a:srgbClr val="1C7F9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614416" y="3392424"/>
            <a:ext cx="1005840" cy="329184"/>
          </a:xfrm>
          <a:prstGeom prst="rect">
            <a:avLst/>
          </a:prstGeom>
          <a:noFill/>
          <a:effectLst/>
        </p:spPr>
        <p:txBody>
          <a:bodyPr wrap="square" lIns="0" rIns="0" tIns="0" bIns="0">
            <a:spAutoFit/>
          </a:bodyPr>
          <a:lstStyle/>
          <a:p>
            <a:pPr>
              <a:lnSpc>
                <a:spcPct val="104000"/>
              </a:lnSpc>
              <a:spcBef>
                <a:spcPts val="0"/>
              </a:spcBef>
              <a:spcAft>
                <a:spcPts val="500"/>
              </a:spcAft>
            </a:pPr>
            <a:r>
              <a:rPr sz="2000" b="1" lang="id-ID">
                <a:solidFill>
                  <a:srgbClr val="0B1F2A"/>
                </a:solidFill>
                <a:latin typeface="Arial"/>
              </a:rPr>
              <a:t>0,909</a:t>
            </a:r>
          </a:p>
        </p:txBody>
      </p:sp>
      <p:sp>
        <p:nvSpPr>
          <p:cNvPr id="17" name="TextBox 16"/>
          <p:cNvSpPr txBox="1"/>
          <p:nvPr/>
        </p:nvSpPr>
        <p:spPr>
          <a:xfrm>
            <a:off x="594360" y="4023360"/>
            <a:ext cx="960120" cy="292608"/>
          </a:xfrm>
          <a:prstGeom prst="rect">
            <a:avLst/>
          </a:prstGeom>
          <a:noFill/>
          <a:effectLst/>
        </p:spPr>
        <p:txBody>
          <a:bodyPr wrap="square" lIns="0" rIns="0" tIns="0" bIns="0">
            <a:spAutoFit/>
          </a:bodyPr>
          <a:lstStyle/>
          <a:p>
            <a:pPr>
              <a:lnSpc>
                <a:spcPct val="104000"/>
              </a:lnSpc>
              <a:spcBef>
                <a:spcPts val="0"/>
              </a:spcBef>
              <a:spcAft>
                <a:spcPts val="500"/>
              </a:spcAft>
            </a:pPr>
            <a:r>
              <a:rPr sz="1800" b="0" lang="id-ID">
                <a:solidFill>
                  <a:srgbClr val="46626F"/>
                </a:solidFill>
                <a:latin typeface="Arial"/>
              </a:rPr>
              <a:t>7 hari</a:t>
            </a:r>
          </a:p>
        </p:txBody>
      </p:sp>
      <p:sp>
        <p:nvSpPr>
          <p:cNvPr id="18" name="Rectangle 17"/>
          <p:cNvSpPr/>
          <p:nvPr/>
        </p:nvSpPr>
        <p:spPr>
          <a:xfrm>
            <a:off x="1719072" y="4037076"/>
            <a:ext cx="3749039" cy="292608"/>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1719072" y="4037076"/>
            <a:ext cx="3216676" cy="292608"/>
          </a:xfrm>
          <a:prstGeom prst="rect">
            <a:avLst/>
          </a:prstGeom>
          <a:solidFill>
            <a:srgbClr val="1C7F9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614416" y="4023360"/>
            <a:ext cx="1005840" cy="329184"/>
          </a:xfrm>
          <a:prstGeom prst="rect">
            <a:avLst/>
          </a:prstGeom>
          <a:noFill/>
          <a:effectLst/>
        </p:spPr>
        <p:txBody>
          <a:bodyPr wrap="square" lIns="0" rIns="0" tIns="0" bIns="0">
            <a:spAutoFit/>
          </a:bodyPr>
          <a:lstStyle/>
          <a:p>
            <a:pPr>
              <a:lnSpc>
                <a:spcPct val="104000"/>
              </a:lnSpc>
              <a:spcBef>
                <a:spcPts val="0"/>
              </a:spcBef>
              <a:spcAft>
                <a:spcPts val="500"/>
              </a:spcAft>
            </a:pPr>
            <a:r>
              <a:rPr sz="2000" b="1" lang="id-ID">
                <a:solidFill>
                  <a:srgbClr val="0B1F2A"/>
                </a:solidFill>
                <a:latin typeface="Arial"/>
              </a:rPr>
              <a:t>0,858</a:t>
            </a:r>
          </a:p>
        </p:txBody>
      </p:sp>
      <p:sp>
        <p:nvSpPr>
          <p:cNvPr id="21" name="TextBox 20"/>
          <p:cNvSpPr txBox="1"/>
          <p:nvPr/>
        </p:nvSpPr>
        <p:spPr>
          <a:xfrm>
            <a:off x="594360" y="4654296"/>
            <a:ext cx="960120" cy="292608"/>
          </a:xfrm>
          <a:prstGeom prst="rect">
            <a:avLst/>
          </a:prstGeom>
          <a:noFill/>
          <a:effectLst/>
        </p:spPr>
        <p:txBody>
          <a:bodyPr wrap="square" lIns="0" rIns="0" tIns="0" bIns="0">
            <a:spAutoFit/>
          </a:bodyPr>
          <a:lstStyle/>
          <a:p>
            <a:pPr>
              <a:lnSpc>
                <a:spcPct val="104000"/>
              </a:lnSpc>
              <a:spcBef>
                <a:spcPts val="0"/>
              </a:spcBef>
              <a:spcAft>
                <a:spcPts val="500"/>
              </a:spcAft>
            </a:pPr>
            <a:r>
              <a:rPr sz="1800" b="0" lang="id-ID">
                <a:solidFill>
                  <a:srgbClr val="46626F"/>
                </a:solidFill>
                <a:latin typeface="Arial"/>
              </a:rPr>
              <a:t>10 hari</a:t>
            </a:r>
          </a:p>
        </p:txBody>
      </p:sp>
      <p:sp>
        <p:nvSpPr>
          <p:cNvPr id="22" name="Rectangle 21"/>
          <p:cNvSpPr/>
          <p:nvPr/>
        </p:nvSpPr>
        <p:spPr>
          <a:xfrm>
            <a:off x="1719072" y="4668012"/>
            <a:ext cx="3749039" cy="292608"/>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1719072" y="4668012"/>
            <a:ext cx="2932124" cy="292608"/>
          </a:xfrm>
          <a:prstGeom prst="rect">
            <a:avLst/>
          </a:prstGeom>
          <a:solidFill>
            <a:srgbClr val="1C7F9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614416" y="4654296"/>
            <a:ext cx="1005840" cy="329184"/>
          </a:xfrm>
          <a:prstGeom prst="rect">
            <a:avLst/>
          </a:prstGeom>
          <a:noFill/>
          <a:effectLst/>
        </p:spPr>
        <p:txBody>
          <a:bodyPr wrap="square" lIns="0" rIns="0" tIns="0" bIns="0">
            <a:spAutoFit/>
          </a:bodyPr>
          <a:lstStyle/>
          <a:p>
            <a:pPr>
              <a:lnSpc>
                <a:spcPct val="104000"/>
              </a:lnSpc>
              <a:spcBef>
                <a:spcPts val="0"/>
              </a:spcBef>
              <a:spcAft>
                <a:spcPts val="500"/>
              </a:spcAft>
            </a:pPr>
            <a:r>
              <a:rPr sz="2000" b="1" lang="id-ID">
                <a:solidFill>
                  <a:srgbClr val="0B1F2A"/>
                </a:solidFill>
                <a:latin typeface="Arial"/>
              </a:rPr>
              <a:t>0,782</a:t>
            </a:r>
          </a:p>
        </p:txBody>
      </p:sp>
      <p:sp>
        <p:nvSpPr>
          <p:cNvPr id="25" name="Rectangle 24"/>
          <p:cNvSpPr/>
          <p:nvPr/>
        </p:nvSpPr>
        <p:spPr>
          <a:xfrm>
            <a:off x="7159752" y="2011680"/>
            <a:ext cx="4480560" cy="2761488"/>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7370064" y="2240280"/>
            <a:ext cx="4069080" cy="438912"/>
          </a:xfrm>
          <a:prstGeom prst="rect">
            <a:avLst/>
          </a:prstGeom>
          <a:noFill/>
          <a:effectLst/>
        </p:spPr>
        <p:txBody>
          <a:bodyPr wrap="square" lIns="0" rIns="0" tIns="0" bIns="0">
            <a:spAutoFit/>
          </a:bodyPr>
          <a:lstStyle/>
          <a:p>
            <a:pPr>
              <a:lnSpc>
                <a:spcPct val="104000"/>
              </a:lnSpc>
              <a:spcBef>
                <a:spcPts val="0"/>
              </a:spcBef>
              <a:spcAft>
                <a:spcPts val="500"/>
              </a:spcAft>
            </a:pPr>
            <a:r>
              <a:rPr sz="2400" b="1" lang="id-ID">
                <a:solidFill>
                  <a:srgbClr val="E8F1F4"/>
                </a:solidFill>
                <a:latin typeface="Arial Narrow"/>
              </a:rPr>
              <a:t>10 hari / 12.317 rekaman</a:t>
            </a:r>
          </a:p>
        </p:txBody>
      </p:sp>
      <p:sp>
        <p:nvSpPr>
          <p:cNvPr id="27" name="TextBox 26"/>
          <p:cNvSpPr txBox="1"/>
          <p:nvPr/>
        </p:nvSpPr>
        <p:spPr>
          <a:xfrm>
            <a:off x="7370064" y="2953512"/>
            <a:ext cx="3840480" cy="1005840"/>
          </a:xfrm>
          <a:prstGeom prst="rect">
            <a:avLst/>
          </a:prstGeom>
          <a:noFill/>
          <a:effectLst/>
        </p:spPr>
        <p:txBody>
          <a:bodyPr wrap="square" lIns="0" rIns="0" tIns="0" bIns="0">
            <a:spAutoFit/>
          </a:bodyPr>
          <a:lstStyle/>
          <a:p>
            <a:pPr>
              <a:lnSpc>
                <a:spcPct val="104000"/>
              </a:lnSpc>
              <a:spcBef>
                <a:spcPts val="0"/>
              </a:spcBef>
              <a:spcAft>
                <a:spcPts val="500"/>
              </a:spcAft>
            </a:pPr>
            <a:r>
              <a:rPr sz="3000" b="1" lang="id-ID">
                <a:solidFill>
                  <a:srgbClr val="E8F1F4"/>
                </a:solidFill>
                <a:latin typeface="Arial Narrow"/>
              </a:rPr>
              <a:t>r = 0,7821</a:t>
            </a:r>
          </a:p>
          <a:p>
            <a:pPr>
              <a:lnSpc>
                <a:spcPct val="104000"/>
              </a:lnSpc>
              <a:spcBef>
                <a:spcPts val="0"/>
              </a:spcBef>
              <a:spcAft>
                <a:spcPts val="500"/>
              </a:spcAft>
            </a:pPr>
            <a:r>
              <a:rPr sz="3000" b="1" lang="id-ID">
                <a:solidFill>
                  <a:srgbClr val="E8F1F4"/>
                </a:solidFill>
                <a:latin typeface="Arial Narrow"/>
              </a:rPr>
              <a:t>RMSE = 0,1155 m</a:t>
            </a:r>
          </a:p>
        </p:txBody>
      </p:sp>
      <p:sp>
        <p:nvSpPr>
          <p:cNvPr id="28" name="TextBox 27"/>
          <p:cNvSpPr txBox="1"/>
          <p:nvPr/>
        </p:nvSpPr>
        <p:spPr>
          <a:xfrm>
            <a:off x="7370064" y="4069080"/>
            <a:ext cx="3950208" cy="640080"/>
          </a:xfrm>
          <a:prstGeom prst="rect">
            <a:avLst/>
          </a:prstGeom>
          <a:noFill/>
          <a:effectLst/>
        </p:spPr>
        <p:txBody>
          <a:bodyPr wrap="square" lIns="0" rIns="0" tIns="0" bIns="0">
            <a:spAutoFit/>
          </a:bodyPr>
          <a:lstStyle/>
          <a:p>
            <a:pPr>
              <a:lnSpc>
                <a:spcPct val="104000"/>
              </a:lnSpc>
              <a:spcBef>
                <a:spcPts val="0"/>
              </a:spcBef>
              <a:spcAft>
                <a:spcPts val="500"/>
              </a:spcAft>
            </a:pPr>
            <a:r>
              <a:rPr sz="1700" b="0" lang="id-ID">
                <a:solidFill>
                  <a:srgbClr val="ABC0CA"/>
                </a:solidFill>
                <a:latin typeface="Arial"/>
              </a:rPr>
              <a:t>Datum berbeda: bandingkan</a:t>
            </a:r>
          </a:p>
          <a:p>
            <a:pPr>
              <a:lnSpc>
                <a:spcPct val="104000"/>
              </a:lnSpc>
              <a:spcBef>
                <a:spcPts val="0"/>
              </a:spcBef>
              <a:spcAft>
                <a:spcPts val="500"/>
              </a:spcAft>
            </a:pPr>
            <a:r>
              <a:rPr sz="1700" b="0" lang="id-ID">
                <a:solidFill>
                  <a:srgbClr val="ABC0CA"/>
                </a:solidFill>
                <a:latin typeface="Arial"/>
              </a:rPr>
              <a:t>simpangan terhadap rata-rata.</a:t>
            </a:r>
          </a:p>
        </p:txBody>
      </p:sp>
      <p:sp>
        <p:nvSpPr>
          <p:cNvPr id="29" name="TextBox 28"/>
          <p:cNvSpPr txBox="1"/>
          <p:nvPr/>
        </p:nvSpPr>
        <p:spPr>
          <a:xfrm>
            <a:off x="594360" y="5376672"/>
            <a:ext cx="10972800" cy="758952"/>
          </a:xfrm>
          <a:prstGeom prst="rect">
            <a:avLst/>
          </a:prstGeom>
          <a:noFill/>
          <a:effectLst/>
        </p:spPr>
        <p:txBody>
          <a:bodyPr wrap="square" lIns="0" rIns="0" tIns="0" bIns="0">
            <a:spAutoFit/>
          </a:bodyPr>
          <a:lstStyle/>
          <a:p>
            <a:pPr>
              <a:lnSpc>
                <a:spcPct val="104000"/>
              </a:lnSpc>
              <a:spcBef>
                <a:spcPts val="0"/>
              </a:spcBef>
              <a:spcAft>
                <a:spcPts val="500"/>
              </a:spcAft>
            </a:pPr>
            <a:r>
              <a:rPr sz="2200" b="0" lang="id-ID">
                <a:solidFill>
                  <a:srgbClr val="46626F"/>
                </a:solidFill>
                <a:latin typeface="Arial"/>
              </a:rPr>
              <a:t>Data juga dipakai memilih acuan waktu. Perlu evaluasi pada jendela baru;</a:t>
            </a:r>
          </a:p>
          <a:p>
            <a:pPr>
              <a:lnSpc>
                <a:spcPct val="104000"/>
              </a:lnSpc>
              <a:spcBef>
                <a:spcPts val="0"/>
              </a:spcBef>
              <a:spcAft>
                <a:spcPts val="500"/>
              </a:spcAft>
            </a:pPr>
            <a:r>
              <a:rPr sz="2200" b="0" lang="id-ID">
                <a:solidFill>
                  <a:srgbClr val="46626F"/>
                </a:solidFill>
                <a:latin typeface="Arial"/>
              </a:rPr>
              <a:t>koreksi nodal belum diterapkan. Hasil ini tidak mengukur genangan jalan.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F2F5F6"/>
        </a:solidFill>
        <a:effectLst/>
      </p:bgPr>
    </p:bg>
    <p:spTree>
      <p:nvGrpSpPr>
        <p:cNvPr id="1" name=""/>
        <p:cNvGrpSpPr/>
        <p:nvPr/>
      </p:nvGrpSpPr>
      <p:grpSpPr/>
      <p:sp>
        <p:nvSpPr>
          <p:cNvPr id="2" name="TextBox 1"/>
          <p:cNvSpPr txBox="1"/>
          <p:nvPr/>
        </p:nvSpPr>
        <p:spPr>
          <a:xfrm>
            <a:off x="502920" y="320040"/>
            <a:ext cx="9144000" cy="274320"/>
          </a:xfrm>
          <a:prstGeom prst="rect">
            <a:avLst/>
          </a:prstGeom>
          <a:noFill/>
          <a:effectLst/>
        </p:spPr>
        <p:txBody>
          <a:bodyPr wrap="square" lIns="0" rIns="0" tIns="0" bIns="0">
            <a:spAutoFit/>
          </a:bodyPr>
          <a:lstStyle/>
          <a:p>
            <a:pPr>
              <a:lnSpc>
                <a:spcPct val="104000"/>
              </a:lnSpc>
              <a:spcBef>
                <a:spcPts val="0"/>
              </a:spcBef>
              <a:spcAft>
                <a:spcPts val="500"/>
              </a:spcAft>
            </a:pPr>
            <a:r>
              <a:rPr sz="1200" b="1" lang="id-ID">
                <a:solidFill>
                  <a:srgbClr val="1C7F9E"/>
                </a:solidFill>
                <a:latin typeface="Arial"/>
              </a:rPr>
              <a:t>LAMPIRAN / PEMILIHAN METODE</a:t>
            </a:r>
          </a:p>
        </p:txBody>
      </p:sp>
      <p:sp>
        <p:nvSpPr>
          <p:cNvPr id="3" name="TextBox 2"/>
          <p:cNvSpPr txBox="1"/>
          <p:nvPr/>
        </p:nvSpPr>
        <p:spPr>
          <a:xfrm>
            <a:off x="502920" y="777240"/>
            <a:ext cx="11201400" cy="576072"/>
          </a:xfrm>
          <a:prstGeom prst="rect">
            <a:avLst/>
          </a:prstGeom>
          <a:noFill/>
          <a:effectLst/>
        </p:spPr>
        <p:txBody>
          <a:bodyPr wrap="square" lIns="0" rIns="0" tIns="0" bIns="0">
            <a:spAutoFit/>
          </a:bodyPr>
          <a:lstStyle/>
          <a:p>
            <a:pPr>
              <a:lnSpc>
                <a:spcPct val="104000"/>
              </a:lnSpc>
              <a:spcBef>
                <a:spcPts val="0"/>
              </a:spcBef>
              <a:spcAft>
                <a:spcPts val="500"/>
              </a:spcAft>
            </a:pPr>
            <a:r>
              <a:rPr sz="3400" b="1" lang="id-ID">
                <a:solidFill>
                  <a:srgbClr val="0B1F2A"/>
                </a:solidFill>
                <a:latin typeface="Arial Narrow"/>
              </a:rPr>
              <a:t>Mengapa rilis memakai indeks kerentanan?</a:t>
            </a:r>
          </a:p>
        </p:txBody>
      </p:sp>
      <p:sp>
        <p:nvSpPr>
          <p:cNvPr id="4" name="Rectangle 3"/>
          <p:cNvSpPr/>
          <p:nvPr/>
        </p:nvSpPr>
        <p:spPr>
          <a:xfrm>
            <a:off x="502920" y="6446520"/>
            <a:ext cx="11183112" cy="13716"/>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 name="TextBox 4"/>
          <p:cNvSpPr txBox="1"/>
          <p:nvPr/>
        </p:nvSpPr>
        <p:spPr>
          <a:xfrm>
            <a:off x="502920" y="6537960"/>
            <a:ext cx="10698480" cy="182880"/>
          </a:xfrm>
          <a:prstGeom prst="rect">
            <a:avLst/>
          </a:prstGeom>
          <a:noFill/>
          <a:effectLst/>
        </p:spPr>
        <p:txBody>
          <a:bodyPr wrap="square" lIns="0" rIns="0" tIns="0" bIns="0">
            <a:spAutoFit/>
          </a:bodyPr>
          <a:lstStyle/>
          <a:p>
            <a:pPr>
              <a:lnSpc>
                <a:spcPct val="104000"/>
              </a:lnSpc>
              <a:spcBef>
                <a:spcPts val="0"/>
              </a:spcBef>
              <a:spcAft>
                <a:spcPts val="500"/>
              </a:spcAft>
            </a:pPr>
            <a:r>
              <a:rPr sz="1000" b="0" lang="id-ID">
                <a:solidFill>
                  <a:srgbClr val="46626F"/>
                </a:solidFill>
                <a:latin typeface="Arial"/>
              </a:rPr>
              <a:t>kerentanan.py; metrik_model.json; koreksi metode pada docs/final/audit_regresi_22_september.md</a:t>
            </a:r>
          </a:p>
        </p:txBody>
      </p:sp>
      <p:sp>
        <p:nvSpPr>
          <p:cNvPr id="6" name="TextBox 5"/>
          <p:cNvSpPr txBox="1"/>
          <p:nvPr/>
        </p:nvSpPr>
        <p:spPr>
          <a:xfrm>
            <a:off x="11292840" y="6501384"/>
            <a:ext cx="384048" cy="246888"/>
          </a:xfrm>
          <a:prstGeom prst="rect">
            <a:avLst/>
          </a:prstGeom>
          <a:noFill/>
          <a:effectLst/>
        </p:spPr>
        <p:txBody>
          <a:bodyPr wrap="square" lIns="0" rIns="0" tIns="0" bIns="0">
            <a:spAutoFit/>
          </a:bodyPr>
          <a:lstStyle/>
          <a:p>
            <a:pPr algn="r">
              <a:lnSpc>
                <a:spcPct val="104000"/>
              </a:lnSpc>
              <a:spcBef>
                <a:spcPts val="0"/>
              </a:spcBef>
              <a:spcAft>
                <a:spcPts val="500"/>
              </a:spcAft>
            </a:pPr>
            <a:r>
              <a:rPr sz="1400" b="1" lang="id-ID">
                <a:solidFill>
                  <a:srgbClr val="46626F"/>
                </a:solidFill>
                <a:latin typeface="Arial"/>
              </a:rPr>
              <a:t>12</a:t>
            </a:r>
          </a:p>
        </p:txBody>
      </p:sp>
      <p:sp>
        <p:nvSpPr>
          <p:cNvPr id="7" name="TextBox 6"/>
          <p:cNvSpPr txBox="1"/>
          <p:nvPr/>
        </p:nvSpPr>
        <p:spPr>
          <a:xfrm>
            <a:off x="548640" y="1828800"/>
            <a:ext cx="5257800" cy="274320"/>
          </a:xfrm>
          <a:prstGeom prst="rect">
            <a:avLst/>
          </a:prstGeom>
          <a:noFill/>
          <a:effectLst/>
        </p:spPr>
        <p:txBody>
          <a:bodyPr wrap="square" lIns="0" rIns="0" tIns="0" bIns="0">
            <a:spAutoFit/>
          </a:bodyPr>
          <a:lstStyle/>
          <a:p>
            <a:pPr>
              <a:lnSpc>
                <a:spcPct val="104000"/>
              </a:lnSpc>
              <a:spcBef>
                <a:spcPts val="0"/>
              </a:spcBef>
              <a:spcAft>
                <a:spcPts val="500"/>
              </a:spcAft>
            </a:pPr>
            <a:r>
              <a:rPr sz="1200" b="1" lang="id-ID">
                <a:solidFill>
                  <a:srgbClr val="1C7F9E"/>
                </a:solidFill>
                <a:latin typeface="Arial"/>
              </a:rPr>
              <a:t>YANG DIPAKAI PADA RILIS</a:t>
            </a:r>
          </a:p>
        </p:txBody>
      </p:sp>
      <p:sp>
        <p:nvSpPr>
          <p:cNvPr id="8" name="TextBox 7"/>
          <p:cNvSpPr txBox="1"/>
          <p:nvPr/>
        </p:nvSpPr>
        <p:spPr>
          <a:xfrm>
            <a:off x="548640" y="2377440"/>
            <a:ext cx="5212080" cy="475488"/>
          </a:xfrm>
          <a:prstGeom prst="rect">
            <a:avLst/>
          </a:prstGeom>
          <a:noFill/>
          <a:effectLst/>
        </p:spPr>
        <p:txBody>
          <a:bodyPr wrap="square" lIns="0" rIns="0" tIns="0" bIns="0">
            <a:spAutoFit/>
          </a:bodyPr>
          <a:lstStyle/>
          <a:p>
            <a:pPr>
              <a:lnSpc>
                <a:spcPct val="104000"/>
              </a:lnSpc>
              <a:spcBef>
                <a:spcPts val="0"/>
              </a:spcBef>
              <a:spcAft>
                <a:spcPts val="500"/>
              </a:spcAft>
            </a:pPr>
            <a:r>
              <a:rPr sz="2900" b="1" lang="id-ID">
                <a:solidFill>
                  <a:srgbClr val="0B1F2A"/>
                </a:solidFill>
                <a:latin typeface="Arial Narrow"/>
              </a:rPr>
              <a:t>3 fitur, bobot sama</a:t>
            </a:r>
          </a:p>
        </p:txBody>
      </p:sp>
      <p:sp>
        <p:nvSpPr>
          <p:cNvPr id="9" name="TextBox 8"/>
          <p:cNvSpPr txBox="1"/>
          <p:nvPr/>
        </p:nvSpPr>
        <p:spPr>
          <a:xfrm>
            <a:off x="548640" y="2962656"/>
            <a:ext cx="5303520" cy="713232"/>
          </a:xfrm>
          <a:prstGeom prst="rect">
            <a:avLst/>
          </a:prstGeom>
          <a:noFill/>
          <a:effectLst/>
        </p:spPr>
        <p:txBody>
          <a:bodyPr wrap="square" lIns="0" rIns="0" tIns="0" bIns="0">
            <a:spAutoFit/>
          </a:bodyPr>
          <a:lstStyle/>
          <a:p>
            <a:pPr>
              <a:lnSpc>
                <a:spcPct val="104000"/>
              </a:lnSpc>
              <a:spcBef>
                <a:spcPts val="0"/>
              </a:spcBef>
              <a:spcAft>
                <a:spcPts val="500"/>
              </a:spcAft>
            </a:pPr>
            <a:r>
              <a:rPr sz="2000" b="0" lang="id-ID">
                <a:solidFill>
                  <a:srgbClr val="46626F"/>
                </a:solidFill>
                <a:latin typeface="Arial"/>
              </a:rPr>
              <a:t>Elevasi relatif • jarak pantai • subsidensi.</a:t>
            </a:r>
          </a:p>
          <a:p>
            <a:pPr>
              <a:lnSpc>
                <a:spcPct val="104000"/>
              </a:lnSpc>
              <a:spcBef>
                <a:spcPts val="0"/>
              </a:spcBef>
              <a:spcAft>
                <a:spcPts val="500"/>
              </a:spcAft>
            </a:pPr>
            <a:r>
              <a:rPr sz="2000" b="0" lang="id-ID">
                <a:solidFill>
                  <a:srgbClr val="46626F"/>
                </a:solidFill>
                <a:latin typeface="Arial"/>
              </a:rPr>
              <a:t>Bobot ⅓ adalah asumsi, belum terkalibrasi.</a:t>
            </a:r>
          </a:p>
        </p:txBody>
      </p:sp>
      <p:sp>
        <p:nvSpPr>
          <p:cNvPr id="10" name="Rectangle 9"/>
          <p:cNvSpPr/>
          <p:nvPr/>
        </p:nvSpPr>
        <p:spPr>
          <a:xfrm>
            <a:off x="576072" y="4133087"/>
            <a:ext cx="411480" cy="41148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033271" y="4133087"/>
            <a:ext cx="411480" cy="41148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ectangle 11"/>
          <p:cNvSpPr/>
          <p:nvPr/>
        </p:nvSpPr>
        <p:spPr>
          <a:xfrm>
            <a:off x="1490472" y="4133087"/>
            <a:ext cx="411480" cy="41148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ectangle 12"/>
          <p:cNvSpPr/>
          <p:nvPr/>
        </p:nvSpPr>
        <p:spPr>
          <a:xfrm>
            <a:off x="576072" y="4590288"/>
            <a:ext cx="411480" cy="41148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ectangle 13"/>
          <p:cNvSpPr/>
          <p:nvPr/>
        </p:nvSpPr>
        <p:spPr>
          <a:xfrm>
            <a:off x="1033271" y="4590288"/>
            <a:ext cx="411480" cy="411480"/>
          </a:xfrm>
          <a:prstGeom prst="rect">
            <a:avLst/>
          </a:prstGeom>
          <a:solidFill>
            <a:srgbClr val="1C7F9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1490472" y="4590288"/>
            <a:ext cx="411480" cy="41148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576072" y="5047488"/>
            <a:ext cx="411480" cy="41148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ectangle 16"/>
          <p:cNvSpPr/>
          <p:nvPr/>
        </p:nvSpPr>
        <p:spPr>
          <a:xfrm>
            <a:off x="1033271" y="5047488"/>
            <a:ext cx="411480" cy="41148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Rectangle 17"/>
          <p:cNvSpPr/>
          <p:nvPr/>
        </p:nvSpPr>
        <p:spPr>
          <a:xfrm>
            <a:off x="1490472" y="5047488"/>
            <a:ext cx="411480" cy="411480"/>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2212848" y="4151376"/>
            <a:ext cx="3456432" cy="1188720"/>
          </a:xfrm>
          <a:prstGeom prst="rect">
            <a:avLst/>
          </a:prstGeom>
          <a:noFill/>
          <a:effectLst/>
        </p:spPr>
        <p:txBody>
          <a:bodyPr wrap="square" lIns="0" rIns="0" tIns="0" bIns="0">
            <a:spAutoFit/>
          </a:bodyPr>
          <a:lstStyle/>
          <a:p>
            <a:pPr>
              <a:lnSpc>
                <a:spcPct val="104000"/>
              </a:lnSpc>
              <a:spcBef>
                <a:spcPts val="0"/>
              </a:spcBef>
              <a:spcAft>
                <a:spcPts val="500"/>
              </a:spcAft>
            </a:pPr>
            <a:r>
              <a:rPr sz="2100" b="0" lang="id-ID">
                <a:solidFill>
                  <a:srgbClr val="0B1F2A"/>
                </a:solidFill>
                <a:latin typeface="Arial"/>
              </a:rPr>
              <a:t>Median 3 × 3 sel</a:t>
            </a:r>
          </a:p>
          <a:p>
            <a:pPr>
              <a:lnSpc>
                <a:spcPct val="104000"/>
              </a:lnSpc>
              <a:spcBef>
                <a:spcPts val="0"/>
              </a:spcBef>
              <a:spcAft>
                <a:spcPts val="500"/>
              </a:spcAft>
            </a:pPr>
            <a:r>
              <a:rPr sz="2100" b="0" lang="id-ID">
                <a:solidFill>
                  <a:srgbClr val="0B1F2A"/>
                </a:solidFill>
                <a:latin typeface="Arial"/>
              </a:rPr>
              <a:t>Sisi sel 500 m</a:t>
            </a:r>
          </a:p>
          <a:p>
            <a:pPr>
              <a:lnSpc>
                <a:spcPct val="104000"/>
              </a:lnSpc>
              <a:spcBef>
                <a:spcPts val="0"/>
              </a:spcBef>
              <a:spcAft>
                <a:spcPts val="500"/>
              </a:spcAft>
            </a:pPr>
            <a:r>
              <a:rPr sz="2100" b="0" lang="id-ID">
                <a:solidFill>
                  <a:srgbClr val="0B1F2A"/>
                </a:solidFill>
                <a:latin typeface="Arial"/>
              </a:rPr>
              <a:t>Bukan radius melingkar</a:t>
            </a:r>
          </a:p>
        </p:txBody>
      </p:sp>
      <p:sp>
        <p:nvSpPr>
          <p:cNvPr id="20" name="Rectangle 19"/>
          <p:cNvSpPr/>
          <p:nvPr/>
        </p:nvSpPr>
        <p:spPr>
          <a:xfrm>
            <a:off x="6080760" y="1828800"/>
            <a:ext cx="13716" cy="4133087"/>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6464808" y="1828800"/>
            <a:ext cx="5175504" cy="274320"/>
          </a:xfrm>
          <a:prstGeom prst="rect">
            <a:avLst/>
          </a:prstGeom>
          <a:noFill/>
          <a:effectLst/>
        </p:spPr>
        <p:txBody>
          <a:bodyPr wrap="square" lIns="0" rIns="0" tIns="0" bIns="0">
            <a:spAutoFit/>
          </a:bodyPr>
          <a:lstStyle/>
          <a:p>
            <a:pPr>
              <a:lnSpc>
                <a:spcPct val="104000"/>
              </a:lnSpc>
              <a:spcBef>
                <a:spcPts val="0"/>
              </a:spcBef>
              <a:spcAft>
                <a:spcPts val="500"/>
              </a:spcAft>
            </a:pPr>
            <a:r>
              <a:rPr sz="1200" b="1" lang="id-ID">
                <a:solidFill>
                  <a:srgbClr val="1C7F9E"/>
                </a:solidFill>
                <a:latin typeface="Arial"/>
              </a:rPr>
              <a:t>EKSPERIMEN TIDAK DIPAKAI</a:t>
            </a:r>
          </a:p>
        </p:txBody>
      </p:sp>
      <p:sp>
        <p:nvSpPr>
          <p:cNvPr id="22" name="TextBox 21"/>
          <p:cNvSpPr txBox="1"/>
          <p:nvPr/>
        </p:nvSpPr>
        <p:spPr>
          <a:xfrm>
            <a:off x="6464808" y="2377440"/>
            <a:ext cx="5184648" cy="475488"/>
          </a:xfrm>
          <a:prstGeom prst="rect">
            <a:avLst/>
          </a:prstGeom>
          <a:noFill/>
          <a:effectLst/>
        </p:spPr>
        <p:txBody>
          <a:bodyPr wrap="square" lIns="0" rIns="0" tIns="0" bIns="0">
            <a:spAutoFit/>
          </a:bodyPr>
          <a:lstStyle/>
          <a:p>
            <a:pPr>
              <a:lnSpc>
                <a:spcPct val="104000"/>
              </a:lnSpc>
              <a:spcBef>
                <a:spcPts val="0"/>
              </a:spcBef>
              <a:spcAft>
                <a:spcPts val="500"/>
              </a:spcAft>
            </a:pPr>
            <a:r>
              <a:rPr sz="2800" b="1" lang="id-ID">
                <a:solidFill>
                  <a:srgbClr val="0B1F2A"/>
                </a:solidFill>
                <a:latin typeface="Arial Narrow"/>
              </a:rPr>
              <a:t>Model berlabel Sentinel-1</a:t>
            </a:r>
          </a:p>
        </p:txBody>
      </p:sp>
      <p:sp>
        <p:nvSpPr>
          <p:cNvPr id="23" name="TextBox 22"/>
          <p:cNvSpPr txBox="1"/>
          <p:nvPr/>
        </p:nvSpPr>
        <p:spPr>
          <a:xfrm>
            <a:off x="6464808" y="2962656"/>
            <a:ext cx="5148072" cy="1179576"/>
          </a:xfrm>
          <a:prstGeom prst="rect">
            <a:avLst/>
          </a:prstGeom>
          <a:noFill/>
          <a:effectLst/>
        </p:spPr>
        <p:txBody>
          <a:bodyPr wrap="square" lIns="0" rIns="0" tIns="0" bIns="0">
            <a:spAutoFit/>
          </a:bodyPr>
          <a:lstStyle/>
          <a:p>
            <a:pPr>
              <a:lnSpc>
                <a:spcPct val="104000"/>
              </a:lnSpc>
              <a:spcBef>
                <a:spcPts val="0"/>
              </a:spcBef>
              <a:spcAft>
                <a:spcPts val="500"/>
              </a:spcAft>
            </a:pPr>
            <a:r>
              <a:rPr sz="2100" b="0" lang="id-ID">
                <a:solidFill>
                  <a:srgbClr val="46626F"/>
                </a:solidFill>
                <a:latin typeface="Arial"/>
              </a:rPr>
              <a:t>Latih 2015–2023; uji 2024–2026.</a:t>
            </a:r>
          </a:p>
          <a:p>
            <a:pPr>
              <a:lnSpc>
                <a:spcPct val="104000"/>
              </a:lnSpc>
              <a:spcBef>
                <a:spcPts val="0"/>
              </a:spcBef>
              <a:spcAft>
                <a:spcPts val="500"/>
              </a:spcAft>
            </a:pPr>
            <a:r>
              <a:rPr sz="2100" b="0" lang="id-ID">
                <a:solidFill>
                  <a:srgbClr val="46626F"/>
                </a:solidFill>
                <a:latin typeface="Arial"/>
              </a:rPr>
              <a:t>ROC-AUC 0,6579 • PR-AUC 0,0371</a:t>
            </a:r>
          </a:p>
          <a:p>
            <a:pPr>
              <a:lnSpc>
                <a:spcPct val="104000"/>
              </a:lnSpc>
              <a:spcBef>
                <a:spcPts val="0"/>
              </a:spcBef>
              <a:spcAft>
                <a:spcPts val="500"/>
              </a:spcAft>
            </a:pPr>
            <a:r>
              <a:rPr sz="2100" b="0" lang="id-ID">
                <a:solidFill>
                  <a:srgbClr val="46626F"/>
                </a:solidFill>
                <a:latin typeface="Arial"/>
              </a:rPr>
              <a:t>F1 0,0894 • proporsi dasar PR 0,016</a:t>
            </a:r>
          </a:p>
        </p:txBody>
      </p:sp>
      <p:sp>
        <p:nvSpPr>
          <p:cNvPr id="24" name="Rectangle 23"/>
          <p:cNvSpPr/>
          <p:nvPr/>
        </p:nvSpPr>
        <p:spPr>
          <a:xfrm>
            <a:off x="6464808" y="4507992"/>
            <a:ext cx="5138928" cy="1426464"/>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6656832" y="4681728"/>
            <a:ext cx="4727448" cy="1143000"/>
          </a:xfrm>
          <a:prstGeom prst="rect">
            <a:avLst/>
          </a:prstGeom>
          <a:noFill/>
          <a:effectLst/>
        </p:spPr>
        <p:txBody>
          <a:bodyPr wrap="square" lIns="0" rIns="0" tIns="0" bIns="0">
            <a:spAutoFit/>
          </a:bodyPr>
          <a:lstStyle/>
          <a:p>
            <a:pPr>
              <a:lnSpc>
                <a:spcPct val="104000"/>
              </a:lnSpc>
              <a:spcBef>
                <a:spcPts val="0"/>
              </a:spcBef>
              <a:spcAft>
                <a:spcPts val="500"/>
              </a:spcAft>
            </a:pPr>
            <a:r>
              <a:rPr sz="2100" b="0" lang="id-ID">
                <a:solidFill>
                  <a:srgbClr val="0B1F2A"/>
                </a:solidFill>
                <a:latin typeface="Arial"/>
              </a:rPr>
              <a:t>Label basah satelit belum menjadi</a:t>
            </a:r>
          </a:p>
          <a:p>
            <a:pPr>
              <a:lnSpc>
                <a:spcPct val="104000"/>
              </a:lnSpc>
              <a:spcBef>
                <a:spcPts val="0"/>
              </a:spcBef>
              <a:spcAft>
                <a:spcPts val="500"/>
              </a:spcAft>
            </a:pPr>
            <a:r>
              <a:rPr sz="2100" b="0" lang="id-ID">
                <a:solidFill>
                  <a:srgbClr val="0B1F2A"/>
                </a:solidFill>
                <a:latin typeface="Arial"/>
              </a:rPr>
              <a:t>bukti genangan jalan. Model ini</a:t>
            </a:r>
          </a:p>
          <a:p>
            <a:pPr>
              <a:lnSpc>
                <a:spcPct val="104000"/>
              </a:lnSpc>
              <a:spcBef>
                <a:spcPts val="0"/>
              </a:spcBef>
              <a:spcAft>
                <a:spcPts val="500"/>
              </a:spcAft>
            </a:pPr>
            <a:r>
              <a:rPr sz="2100" b="0" lang="id-ID">
                <a:solidFill>
                  <a:srgbClr val="0B1F2A"/>
                </a:solidFill>
                <a:latin typeface="Arial"/>
              </a:rPr>
              <a:t>tidak dipakai sebagai prediktor rilis.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F2F5F6"/>
        </a:solidFill>
        <a:effectLst/>
      </p:bgPr>
    </p:bg>
    <p:spTree>
      <p:nvGrpSpPr>
        <p:cNvPr id="1" name=""/>
        <p:cNvGrpSpPr/>
        <p:nvPr/>
      </p:nvGrpSpPr>
      <p:grpSpPr/>
      <p:sp>
        <p:nvSpPr>
          <p:cNvPr id="2" name="TextBox 1"/>
          <p:cNvSpPr txBox="1"/>
          <p:nvPr/>
        </p:nvSpPr>
        <p:spPr>
          <a:xfrm>
            <a:off x="502920" y="320040"/>
            <a:ext cx="9144000" cy="274320"/>
          </a:xfrm>
          <a:prstGeom prst="rect">
            <a:avLst/>
          </a:prstGeom>
          <a:noFill/>
          <a:effectLst/>
        </p:spPr>
        <p:txBody>
          <a:bodyPr wrap="square" lIns="0" rIns="0" tIns="0" bIns="0">
            <a:spAutoFit/>
          </a:bodyPr>
          <a:lstStyle/>
          <a:p>
            <a:pPr>
              <a:lnSpc>
                <a:spcPct val="104000"/>
              </a:lnSpc>
              <a:spcBef>
                <a:spcPts val="0"/>
              </a:spcBef>
              <a:spcAft>
                <a:spcPts val="500"/>
              </a:spcAft>
            </a:pPr>
            <a:r>
              <a:rPr sz="1200" b="1" lang="id-ID">
                <a:solidFill>
                  <a:srgbClr val="1C7F9E"/>
                </a:solidFill>
                <a:latin typeface="Arial"/>
              </a:rPr>
              <a:t>LAMPIRAN / KEANDALAN</a:t>
            </a:r>
          </a:p>
        </p:txBody>
      </p:sp>
      <p:sp>
        <p:nvSpPr>
          <p:cNvPr id="3" name="TextBox 2"/>
          <p:cNvSpPr txBox="1"/>
          <p:nvPr/>
        </p:nvSpPr>
        <p:spPr>
          <a:xfrm>
            <a:off x="502920" y="777240"/>
            <a:ext cx="11201400" cy="576072"/>
          </a:xfrm>
          <a:prstGeom prst="rect">
            <a:avLst/>
          </a:prstGeom>
          <a:noFill/>
          <a:effectLst/>
        </p:spPr>
        <p:txBody>
          <a:bodyPr wrap="square" lIns="0" rIns="0" tIns="0" bIns="0">
            <a:spAutoFit/>
          </a:bodyPr>
          <a:lstStyle/>
          <a:p>
            <a:pPr>
              <a:lnSpc>
                <a:spcPct val="104000"/>
              </a:lnSpc>
              <a:spcBef>
                <a:spcPts val="0"/>
              </a:spcBef>
              <a:spcAft>
                <a:spcPts val="500"/>
              </a:spcAft>
            </a:pPr>
            <a:r>
              <a:rPr sz="3400" b="1" lang="id-ID">
                <a:solidFill>
                  <a:srgbClr val="0B1F2A"/>
                </a:solidFill>
                <a:latin typeface="Arial Narrow"/>
              </a:rPr>
              <a:t>Regresi dan uji VPS setelah perbaikan</a:t>
            </a:r>
          </a:p>
        </p:txBody>
      </p:sp>
      <p:sp>
        <p:nvSpPr>
          <p:cNvPr id="4" name="TextBox 3"/>
          <p:cNvSpPr txBox="1"/>
          <p:nvPr/>
        </p:nvSpPr>
        <p:spPr>
          <a:xfrm>
            <a:off x="521207" y="1426464"/>
            <a:ext cx="10972800" cy="475488"/>
          </a:xfrm>
          <a:prstGeom prst="rect">
            <a:avLst/>
          </a:prstGeom>
          <a:noFill/>
          <a:effectLst/>
        </p:spPr>
        <p:txBody>
          <a:bodyPr wrap="square" lIns="0" rIns="0" tIns="0" bIns="0">
            <a:spAutoFit/>
          </a:bodyPr>
          <a:lstStyle/>
          <a:p>
            <a:pPr>
              <a:lnSpc>
                <a:spcPct val="104000"/>
              </a:lnSpc>
              <a:spcBef>
                <a:spcPts val="0"/>
              </a:spcBef>
              <a:spcAft>
                <a:spcPts val="500"/>
              </a:spcAft>
            </a:pPr>
            <a:r>
              <a:rPr sz="1700" b="0" lang="id-ID">
                <a:solidFill>
                  <a:srgbClr val="46626F"/>
                </a:solidFill>
                <a:latin typeface="Arial"/>
              </a:rPr>
              <a:t>Audit 22 September 2026 • API satu worker • 412 request dalam 94,47 detik</a:t>
            </a:r>
          </a:p>
        </p:txBody>
      </p:sp>
      <p:sp>
        <p:nvSpPr>
          <p:cNvPr id="5" name="Rectangle 4"/>
          <p:cNvSpPr/>
          <p:nvPr/>
        </p:nvSpPr>
        <p:spPr>
          <a:xfrm>
            <a:off x="502920" y="6446520"/>
            <a:ext cx="11183112" cy="13716"/>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a:hlinkClick r:id="rId2"/>
          </p:cNvPr>
          <p:cNvSpPr txBox="1"/>
          <p:nvPr/>
        </p:nvSpPr>
        <p:spPr>
          <a:xfrm>
            <a:off x="502920" y="6537960"/>
            <a:ext cx="10698480" cy="182880"/>
          </a:xfrm>
          <a:prstGeom prst="rect">
            <a:avLst/>
          </a:prstGeom>
          <a:noFill/>
          <a:effectLst/>
        </p:spPr>
        <p:txBody>
          <a:bodyPr wrap="square" lIns="0" rIns="0" tIns="0" bIns="0">
            <a:spAutoFit/>
          </a:bodyPr>
          <a:lstStyle/>
          <a:p>
            <a:pPr>
              <a:lnSpc>
                <a:spcPct val="104000"/>
              </a:lnSpc>
              <a:spcBef>
                <a:spcPts val="0"/>
              </a:spcBef>
              <a:spcAft>
                <a:spcPts val="500"/>
              </a:spcAft>
            </a:pPr>
            <a:r>
              <a:rPr sz="1000" b="0" lang="id-ID">
                <a:solidFill>
                  <a:srgbClr val="46626F"/>
                </a:solidFill>
                <a:latin typeface="Arial"/>
              </a:rPr>
              <a:t>audit_regresi_22_verifikasi.json; audit_regresi_22_requests.json. Bukan uji kapasitas maksimum.</a:t>
            </a:r>
          </a:p>
        </p:txBody>
      </p:sp>
      <p:sp>
        <p:nvSpPr>
          <p:cNvPr id="7" name="TextBox 6"/>
          <p:cNvSpPr txBox="1"/>
          <p:nvPr/>
        </p:nvSpPr>
        <p:spPr>
          <a:xfrm>
            <a:off x="11292840" y="6501384"/>
            <a:ext cx="384048" cy="246888"/>
          </a:xfrm>
          <a:prstGeom prst="rect">
            <a:avLst/>
          </a:prstGeom>
          <a:noFill/>
          <a:effectLst/>
        </p:spPr>
        <p:txBody>
          <a:bodyPr wrap="square" lIns="0" rIns="0" tIns="0" bIns="0">
            <a:spAutoFit/>
          </a:bodyPr>
          <a:lstStyle/>
          <a:p>
            <a:pPr algn="r">
              <a:lnSpc>
                <a:spcPct val="104000"/>
              </a:lnSpc>
              <a:spcBef>
                <a:spcPts val="0"/>
              </a:spcBef>
              <a:spcAft>
                <a:spcPts val="500"/>
              </a:spcAft>
            </a:pPr>
            <a:r>
              <a:rPr sz="1400" b="1" lang="id-ID">
                <a:solidFill>
                  <a:srgbClr val="46626F"/>
                </a:solidFill>
                <a:latin typeface="Arial"/>
              </a:rPr>
              <a:t>13</a:t>
            </a:r>
          </a:p>
        </p:txBody>
      </p:sp>
      <p:sp>
        <p:nvSpPr>
          <p:cNvPr id="8" name="TextBox 7"/>
          <p:cNvSpPr txBox="1"/>
          <p:nvPr/>
        </p:nvSpPr>
        <p:spPr>
          <a:xfrm>
            <a:off x="548640" y="2039112"/>
            <a:ext cx="5760720" cy="402336"/>
          </a:xfrm>
          <a:prstGeom prst="rect">
            <a:avLst/>
          </a:prstGeom>
          <a:noFill/>
          <a:effectLst/>
        </p:spPr>
        <p:txBody>
          <a:bodyPr wrap="square" lIns="0" rIns="0" tIns="0" bIns="0">
            <a:spAutoFit/>
          </a:bodyPr>
          <a:lstStyle/>
          <a:p>
            <a:pPr>
              <a:lnSpc>
                <a:spcPct val="104000"/>
              </a:lnSpc>
              <a:spcBef>
                <a:spcPts val="0"/>
              </a:spcBef>
              <a:spcAft>
                <a:spcPts val="500"/>
              </a:spcAft>
            </a:pPr>
            <a:r>
              <a:rPr sz="2400" b="1" lang="id-ID">
                <a:solidFill>
                  <a:srgbClr val="0B1F2A"/>
                </a:solidFill>
                <a:latin typeface="Arial Narrow"/>
              </a:rPr>
              <a:t>Puncak sampel RAM / batas container</a:t>
            </a:r>
          </a:p>
        </p:txBody>
      </p:sp>
      <p:sp>
        <p:nvSpPr>
          <p:cNvPr id="9" name="TextBox 8"/>
          <p:cNvSpPr txBox="1"/>
          <p:nvPr/>
        </p:nvSpPr>
        <p:spPr>
          <a:xfrm>
            <a:off x="548640" y="2770632"/>
            <a:ext cx="960120" cy="347472"/>
          </a:xfrm>
          <a:prstGeom prst="rect">
            <a:avLst/>
          </a:prstGeom>
          <a:noFill/>
          <a:effectLst/>
        </p:spPr>
        <p:txBody>
          <a:bodyPr wrap="square" lIns="0" rIns="0" tIns="0" bIns="0">
            <a:spAutoFit/>
          </a:bodyPr>
          <a:lstStyle/>
          <a:p>
            <a:pPr>
              <a:lnSpc>
                <a:spcPct val="104000"/>
              </a:lnSpc>
              <a:spcBef>
                <a:spcPts val="0"/>
              </a:spcBef>
              <a:spcAft>
                <a:spcPts val="500"/>
              </a:spcAft>
            </a:pPr>
            <a:r>
              <a:rPr sz="2000" b="1" lang="id-ID">
                <a:solidFill>
                  <a:srgbClr val="0B1F2A"/>
                </a:solidFill>
                <a:latin typeface="Arial"/>
              </a:rPr>
              <a:t>API</a:t>
            </a:r>
          </a:p>
        </p:txBody>
      </p:sp>
      <p:sp>
        <p:nvSpPr>
          <p:cNvPr id="10" name="Rectangle 9"/>
          <p:cNvSpPr/>
          <p:nvPr/>
        </p:nvSpPr>
        <p:spPr>
          <a:xfrm>
            <a:off x="1609344" y="2788920"/>
            <a:ext cx="2935224" cy="301752"/>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ectangle 10"/>
          <p:cNvSpPr/>
          <p:nvPr/>
        </p:nvSpPr>
        <p:spPr>
          <a:xfrm>
            <a:off x="1609344" y="2788920"/>
            <a:ext cx="1714262" cy="301752"/>
          </a:xfrm>
          <a:prstGeom prst="rect">
            <a:avLst/>
          </a:prstGeom>
          <a:solidFill>
            <a:srgbClr val="1C7F9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4754880" y="2770632"/>
            <a:ext cx="2148840" cy="365760"/>
          </a:xfrm>
          <a:prstGeom prst="rect">
            <a:avLst/>
          </a:prstGeom>
          <a:noFill/>
          <a:effectLst/>
        </p:spPr>
        <p:txBody>
          <a:bodyPr wrap="square" lIns="0" rIns="0" tIns="0" bIns="0">
            <a:spAutoFit/>
          </a:bodyPr>
          <a:lstStyle/>
          <a:p>
            <a:pPr>
              <a:lnSpc>
                <a:spcPct val="104000"/>
              </a:lnSpc>
              <a:spcBef>
                <a:spcPts val="0"/>
              </a:spcBef>
              <a:spcAft>
                <a:spcPts val="500"/>
              </a:spcAft>
            </a:pPr>
            <a:r>
              <a:rPr sz="1800" b="0" lang="id-ID">
                <a:solidFill>
                  <a:srgbClr val="46626F"/>
                </a:solidFill>
                <a:latin typeface="Arial"/>
              </a:rPr>
              <a:t>186,9 / 320 MiB</a:t>
            </a:r>
          </a:p>
        </p:txBody>
      </p:sp>
      <p:sp>
        <p:nvSpPr>
          <p:cNvPr id="13" name="TextBox 12"/>
          <p:cNvSpPr txBox="1"/>
          <p:nvPr/>
        </p:nvSpPr>
        <p:spPr>
          <a:xfrm>
            <a:off x="548640" y="3547872"/>
            <a:ext cx="960120" cy="347472"/>
          </a:xfrm>
          <a:prstGeom prst="rect">
            <a:avLst/>
          </a:prstGeom>
          <a:noFill/>
          <a:effectLst/>
        </p:spPr>
        <p:txBody>
          <a:bodyPr wrap="square" lIns="0" rIns="0" tIns="0" bIns="0">
            <a:spAutoFit/>
          </a:bodyPr>
          <a:lstStyle/>
          <a:p>
            <a:pPr>
              <a:lnSpc>
                <a:spcPct val="104000"/>
              </a:lnSpc>
              <a:spcBef>
                <a:spcPts val="0"/>
              </a:spcBef>
              <a:spcAft>
                <a:spcPts val="500"/>
              </a:spcAft>
            </a:pPr>
            <a:r>
              <a:rPr sz="2000" b="1" lang="id-ID">
                <a:solidFill>
                  <a:srgbClr val="0B1F2A"/>
                </a:solidFill>
                <a:latin typeface="Arial"/>
              </a:rPr>
              <a:t>DB</a:t>
            </a:r>
          </a:p>
        </p:txBody>
      </p:sp>
      <p:sp>
        <p:nvSpPr>
          <p:cNvPr id="14" name="Rectangle 13"/>
          <p:cNvSpPr/>
          <p:nvPr/>
        </p:nvSpPr>
        <p:spPr>
          <a:xfrm>
            <a:off x="1609344" y="3566160"/>
            <a:ext cx="2935224" cy="301752"/>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1609344" y="3566160"/>
            <a:ext cx="1424806" cy="301752"/>
          </a:xfrm>
          <a:prstGeom prst="rect">
            <a:avLst/>
          </a:prstGeom>
          <a:solidFill>
            <a:srgbClr val="1C7F9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754880" y="3547872"/>
            <a:ext cx="2148840" cy="365760"/>
          </a:xfrm>
          <a:prstGeom prst="rect">
            <a:avLst/>
          </a:prstGeom>
          <a:noFill/>
          <a:effectLst/>
        </p:spPr>
        <p:txBody>
          <a:bodyPr wrap="square" lIns="0" rIns="0" tIns="0" bIns="0">
            <a:spAutoFit/>
          </a:bodyPr>
          <a:lstStyle/>
          <a:p>
            <a:pPr>
              <a:lnSpc>
                <a:spcPct val="104000"/>
              </a:lnSpc>
              <a:spcBef>
                <a:spcPts val="0"/>
              </a:spcBef>
              <a:spcAft>
                <a:spcPts val="500"/>
              </a:spcAft>
            </a:pPr>
            <a:r>
              <a:rPr sz="1800" b="0" lang="id-ID">
                <a:solidFill>
                  <a:srgbClr val="46626F"/>
                </a:solidFill>
                <a:latin typeface="Arial"/>
              </a:rPr>
              <a:t>93,2 / 192 MiB</a:t>
            </a:r>
          </a:p>
        </p:txBody>
      </p:sp>
      <p:sp>
        <p:nvSpPr>
          <p:cNvPr id="17" name="TextBox 16"/>
          <p:cNvSpPr txBox="1"/>
          <p:nvPr/>
        </p:nvSpPr>
        <p:spPr>
          <a:xfrm>
            <a:off x="548640" y="4325112"/>
            <a:ext cx="960120" cy="347472"/>
          </a:xfrm>
          <a:prstGeom prst="rect">
            <a:avLst/>
          </a:prstGeom>
          <a:noFill/>
          <a:effectLst/>
        </p:spPr>
        <p:txBody>
          <a:bodyPr wrap="square" lIns="0" rIns="0" tIns="0" bIns="0">
            <a:spAutoFit/>
          </a:bodyPr>
          <a:lstStyle/>
          <a:p>
            <a:pPr>
              <a:lnSpc>
                <a:spcPct val="104000"/>
              </a:lnSpc>
              <a:spcBef>
                <a:spcPts val="0"/>
              </a:spcBef>
              <a:spcAft>
                <a:spcPts val="500"/>
              </a:spcAft>
            </a:pPr>
            <a:r>
              <a:rPr sz="2000" b="1" lang="id-ID">
                <a:solidFill>
                  <a:srgbClr val="0B1F2A"/>
                </a:solidFill>
                <a:latin typeface="Arial"/>
              </a:rPr>
              <a:t>Web</a:t>
            </a:r>
          </a:p>
        </p:txBody>
      </p:sp>
      <p:sp>
        <p:nvSpPr>
          <p:cNvPr id="18" name="Rectangle 17"/>
          <p:cNvSpPr/>
          <p:nvPr/>
        </p:nvSpPr>
        <p:spPr>
          <a:xfrm>
            <a:off x="1609344" y="4343399"/>
            <a:ext cx="2935224" cy="301752"/>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1609344" y="4343399"/>
            <a:ext cx="2371569" cy="301752"/>
          </a:xfrm>
          <a:prstGeom prst="rect">
            <a:avLst/>
          </a:prstGeom>
          <a:solidFill>
            <a:srgbClr val="1C7F9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754880" y="4325112"/>
            <a:ext cx="2148840" cy="365760"/>
          </a:xfrm>
          <a:prstGeom prst="rect">
            <a:avLst/>
          </a:prstGeom>
          <a:noFill/>
          <a:effectLst/>
        </p:spPr>
        <p:txBody>
          <a:bodyPr wrap="square" lIns="0" rIns="0" tIns="0" bIns="0">
            <a:spAutoFit/>
          </a:bodyPr>
          <a:lstStyle/>
          <a:p>
            <a:pPr>
              <a:lnSpc>
                <a:spcPct val="104000"/>
              </a:lnSpc>
              <a:spcBef>
                <a:spcPts val="0"/>
              </a:spcBef>
              <a:spcAft>
                <a:spcPts val="500"/>
              </a:spcAft>
            </a:pPr>
            <a:r>
              <a:rPr sz="1800" b="0" lang="id-ID">
                <a:solidFill>
                  <a:srgbClr val="46626F"/>
                </a:solidFill>
                <a:latin typeface="Arial"/>
              </a:rPr>
              <a:t>51,7 / 64 MiB</a:t>
            </a:r>
          </a:p>
        </p:txBody>
      </p:sp>
      <p:sp>
        <p:nvSpPr>
          <p:cNvPr id="21" name="Rectangle 20"/>
          <p:cNvSpPr/>
          <p:nvPr/>
        </p:nvSpPr>
        <p:spPr>
          <a:xfrm>
            <a:off x="7315200" y="2057400"/>
            <a:ext cx="4297680" cy="3364992"/>
          </a:xfrm>
          <a:prstGeom prst="rect">
            <a:avLst/>
          </a:prstGeom>
          <a:solidFill>
            <a:srgbClr val="12303E"/>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7516368" y="2340864"/>
            <a:ext cx="3886200" cy="484632"/>
          </a:xfrm>
          <a:prstGeom prst="rect">
            <a:avLst/>
          </a:prstGeom>
          <a:noFill/>
          <a:effectLst/>
        </p:spPr>
        <p:txBody>
          <a:bodyPr wrap="square" lIns="0" rIns="0" tIns="0" bIns="0">
            <a:spAutoFit/>
          </a:bodyPr>
          <a:lstStyle/>
          <a:p>
            <a:pPr>
              <a:lnSpc>
                <a:spcPct val="104000"/>
              </a:lnSpc>
              <a:spcBef>
                <a:spcPts val="0"/>
              </a:spcBef>
              <a:spcAft>
                <a:spcPts val="500"/>
              </a:spcAft>
            </a:pPr>
            <a:r>
              <a:rPr sz="2800" b="1" lang="id-ID">
                <a:solidFill>
                  <a:srgbClr val="E8F1F4"/>
                </a:solidFill>
                <a:latin typeface="Arial Narrow"/>
              </a:rPr>
              <a:t>0 OOM / 0 restart</a:t>
            </a:r>
          </a:p>
        </p:txBody>
      </p:sp>
      <p:sp>
        <p:nvSpPr>
          <p:cNvPr id="23" name="TextBox 22"/>
          <p:cNvSpPr txBox="1"/>
          <p:nvPr/>
        </p:nvSpPr>
        <p:spPr>
          <a:xfrm>
            <a:off x="7516368" y="3136392"/>
            <a:ext cx="3813048" cy="1115568"/>
          </a:xfrm>
          <a:prstGeom prst="rect">
            <a:avLst/>
          </a:prstGeom>
          <a:noFill/>
          <a:effectLst/>
        </p:spPr>
        <p:txBody>
          <a:bodyPr wrap="square" lIns="0" rIns="0" tIns="0" bIns="0">
            <a:spAutoFit/>
          </a:bodyPr>
          <a:lstStyle/>
          <a:p>
            <a:pPr>
              <a:lnSpc>
                <a:spcPct val="104000"/>
              </a:lnSpc>
              <a:spcBef>
                <a:spcPts val="0"/>
              </a:spcBef>
              <a:spcAft>
                <a:spcPts val="500"/>
              </a:spcAft>
            </a:pPr>
            <a:r>
              <a:rPr sz="2000" b="0" lang="id-ID">
                <a:solidFill>
                  <a:srgbClr val="ABC0CA"/>
                </a:solidFill>
                <a:latin typeface="Arial"/>
              </a:rPr>
              <a:t>32 respons sibuk terkendali.</a:t>
            </a:r>
          </a:p>
          <a:p>
            <a:pPr>
              <a:lnSpc>
                <a:spcPct val="104000"/>
              </a:lnSpc>
              <a:spcBef>
                <a:spcPts val="0"/>
              </a:spcBef>
              <a:spcAft>
                <a:spcPts val="500"/>
              </a:spcAft>
            </a:pPr>
            <a:r>
              <a:rPr sz="2000" b="0" lang="id-ID">
                <a:solidFill>
                  <a:srgbClr val="ABC0CA"/>
                </a:solidFill>
                <a:latin typeface="Arial"/>
              </a:rPr>
              <a:t>316 berhasil; sisanya masukan</a:t>
            </a:r>
          </a:p>
          <a:p>
            <a:pPr>
              <a:lnSpc>
                <a:spcPct val="104000"/>
              </a:lnSpc>
              <a:spcBef>
                <a:spcPts val="0"/>
              </a:spcBef>
              <a:spcAft>
                <a:spcPts val="500"/>
              </a:spcAft>
            </a:pPr>
            <a:r>
              <a:rPr sz="2000" b="0" lang="id-ID">
                <a:solidFill>
                  <a:srgbClr val="ABC0CA"/>
                </a:solidFill>
                <a:latin typeface="Arial"/>
              </a:rPr>
              <a:t>yang memang harus ditolak.</a:t>
            </a:r>
          </a:p>
        </p:txBody>
      </p:sp>
      <p:sp>
        <p:nvSpPr>
          <p:cNvPr id="24" name="TextBox 23"/>
          <p:cNvSpPr txBox="1"/>
          <p:nvPr/>
        </p:nvSpPr>
        <p:spPr>
          <a:xfrm>
            <a:off x="7516368" y="4572000"/>
            <a:ext cx="3749039" cy="685800"/>
          </a:xfrm>
          <a:prstGeom prst="rect">
            <a:avLst/>
          </a:prstGeom>
          <a:noFill/>
          <a:effectLst/>
        </p:spPr>
        <p:txBody>
          <a:bodyPr wrap="square" lIns="0" rIns="0" tIns="0" bIns="0">
            <a:spAutoFit/>
          </a:bodyPr>
          <a:lstStyle/>
          <a:p>
            <a:pPr>
              <a:lnSpc>
                <a:spcPct val="104000"/>
              </a:lnSpc>
              <a:spcBef>
                <a:spcPts val="0"/>
              </a:spcBef>
              <a:spcAft>
                <a:spcPts val="500"/>
              </a:spcAft>
            </a:pPr>
            <a:r>
              <a:rPr sz="1800" b="0" lang="id-ID">
                <a:solidFill>
                  <a:srgbClr val="E8F1F4"/>
                </a:solidFill>
                <a:latin typeface="Arial"/>
              </a:rPr>
              <a:t>RAM host tersedia minimum</a:t>
            </a:r>
          </a:p>
          <a:p>
            <a:pPr>
              <a:lnSpc>
                <a:spcPct val="104000"/>
              </a:lnSpc>
              <a:spcBef>
                <a:spcPts val="0"/>
              </a:spcBef>
              <a:spcAft>
                <a:spcPts val="500"/>
              </a:spcAft>
            </a:pPr>
            <a:r>
              <a:rPr sz="1800" b="0" lang="id-ID">
                <a:solidFill>
                  <a:srgbClr val="E8F1F4"/>
                </a:solidFill>
                <a:latin typeface="Arial"/>
              </a:rPr>
              <a:t>645,92 MiB pada sampel uji.</a:t>
            </a:r>
          </a:p>
        </p:txBody>
      </p:sp>
      <p:sp>
        <p:nvSpPr>
          <p:cNvPr id="25" name="TextBox 24"/>
          <p:cNvSpPr txBox="1"/>
          <p:nvPr/>
        </p:nvSpPr>
        <p:spPr>
          <a:xfrm>
            <a:off x="594360" y="5605272"/>
            <a:ext cx="10972800" cy="594360"/>
          </a:xfrm>
          <a:prstGeom prst="rect">
            <a:avLst/>
          </a:prstGeom>
          <a:noFill/>
          <a:effectLst/>
        </p:spPr>
        <p:txBody>
          <a:bodyPr wrap="square" lIns="0" rIns="0" tIns="0" bIns="0">
            <a:spAutoFit/>
          </a:bodyPr>
          <a:lstStyle/>
          <a:p>
            <a:pPr>
              <a:lnSpc>
                <a:spcPct val="104000"/>
              </a:lnSpc>
              <a:spcBef>
                <a:spcPts val="0"/>
              </a:spcBef>
              <a:spcAft>
                <a:spcPts val="500"/>
              </a:spcAft>
            </a:pPr>
            <a:r>
              <a:rPr sz="1800" b="0" lang="id-ID">
                <a:solidFill>
                  <a:srgbClr val="46626F"/>
                </a:solidFill>
                <a:latin typeface="Arial"/>
              </a:rPr>
              <a:t>2.400 pencarian dibanding Bellman-Ford: kondisi tetap pada jam keberangkatan.</a:t>
            </a:r>
          </a:p>
          <a:p>
            <a:pPr>
              <a:lnSpc>
                <a:spcPct val="104000"/>
              </a:lnSpc>
              <a:spcBef>
                <a:spcPts val="0"/>
              </a:spcBef>
              <a:spcAft>
                <a:spcPts val="500"/>
              </a:spcAft>
            </a:pPr>
            <a:r>
              <a:rPr sz="1800" b="0" lang="id-ID">
                <a:solidFill>
                  <a:srgbClr val="46626F"/>
                </a:solidFill>
                <a:latin typeface="Arial"/>
              </a:rPr>
              <a:t>Data rusak, waktu di luar cakupan, retry, batas body, serta versi campuran diuji.</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show="0">
  <p:cSld>
    <p:bg>
      <p:bgPr>
        <a:solidFill>
          <a:srgbClr val="F2F5F6"/>
        </a:solidFill>
        <a:effectLst/>
      </p:bgPr>
    </p:bg>
    <p:spTree>
      <p:nvGrpSpPr>
        <p:cNvPr id="1" name=""/>
        <p:cNvGrpSpPr/>
        <p:nvPr/>
      </p:nvGrpSpPr>
      <p:grpSpPr/>
      <p:sp>
        <p:nvSpPr>
          <p:cNvPr id="2" name="TextBox 1"/>
          <p:cNvSpPr txBox="1"/>
          <p:nvPr/>
        </p:nvSpPr>
        <p:spPr>
          <a:xfrm>
            <a:off x="502920" y="320040"/>
            <a:ext cx="9144000" cy="274320"/>
          </a:xfrm>
          <a:prstGeom prst="rect">
            <a:avLst/>
          </a:prstGeom>
          <a:noFill/>
          <a:effectLst/>
        </p:spPr>
        <p:txBody>
          <a:bodyPr wrap="square" lIns="0" rIns="0" tIns="0" bIns="0">
            <a:spAutoFit/>
          </a:bodyPr>
          <a:lstStyle/>
          <a:p>
            <a:pPr>
              <a:lnSpc>
                <a:spcPct val="104000"/>
              </a:lnSpc>
              <a:spcBef>
                <a:spcPts val="0"/>
              </a:spcBef>
              <a:spcAft>
                <a:spcPts val="500"/>
              </a:spcAft>
            </a:pPr>
            <a:r>
              <a:rPr sz="1200" b="1" lang="id-ID">
                <a:solidFill>
                  <a:srgbClr val="1C7F9E"/>
                </a:solidFill>
                <a:latin typeface="Arial"/>
              </a:rPr>
              <a:t>LAMPIRAN / BATAS ANGKA DAMPAK</a:t>
            </a:r>
          </a:p>
        </p:txBody>
      </p:sp>
      <p:sp>
        <p:nvSpPr>
          <p:cNvPr id="3" name="TextBox 2"/>
          <p:cNvSpPr txBox="1"/>
          <p:nvPr/>
        </p:nvSpPr>
        <p:spPr>
          <a:xfrm>
            <a:off x="502920" y="777240"/>
            <a:ext cx="11201400" cy="576072"/>
          </a:xfrm>
          <a:prstGeom prst="rect">
            <a:avLst/>
          </a:prstGeom>
          <a:noFill/>
          <a:effectLst/>
        </p:spPr>
        <p:txBody>
          <a:bodyPr wrap="square" lIns="0" rIns="0" tIns="0" bIns="0">
            <a:spAutoFit/>
          </a:bodyPr>
          <a:lstStyle/>
          <a:p>
            <a:pPr>
              <a:lnSpc>
                <a:spcPct val="104000"/>
              </a:lnSpc>
              <a:spcBef>
                <a:spcPts val="0"/>
              </a:spcBef>
              <a:spcAft>
                <a:spcPts val="500"/>
              </a:spcAft>
            </a:pPr>
            <a:r>
              <a:rPr sz="3400" b="1" lang="id-ID">
                <a:solidFill>
                  <a:srgbClr val="0B1F2A"/>
                </a:solidFill>
                <a:latin typeface="Arial Narrow"/>
              </a:rPr>
              <a:t>Angka BBM dan CO₂ adalah estimasi asumsi</a:t>
            </a:r>
          </a:p>
        </p:txBody>
      </p:sp>
      <p:sp>
        <p:nvSpPr>
          <p:cNvPr id="4" name="TextBox 3"/>
          <p:cNvSpPr txBox="1"/>
          <p:nvPr/>
        </p:nvSpPr>
        <p:spPr>
          <a:xfrm>
            <a:off x="521207" y="1426464"/>
            <a:ext cx="10972800" cy="475488"/>
          </a:xfrm>
          <a:prstGeom prst="rect">
            <a:avLst/>
          </a:prstGeom>
          <a:noFill/>
          <a:effectLst/>
        </p:spPr>
        <p:txBody>
          <a:bodyPr wrap="square" lIns="0" rIns="0" tIns="0" bIns="0">
            <a:spAutoFit/>
          </a:bodyPr>
          <a:lstStyle/>
          <a:p>
            <a:pPr>
              <a:lnSpc>
                <a:spcPct val="104000"/>
              </a:lnSpc>
              <a:spcBef>
                <a:spcPts val="0"/>
              </a:spcBef>
              <a:spcAft>
                <a:spcPts val="500"/>
              </a:spcAft>
            </a:pPr>
            <a:r>
              <a:rPr sz="1700" b="0" lang="id-ID">
                <a:solidFill>
                  <a:srgbClr val="46626F"/>
                </a:solidFill>
                <a:latin typeface="Arial"/>
              </a:rPr>
              <a:t>Selisih dibanding rute yang mengabaikan genangan pada jam dan moda yang sama.</a:t>
            </a:r>
          </a:p>
        </p:txBody>
      </p:sp>
      <p:sp>
        <p:nvSpPr>
          <p:cNvPr id="5" name="Rectangle 4"/>
          <p:cNvSpPr/>
          <p:nvPr/>
        </p:nvSpPr>
        <p:spPr>
          <a:xfrm>
            <a:off x="502920" y="6446520"/>
            <a:ext cx="11183112" cy="13716"/>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TextBox 5"/>
          <p:cNvSpPr txBox="1"/>
          <p:nvPr/>
        </p:nvSpPr>
        <p:spPr>
          <a:xfrm>
            <a:off x="502920" y="6537960"/>
            <a:ext cx="10698480" cy="182880"/>
          </a:xfrm>
          <a:prstGeom prst="rect">
            <a:avLst/>
          </a:prstGeom>
          <a:noFill/>
          <a:effectLst/>
        </p:spPr>
        <p:txBody>
          <a:bodyPr wrap="square" lIns="0" rIns="0" tIns="0" bIns="0">
            <a:spAutoFit/>
          </a:bodyPr>
          <a:lstStyle/>
          <a:p>
            <a:pPr>
              <a:lnSpc>
                <a:spcPct val="104000"/>
              </a:lnSpc>
              <a:spcBef>
                <a:spcPts val="0"/>
              </a:spcBef>
              <a:spcAft>
                <a:spcPts val="500"/>
              </a:spcAft>
            </a:pPr>
            <a:r>
              <a:rPr sz="1000" b="0" lang="id-ID">
                <a:solidFill>
                  <a:srgbClr val="46626F"/>
                </a:solidFill>
                <a:latin typeface="Arial"/>
              </a:rPr>
              <a:t>backend/app/domain/dampak.py; aset/skenario.json; docs/batasan.md. Sitasi faktor belum dilengkapi.</a:t>
            </a:r>
          </a:p>
        </p:txBody>
      </p:sp>
      <p:sp>
        <p:nvSpPr>
          <p:cNvPr id="7" name="TextBox 6"/>
          <p:cNvSpPr txBox="1"/>
          <p:nvPr/>
        </p:nvSpPr>
        <p:spPr>
          <a:xfrm>
            <a:off x="11292840" y="6501384"/>
            <a:ext cx="384048" cy="246888"/>
          </a:xfrm>
          <a:prstGeom prst="rect">
            <a:avLst/>
          </a:prstGeom>
          <a:noFill/>
          <a:effectLst/>
        </p:spPr>
        <p:txBody>
          <a:bodyPr wrap="square" lIns="0" rIns="0" tIns="0" bIns="0">
            <a:spAutoFit/>
          </a:bodyPr>
          <a:lstStyle/>
          <a:p>
            <a:pPr algn="r">
              <a:lnSpc>
                <a:spcPct val="104000"/>
              </a:lnSpc>
              <a:spcBef>
                <a:spcPts val="0"/>
              </a:spcBef>
              <a:spcAft>
                <a:spcPts val="500"/>
              </a:spcAft>
            </a:pPr>
            <a:r>
              <a:rPr sz="1400" b="1" lang="id-ID">
                <a:solidFill>
                  <a:srgbClr val="46626F"/>
                </a:solidFill>
                <a:latin typeface="Arial"/>
              </a:rPr>
              <a:t>14</a:t>
            </a:r>
          </a:p>
        </p:txBody>
      </p:sp>
      <p:sp>
        <p:nvSpPr>
          <p:cNvPr id="8" name="TextBox 7"/>
          <p:cNvSpPr txBox="1"/>
          <p:nvPr/>
        </p:nvSpPr>
        <p:spPr>
          <a:xfrm>
            <a:off x="594360" y="2112264"/>
            <a:ext cx="10881360" cy="960120"/>
          </a:xfrm>
          <a:prstGeom prst="rect">
            <a:avLst/>
          </a:prstGeom>
          <a:noFill/>
          <a:effectLst/>
        </p:spPr>
        <p:txBody>
          <a:bodyPr wrap="square" lIns="0" rIns="0" tIns="0" bIns="0">
            <a:spAutoFit/>
          </a:bodyPr>
          <a:lstStyle/>
          <a:p>
            <a:pPr>
              <a:lnSpc>
                <a:spcPct val="104000"/>
              </a:lnSpc>
              <a:spcBef>
                <a:spcPts val="0"/>
              </a:spcBef>
              <a:spcAft>
                <a:spcPts val="500"/>
              </a:spcAft>
            </a:pPr>
            <a:r>
              <a:rPr sz="3000" b="1" lang="id-ID">
                <a:solidFill>
                  <a:srgbClr val="0B1F2A"/>
                </a:solidFill>
                <a:latin typeface="Arial Narrow"/>
              </a:rPr>
              <a:t>Δ BBM = Δ jarak × konsumsi per km</a:t>
            </a:r>
          </a:p>
          <a:p>
            <a:pPr>
              <a:lnSpc>
                <a:spcPct val="104000"/>
              </a:lnSpc>
              <a:spcBef>
                <a:spcPts val="0"/>
              </a:spcBef>
              <a:spcAft>
                <a:spcPts val="500"/>
              </a:spcAft>
            </a:pPr>
            <a:r>
              <a:rPr sz="3000" b="1" lang="id-ID">
                <a:solidFill>
                  <a:srgbClr val="0B1F2A"/>
                </a:solidFill>
                <a:latin typeface="Arial Narrow"/>
              </a:rPr>
              <a:t>Δ CO₂ = Δ BBM × faktor pembakaran</a:t>
            </a:r>
          </a:p>
        </p:txBody>
      </p:sp>
      <p:sp>
        <p:nvSpPr>
          <p:cNvPr id="9" name="Rectangle 8"/>
          <p:cNvSpPr/>
          <p:nvPr/>
        </p:nvSpPr>
        <p:spPr>
          <a:xfrm>
            <a:off x="594360" y="3392424"/>
            <a:ext cx="10991088" cy="13716"/>
          </a:xfrm>
          <a:prstGeom prst="rect">
            <a:avLst/>
          </a:prstGeom>
          <a:solidFill>
            <a:srgbClr val="CBD7DB"/>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594360" y="3739896"/>
            <a:ext cx="3255264" cy="576072"/>
          </a:xfrm>
          <a:prstGeom prst="rect">
            <a:avLst/>
          </a:prstGeom>
          <a:noFill/>
          <a:effectLst/>
        </p:spPr>
        <p:txBody>
          <a:bodyPr wrap="square" lIns="0" rIns="0" tIns="0" bIns="0">
            <a:spAutoFit/>
          </a:bodyPr>
          <a:lstStyle/>
          <a:p>
            <a:pPr>
              <a:lnSpc>
                <a:spcPct val="104000"/>
              </a:lnSpc>
              <a:spcBef>
                <a:spcPts val="0"/>
              </a:spcBef>
              <a:spcAft>
                <a:spcPts val="500"/>
              </a:spcAft>
            </a:pPr>
            <a:r>
              <a:rPr sz="3300" b="1" lang="id-ID">
                <a:solidFill>
                  <a:srgbClr val="1C7F9E"/>
                </a:solidFill>
                <a:latin typeface="Arial Narrow"/>
              </a:rPr>
              <a:t>0,020 L/km</a:t>
            </a:r>
          </a:p>
        </p:txBody>
      </p:sp>
      <p:sp>
        <p:nvSpPr>
          <p:cNvPr id="11" name="TextBox 10"/>
          <p:cNvSpPr txBox="1"/>
          <p:nvPr/>
        </p:nvSpPr>
        <p:spPr>
          <a:xfrm>
            <a:off x="594360" y="4517136"/>
            <a:ext cx="3246120" cy="1060704"/>
          </a:xfrm>
          <a:prstGeom prst="rect">
            <a:avLst/>
          </a:prstGeom>
          <a:noFill/>
          <a:effectLst/>
        </p:spPr>
        <p:txBody>
          <a:bodyPr wrap="square" lIns="0" rIns="0" tIns="0" bIns="0">
            <a:spAutoFit/>
          </a:bodyPr>
          <a:lstStyle/>
          <a:p>
            <a:pPr>
              <a:lnSpc>
                <a:spcPct val="104000"/>
              </a:lnSpc>
              <a:spcBef>
                <a:spcPts val="0"/>
              </a:spcBef>
              <a:spcAft>
                <a:spcPts val="500"/>
              </a:spcAft>
            </a:pPr>
            <a:r>
              <a:rPr sz="1800" b="0" lang="id-ID">
                <a:solidFill>
                  <a:srgbClr val="46626F"/>
                </a:solidFill>
                <a:latin typeface="Arial"/>
              </a:rPr>
              <a:t>Konsumsi motor</a:t>
            </a:r>
          </a:p>
          <a:p>
            <a:pPr>
              <a:lnSpc>
                <a:spcPct val="104000"/>
              </a:lnSpc>
              <a:spcBef>
                <a:spcPts val="0"/>
              </a:spcBef>
              <a:spcAft>
                <a:spcPts val="500"/>
              </a:spcAft>
            </a:pPr>
            <a:r>
              <a:rPr sz="1800" b="0" lang="id-ID">
                <a:solidFill>
                  <a:srgbClr val="46626F"/>
                </a:solidFill>
                <a:latin typeface="Arial"/>
              </a:rPr>
              <a:t>Asumsi rilis</a:t>
            </a:r>
          </a:p>
        </p:txBody>
      </p:sp>
      <p:sp>
        <p:nvSpPr>
          <p:cNvPr id="12" name="TextBox 11"/>
          <p:cNvSpPr txBox="1"/>
          <p:nvPr/>
        </p:nvSpPr>
        <p:spPr>
          <a:xfrm>
            <a:off x="4453128" y="3739896"/>
            <a:ext cx="3255264" cy="576072"/>
          </a:xfrm>
          <a:prstGeom prst="rect">
            <a:avLst/>
          </a:prstGeom>
          <a:noFill/>
          <a:effectLst/>
        </p:spPr>
        <p:txBody>
          <a:bodyPr wrap="square" lIns="0" rIns="0" tIns="0" bIns="0">
            <a:spAutoFit/>
          </a:bodyPr>
          <a:lstStyle/>
          <a:p>
            <a:pPr>
              <a:lnSpc>
                <a:spcPct val="104000"/>
              </a:lnSpc>
              <a:spcBef>
                <a:spcPts val="0"/>
              </a:spcBef>
              <a:spcAft>
                <a:spcPts val="500"/>
              </a:spcAft>
            </a:pPr>
            <a:r>
              <a:rPr sz="3300" b="1" lang="id-ID">
                <a:solidFill>
                  <a:srgbClr val="1C7F9E"/>
                </a:solidFill>
                <a:latin typeface="Arial Narrow"/>
              </a:rPr>
              <a:t>±30%</a:t>
            </a:r>
          </a:p>
        </p:txBody>
      </p:sp>
      <p:sp>
        <p:nvSpPr>
          <p:cNvPr id="13" name="TextBox 12"/>
          <p:cNvSpPr txBox="1"/>
          <p:nvPr/>
        </p:nvSpPr>
        <p:spPr>
          <a:xfrm>
            <a:off x="4453128" y="4517136"/>
            <a:ext cx="3246120" cy="1060704"/>
          </a:xfrm>
          <a:prstGeom prst="rect">
            <a:avLst/>
          </a:prstGeom>
          <a:noFill/>
          <a:effectLst/>
        </p:spPr>
        <p:txBody>
          <a:bodyPr wrap="square" lIns="0" rIns="0" tIns="0" bIns="0">
            <a:spAutoFit/>
          </a:bodyPr>
          <a:lstStyle/>
          <a:p>
            <a:pPr>
              <a:lnSpc>
                <a:spcPct val="104000"/>
              </a:lnSpc>
              <a:spcBef>
                <a:spcPts val="0"/>
              </a:spcBef>
              <a:spcAft>
                <a:spcPts val="500"/>
              </a:spcAft>
            </a:pPr>
            <a:r>
              <a:rPr sz="1800" b="0" lang="id-ID">
                <a:solidFill>
                  <a:srgbClr val="46626F"/>
                </a:solidFill>
                <a:latin typeface="Arial"/>
              </a:rPr>
              <a:t>Rentang konsumsi</a:t>
            </a:r>
          </a:p>
          <a:p>
            <a:pPr>
              <a:lnSpc>
                <a:spcPct val="104000"/>
              </a:lnSpc>
              <a:spcBef>
                <a:spcPts val="0"/>
              </a:spcBef>
              <a:spcAft>
                <a:spcPts val="500"/>
              </a:spcAft>
            </a:pPr>
            <a:r>
              <a:rPr sz="1800" b="0" lang="id-ID">
                <a:solidFill>
                  <a:srgbClr val="46626F"/>
                </a:solidFill>
                <a:latin typeface="Arial"/>
              </a:rPr>
              <a:t>Asumsi, bukan interval kepercayaan</a:t>
            </a:r>
          </a:p>
        </p:txBody>
      </p:sp>
      <p:sp>
        <p:nvSpPr>
          <p:cNvPr id="14" name="TextBox 13"/>
          <p:cNvSpPr txBox="1"/>
          <p:nvPr/>
        </p:nvSpPr>
        <p:spPr>
          <a:xfrm>
            <a:off x="8311896" y="3739896"/>
            <a:ext cx="3255264" cy="576072"/>
          </a:xfrm>
          <a:prstGeom prst="rect">
            <a:avLst/>
          </a:prstGeom>
          <a:noFill/>
          <a:effectLst/>
        </p:spPr>
        <p:txBody>
          <a:bodyPr wrap="square" lIns="0" rIns="0" tIns="0" bIns="0">
            <a:spAutoFit/>
          </a:bodyPr>
          <a:lstStyle/>
          <a:p>
            <a:pPr>
              <a:lnSpc>
                <a:spcPct val="104000"/>
              </a:lnSpc>
              <a:spcBef>
                <a:spcPts val="0"/>
              </a:spcBef>
              <a:spcAft>
                <a:spcPts val="500"/>
              </a:spcAft>
            </a:pPr>
            <a:r>
              <a:rPr sz="3300" b="1" lang="id-ID">
                <a:solidFill>
                  <a:srgbClr val="1C7F9E"/>
                </a:solidFill>
                <a:latin typeface="Arial Narrow"/>
              </a:rPr>
              <a:t>2,31 kg/L</a:t>
            </a:r>
          </a:p>
        </p:txBody>
      </p:sp>
      <p:sp>
        <p:nvSpPr>
          <p:cNvPr id="15" name="TextBox 14"/>
          <p:cNvSpPr txBox="1"/>
          <p:nvPr/>
        </p:nvSpPr>
        <p:spPr>
          <a:xfrm>
            <a:off x="8311896" y="4517136"/>
            <a:ext cx="3246120" cy="1060704"/>
          </a:xfrm>
          <a:prstGeom prst="rect">
            <a:avLst/>
          </a:prstGeom>
          <a:noFill/>
          <a:effectLst/>
        </p:spPr>
        <p:txBody>
          <a:bodyPr wrap="square" lIns="0" rIns="0" tIns="0" bIns="0">
            <a:spAutoFit/>
          </a:bodyPr>
          <a:lstStyle/>
          <a:p>
            <a:pPr>
              <a:lnSpc>
                <a:spcPct val="104000"/>
              </a:lnSpc>
              <a:spcBef>
                <a:spcPts val="0"/>
              </a:spcBef>
              <a:spcAft>
                <a:spcPts val="500"/>
              </a:spcAft>
            </a:pPr>
            <a:r>
              <a:rPr sz="1800" b="0" lang="id-ID">
                <a:solidFill>
                  <a:srgbClr val="46626F"/>
                </a:solidFill>
                <a:latin typeface="Arial"/>
              </a:rPr>
              <a:t>Faktor CO₂ pembakaran</a:t>
            </a:r>
          </a:p>
          <a:p>
            <a:pPr>
              <a:lnSpc>
                <a:spcPct val="104000"/>
              </a:lnSpc>
              <a:spcBef>
                <a:spcPts val="0"/>
              </a:spcBef>
              <a:spcAft>
                <a:spcPts val="500"/>
              </a:spcAft>
            </a:pPr>
            <a:r>
              <a:rPr sz="1800" b="0" lang="id-ID">
                <a:solidFill>
                  <a:srgbClr val="46626F"/>
                </a:solidFill>
                <a:latin typeface="Arial"/>
              </a:rPr>
              <a:t>Sitasi belum dilengkapi</a:t>
            </a:r>
          </a:p>
        </p:txBody>
      </p:sp>
      <p:sp>
        <p:nvSpPr>
          <p:cNvPr id="16" name="Rectangle 15"/>
          <p:cNvSpPr/>
          <p:nvPr/>
        </p:nvSpPr>
        <p:spPr>
          <a:xfrm>
            <a:off x="548640" y="5669280"/>
            <a:ext cx="11064240" cy="466344"/>
          </a:xfrm>
          <a:prstGeom prst="rect">
            <a:avLst/>
          </a:prstGeom>
          <a:solidFill>
            <a:srgbClr val="E3EAE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749808" y="5815584"/>
            <a:ext cx="10652760" cy="237744"/>
          </a:xfrm>
          <a:prstGeom prst="rect">
            <a:avLst/>
          </a:prstGeom>
          <a:noFill/>
          <a:effectLst/>
        </p:spPr>
        <p:txBody>
          <a:bodyPr wrap="square" lIns="0" rIns="0" tIns="0" bIns="0">
            <a:spAutoFit/>
          </a:bodyPr>
          <a:lstStyle/>
          <a:p>
            <a:pPr>
              <a:lnSpc>
                <a:spcPct val="104000"/>
              </a:lnSpc>
              <a:spcBef>
                <a:spcPts val="0"/>
              </a:spcBef>
              <a:spcAft>
                <a:spcPts val="500"/>
              </a:spcAft>
            </a:pPr>
            <a:r>
              <a:rPr sz="1500" b="0" lang="id-ID">
                <a:solidFill>
                  <a:srgbClr val="0B1F2A"/>
                </a:solidFill>
                <a:latin typeface="Arial"/>
              </a:rPr>
              <a:t>Belum mencakup kemacetan nyata, biaya menunggu, emisi daur hidup, atau manfaat kesehatan terukur.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PASANG SURUT | Final ANFORCOM 2026</dc:title>
  <dc:subject>Perencanaan perjalanan sadar rob di pesisir Semarang</dc:subject>
  <dc:creator>trio la albiceleste — ITS Surabaya</dc:creator>
  <cp:keywords>ANFORCOM 2026, Semarang, pasut, routing, kerentanan</cp:keywords>
  <dc:description>8 slide utama, 6 lampiran. Disusun 23 September 2026 dari bukti dalam repo.</dc:description>
  <cp:lastModifiedBy>Steve Canny</cp:lastModifiedBy>
  <cp:revision>1</cp:revision>
  <dcterms:created xsi:type="dcterms:W3CDTF">2013-01-27T09:14:16Z</dcterms:created>
  <dcterms:modified xsi:type="dcterms:W3CDTF">2013-01-27T09:15:58Z</dcterms:modified>
  <cp:category/>
</cp:coreProperties>
</file>